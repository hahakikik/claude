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2.xml" ContentType="application/vnd.openxmlformats-officedocument.drawingml.chart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7"/>
  </p:notesMasterIdLst>
  <p:sldIdLst>
    <p:sldId id="256" r:id="rId5"/>
    <p:sldId id="318" r:id="rId6"/>
    <p:sldId id="323" r:id="rId7"/>
    <p:sldId id="350" r:id="rId8"/>
    <p:sldId id="335" r:id="rId9"/>
    <p:sldId id="351" r:id="rId10"/>
    <p:sldId id="340" r:id="rId11"/>
    <p:sldId id="342" r:id="rId12"/>
    <p:sldId id="352" r:id="rId13"/>
    <p:sldId id="349" r:id="rId14"/>
    <p:sldId id="357" r:id="rId15"/>
    <p:sldId id="358" r:id="rId16"/>
    <p:sldId id="360" r:id="rId17"/>
    <p:sldId id="362" r:id="rId18"/>
    <p:sldId id="364" r:id="rId19"/>
    <p:sldId id="366" r:id="rId20"/>
    <p:sldId id="369" r:id="rId21"/>
    <p:sldId id="370" r:id="rId22"/>
    <p:sldId id="296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95" r:id="rId37"/>
    <p:sldId id="271" r:id="rId38"/>
    <p:sldId id="272" r:id="rId39"/>
    <p:sldId id="273" r:id="rId40"/>
    <p:sldId id="274" r:id="rId41"/>
    <p:sldId id="297" r:id="rId42"/>
    <p:sldId id="275" r:id="rId43"/>
    <p:sldId id="276" r:id="rId44"/>
    <p:sldId id="277" r:id="rId45"/>
    <p:sldId id="298" r:id="rId46"/>
    <p:sldId id="317" r:id="rId47"/>
    <p:sldId id="304" r:id="rId48"/>
    <p:sldId id="279" r:id="rId49"/>
    <p:sldId id="280" r:id="rId50"/>
    <p:sldId id="281" r:id="rId51"/>
    <p:sldId id="282" r:id="rId52"/>
    <p:sldId id="299" r:id="rId53"/>
    <p:sldId id="283" r:id="rId54"/>
    <p:sldId id="284" r:id="rId55"/>
    <p:sldId id="285" r:id="rId56"/>
    <p:sldId id="300" r:id="rId57"/>
    <p:sldId id="286" r:id="rId58"/>
    <p:sldId id="287" r:id="rId59"/>
    <p:sldId id="294" r:id="rId60"/>
    <p:sldId id="288" r:id="rId61"/>
    <p:sldId id="289" r:id="rId62"/>
    <p:sldId id="290" r:id="rId63"/>
    <p:sldId id="291" r:id="rId64"/>
    <p:sldId id="292" r:id="rId65"/>
    <p:sldId id="293" r:id="rId66"/>
  </p:sldIdLst>
  <p:sldSz cx="12192000" cy="6858000"/>
  <p:notesSz cx="7315200" cy="96012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EA2"/>
    <a:srgbClr val="001C54"/>
    <a:srgbClr val="F7F9FC"/>
    <a:srgbClr val="A4B4CD"/>
    <a:srgbClr val="7F7F7F"/>
    <a:srgbClr val="EBF3FC"/>
    <a:srgbClr val="EDF4FC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금액(백만 달러)</c:v>
          </c:tx>
          <c:spPr>
            <a:solidFill>
              <a:srgbClr val="034EA2"/>
            </a:solidFill>
            <a:ln>
              <a:noFill/>
            </a:ln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900" b="1">
                    <a:solidFill>
                      <a:srgbClr val="001C54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매출</c:v>
              </c:pt>
              <c:pt idx="1">
                <c:v>영업활동 현금 유출</c:v>
              </c:pt>
              <c:pt idx="2">
                <c:v>순손실</c:v>
              </c:pt>
            </c:strLit>
          </c:cat>
          <c:val>
            <c:numLit>
              <c:formatCode>#,##0.0</c:formatCode>
              <c:ptCount val="3"/>
              <c:pt idx="0">
                <c:v>1.8</c:v>
              </c:pt>
              <c:pt idx="1">
                <c:v>99.8</c:v>
              </c:pt>
              <c:pt idx="2">
                <c:v>138.1</c:v>
              </c:pt>
            </c:numLit>
          </c:val>
          <c:extLst>
            <c:ext xmlns:c16="http://schemas.microsoft.com/office/drawing/2014/chart" uri="{C3380CC4-5D6E-409C-BE32-E72D297353CC}">
              <c16:uniqueId val="{00000000-7EA3-409C-9070-8F5D62F4FF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CCED0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323A44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0"/>
        <c:axPos val="b"/>
        <c:majorGridlines>
          <c:spPr>
            <a:ln w="6350">
              <a:solidFill>
                <a:srgbClr val="DDE1E7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 w="9525">
            <a:solidFill>
              <a:srgbClr val="CCCED0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4A5563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1"/>
        <c:crosses val="max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0.06"/>
          <c:w val="0.45999999999999991"/>
          <c:h val="0.6977225923682617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회사 전체</c:v>
                </c:pt>
              </c:strCache>
            </c:strRef>
          </c:tx>
          <c:spPr>
            <a:ln w="19050">
              <a:solidFill>
                <a:srgbClr val="9AA3AD"/>
              </a:solidFill>
            </a:ln>
          </c:spPr>
          <c:marker>
            <c:symbol val="none"/>
          </c:marker>
          <c:dPt>
            <c:idx val="0"/>
            <c:marker>
              <c:symbol val="circle"/>
              <c:size val="6"/>
              <c:spPr>
                <a:solidFill>
                  <a:srgbClr val="9AA3AD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8A63-4AC0-A659-99D6B830716D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9AA3AD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8A63-4AC0-A659-99D6B830716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770" b="0">
                        <a:solidFill>
                          <a:srgbClr val="9AA3AD"/>
                        </a:solidFill>
                        <a:latin typeface="Noto Sans KR"/>
                      </a:rPr>
                      <a:t>110.5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A63-4AC0-A659-99D6B83071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770" b="0">
                        <a:solidFill>
                          <a:srgbClr val="9AA3AD"/>
                        </a:solidFill>
                        <a:latin typeface="Noto Sans KR"/>
                      </a:rPr>
                      <a:t>94.0 </a:t>
                    </a:r>
                    <a:r>
                      <a:rPr lang="ko-KR" altLang="en-US" sz="770" b="0">
                        <a:solidFill>
                          <a:srgbClr val="9AA3AD"/>
                        </a:solidFill>
                        <a:latin typeface="Noto Sans KR"/>
                      </a:rPr>
                      <a:t>회사 전체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A63-4AC0-A659-99D6B83071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110.5</c:v>
                </c:pt>
                <c:pt idx="1">
                  <c:v>110.6</c:v>
                </c:pt>
                <c:pt idx="2">
                  <c:v>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A63-4AC0-A659-99D6B83071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자동화</c:v>
                </c:pt>
              </c:strCache>
            </c:strRef>
          </c:tx>
          <c:spPr>
            <a:ln w="28575">
              <a:solidFill>
                <a:srgbClr val="034EA2"/>
              </a:solidFill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034EA2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8A63-4AC0-A659-99D6B830716D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034EA2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8A63-4AC0-A659-99D6B830716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770" b="1">
                        <a:solidFill>
                          <a:srgbClr val="034EA2"/>
                        </a:solidFill>
                        <a:latin typeface="Noto Sans KR"/>
                      </a:rPr>
                      <a:t>96.3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63-4AC0-A659-99D6B830716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770" b="1">
                        <a:solidFill>
                          <a:srgbClr val="034EA2"/>
                        </a:solidFill>
                        <a:latin typeface="Noto Sans KR"/>
                      </a:rPr>
                      <a:t>114.5 </a:t>
                    </a:r>
                    <a:r>
                      <a:rPr lang="ko-KR" altLang="en-US" sz="770" b="1">
                        <a:solidFill>
                          <a:srgbClr val="034EA2"/>
                        </a:solidFill>
                        <a:latin typeface="Noto Sans KR"/>
                      </a:rPr>
                      <a:t>자동화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A63-4AC0-A659-99D6B83071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96.3</c:v>
                </c:pt>
                <c:pt idx="1">
                  <c:v>106.4</c:v>
                </c:pt>
                <c:pt idx="2">
                  <c:v>114.5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A63-4AC0-A659-99D6B83071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CCED0"/>
            </a:solidFill>
          </a:ln>
        </c:spPr>
        <c:txPr>
          <a:bodyPr rot="0" vert="horz"/>
          <a:lstStyle/>
          <a:p>
            <a:pPr>
              <a:defRPr sz="770" b="0">
                <a:solidFill>
                  <a:srgbClr val="323A44"/>
                </a:solidFill>
                <a:latin typeface="Noto Sans KR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20"/>
          <c:min val="80"/>
        </c:scaling>
        <c:delete val="0"/>
        <c:axPos val="l"/>
        <c:majorGridlines>
          <c:spPr>
            <a:ln w="9525">
              <a:solidFill>
                <a:srgbClr val="EBEBEC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770" b="0">
                <a:solidFill>
                  <a:srgbClr val="6E7680"/>
                </a:solidFill>
                <a:latin typeface="Noto Sans KR"/>
              </a:defRPr>
            </a:pPr>
            <a:endParaRPr lang="en-US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99075" tIns="49538" rIns="99075" bIns="49538"/>
          <a:lstStyle>
            <a:lvl1pPr>
              <a:defRPr>
                <a:latin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99075" tIns="49538" rIns="99075" bIns="49538"/>
          <a:lstStyle>
            <a:lvl1pPr>
              <a:defRPr>
                <a:latin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99075" tIns="49538" rIns="99075" bIns="49538"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99075" tIns="49538" rIns="99075" bIns="49538"/>
          <a:lstStyle>
            <a:lvl1pPr>
              <a:defRPr>
                <a:latin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99075" tIns="49538" rIns="99075" bIns="49538"/>
          <a:lstStyle>
            <a:lvl1pPr>
              <a:defRPr>
                <a:latin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1F434-3124-355B-82F3-3CFF39B2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32FA0-D55D-44A2-D00C-F06440D31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FDABF-C7BB-7444-DF99-DF27A5FB2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7B184-5766-29FE-2E91-8C565EA3F2F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8006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F3785-C15D-8B15-4DA9-412DED334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353EB-4C32-B72B-26BD-7CB8BC195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AB593-1622-06B5-2C95-94F0005DC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ABFDD-F446-7A9E-D4A8-98ABB8B3A01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70556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357F9-DF31-7E0D-B12D-0DC999F93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32B72-3188-D292-CB17-5CCD54698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79EF4-3170-9A87-D48B-D99609BDB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A1026-64BB-B37E-68FB-A8ED111921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43787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0BB56-5D54-D442-5528-7B90B8FB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D23E1-3327-ED0B-84EB-606DB750B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62BEB-751F-BA91-F9F5-C7F1F54C5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A0ABD-C5F9-80C3-1E8D-2DA2EDF8A9D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88619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CDA2-3DA1-57EB-8750-5E7FAAE59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72C3C-C7E8-EE0C-4AAA-63A6807F8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1332A-E569-72FB-72F0-9E917DC69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32267-4632-47A5-AFAB-EC3BB453ACC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46430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47069-DC82-67D3-1030-EC75BE5C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A0D7F-2294-9DF9-AAE3-807FBA07B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B14C2-FCD1-C123-71D2-18342D2FF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1CC23-0B85-8DC4-CB80-E087C9A4711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75308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1B8F-A534-7B5F-9E67-1FF1002BE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8AF69-07A0-2525-47FF-F618402BB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9D4F3-7CAA-D01B-E5EB-A4C7A013E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6B791-8D9A-9931-4AC5-7EBB39B945B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836773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AC77-5891-456C-B776-5EA833B46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C9A68-E85C-4870-A6F7-FE5CBAB3B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BE693-F928-4509-ACE0-DE7FC2822E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DA309-31ED-4AFC-9F8E-BBE2AD3F5E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7E10-C294-4CAB-B14F-FA6DA57B23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076-0FDD-4210-AD04-692974CB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0E6E-102B-4E03-911F-F02B4D3B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5F4-5D67-4965-B88C-FACAD52D61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2CA58-5D77-4CBE-AE88-13D79E9E0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DE250-4DDC-49EE-A1F3-5ADD605FA6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CA36-9307-4F7B-B7F4-E7B95A600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AB2B4-8FC2-4877-9BEB-6D370EC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B92-7641-4F50-BAF8-2B41E6D00D3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0D68-1460-43C6-9874-348D7166F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8BC3A-25D8-47E4-AF71-ACB9D60D99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503D-3FDF-4DC7-966F-3E8DA6B6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BDADD-8610-4B1E-9405-33E55B08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746E5-02F9-4BE0-A0EA-2D2FD6957A0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04CE5-778E-4295-8A2C-17CEA3AFA2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820C-32BB-4E43-8503-8D59F7CC3A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4C42-5000-4BEA-ABC7-4EBC61D9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415AF-59CA-4685-9101-1762E317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C82-7617-4444-A70A-3B4C7452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BAD7BB-5875-4795-93FE-691E4966B82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6735D-F69A-4071-B335-F906D3789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6E609-DCB0-4847-9A54-068FA5F93B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29B7-E8BF-4484-9F7B-153AFE477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CC520-590B-48CC-9EBD-FE4557D7C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9DCFC-0994-4833-979C-7413C8A33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DE94-1B63-4B45-A9D5-04348441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54E50-4635-44EC-8E1C-DE2027BBC1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0FA0-F9B4-4734-8E31-08DDFA9F24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B011A-2254-4CAD-8F0C-320AE83F7D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4C723-76D3-4672-B6B4-91314F269E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30F79F-87AC-4025-949E-A555426D5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3165C-BD1E-4902-BA8E-CACC4230B0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009-6AE3-49B5-AFD9-4B04387B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7232-0097-4483-898C-79C28B4C8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509E1-5F37-4899-B683-38593C4ACB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A5646-4C04-43AF-961C-B6D261C63A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C4104-2D05-4ED1-A263-2EFBE9509E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5819-6D12-4BEC-9A94-F88E9CF26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A0C0-9F5C-4801-8DAE-24AC4670B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F0822-284E-420C-BA16-4C54192C4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4C-E3C7-4ACD-919E-16654C1FE1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rPr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FB0F-EFCD-4350-B29B-9765D61E1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1EBFD-0534-4879-8FE4-A722734489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7994C-70AB-4AD2-B16F-218D092F2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441FF-100D-4301-887D-25B9CCCE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83E26-F269-49E7-B081-7C33F1235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C3E76-2A89-4DAE-B7D6-9891D7AB8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FA7B7-2539-4792-83BC-731DA2A8F6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49C51-9BF1-457F-AB4D-DCF5088E2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4ACB9-EB13-4AB6-A0BF-C8DCBE13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1AFFD-C17C-4F9A-9C76-E2A5642B6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/>
            </a:lvl1pPr>
          </a:lstStyle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55B06-C3AE-4C07-A088-6C50B2FFE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2026-10-04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E6D8C-8CD3-4FA9-996A-402D49AAE3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B1AD4-9241-463A-B097-F397AADBF2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28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7A119-AF7B-49CD-87E0-694D5B85D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9519A-9A56-448C-A265-396EC00AA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rPr dirty="0"/>
              <a:t>Click to edit Master text styles</a:t>
            </a:r>
          </a:p>
          <a:p>
            <a:pPr>
              <a:buNone/>
            </a:pPr>
            <a:r>
              <a:rPr dirty="0"/>
              <a:t>Second level</a:t>
            </a:r>
          </a:p>
          <a:p>
            <a:pPr>
              <a:buNone/>
            </a:pPr>
            <a:r>
              <a:rPr dirty="0"/>
              <a:t>Third level</a:t>
            </a:r>
          </a:p>
          <a:p>
            <a:pPr>
              <a:buNone/>
            </a:pPr>
            <a:r>
              <a:rPr dirty="0"/>
              <a:t>Fourth level</a:t>
            </a:r>
          </a:p>
          <a:p>
            <a:pPr>
              <a:buNone/>
            </a:pPr>
            <a:r>
              <a:rPr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E5C3-0977-4796-87B8-E0F9569DE4F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</a:defRPr>
            </a:lvl1pPr>
          </a:lstStyle>
          <a:p>
            <a:fld id="{5BCAD085-E8A6-8845-BD4E-CB4CCA059FC4}" type="datetimeFigureOut">
              <a:rPr lang="en-US" altLang="ko-KR" smtClean="0"/>
              <a:pPr/>
              <a:t>10/4/2026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4799-D838-4FA9-9C3B-65F8BDCD217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F17D8-3046-48F4-A404-9949B150D27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</a:defRPr>
            </a:lvl1pPr>
          </a:lstStyle>
          <a:p>
            <a:fld id="{C1FF6DA9-008F-8B48-92A6-B652298478B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759" r:id="rId23"/>
    <p:sldLayoutId id="2147483760" r:id="rId24"/>
    <p:sldLayoutId id="2147483761" r:id="rId25"/>
    <p:sldLayoutId id="2147483762" r:id="rId26"/>
    <p:sldLayoutId id="2147483763" r:id="rId27"/>
    <p:sldLayoutId id="2147483764" r:id="rId28"/>
    <p:sldLayoutId id="2147483765" r:id="rId29"/>
    <p:sldLayoutId id="2147483766" r:id="rId30"/>
    <p:sldLayoutId id="2147483767" r:id="rId31"/>
    <p:sldLayoutId id="2147483768" r:id="rId32"/>
    <p:sldLayoutId id="2147483769" r:id="rId33"/>
    <p:sldLayoutId id="2147483748" r:id="rId34"/>
    <p:sldLayoutId id="2147483749" r:id="rId35"/>
    <p:sldLayoutId id="2147483750" r:id="rId36"/>
    <p:sldLayoutId id="2147483751" r:id="rId37"/>
    <p:sldLayoutId id="2147483752" r:id="rId38"/>
    <p:sldLayoutId id="2147483753" r:id="rId39"/>
    <p:sldLayoutId id="2147483754" r:id="rId40"/>
    <p:sldLayoutId id="2147483755" r:id="rId41"/>
    <p:sldLayoutId id="2147483756" r:id="rId42"/>
    <p:sldLayoutId id="2147483757" r:id="rId43"/>
    <p:sldLayoutId id="2147483758" r:id="rId44"/>
    <p:sldLayoutId id="2147483737" r:id="rId45"/>
    <p:sldLayoutId id="2147483738" r:id="rId46"/>
    <p:sldLayoutId id="2147483739" r:id="rId47"/>
    <p:sldLayoutId id="2147483740" r:id="rId48"/>
    <p:sldLayoutId id="2147483741" r:id="rId49"/>
    <p:sldLayoutId id="2147483742" r:id="rId50"/>
    <p:sldLayoutId id="2147483743" r:id="rId51"/>
    <p:sldLayoutId id="2147483744" r:id="rId52"/>
    <p:sldLayoutId id="2147483745" r:id="rId53"/>
    <p:sldLayoutId id="2147483746" r:id="rId54"/>
    <p:sldLayoutId id="2147483747" r:id="rId55"/>
    <p:sldLayoutId id="2147483726" r:id="rId56"/>
    <p:sldLayoutId id="2147483727" r:id="rId57"/>
    <p:sldLayoutId id="2147483728" r:id="rId58"/>
    <p:sldLayoutId id="2147483729" r:id="rId59"/>
    <p:sldLayoutId id="2147483730" r:id="rId60"/>
    <p:sldLayoutId id="2147483731" r:id="rId61"/>
    <p:sldLayoutId id="2147483732" r:id="rId62"/>
    <p:sldLayoutId id="2147483733" r:id="rId63"/>
    <p:sldLayoutId id="2147483734" r:id="rId64"/>
    <p:sldLayoutId id="2147483735" r:id="rId65"/>
    <p:sldLayoutId id="2147483736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04" r:id="rId78"/>
    <p:sldLayoutId id="2147483705" r:id="rId79"/>
    <p:sldLayoutId id="2147483706" r:id="rId80"/>
    <p:sldLayoutId id="2147483707" r:id="rId81"/>
    <p:sldLayoutId id="2147483708" r:id="rId82"/>
    <p:sldLayoutId id="2147483709" r:id="rId83"/>
    <p:sldLayoutId id="2147483710" r:id="rId84"/>
    <p:sldLayoutId id="2147483711" r:id="rId85"/>
    <p:sldLayoutId id="2147483712" r:id="rId86"/>
    <p:sldLayoutId id="2147483713" r:id="rId87"/>
    <p:sldLayoutId id="2147483714" r:id="rId88"/>
    <p:sldLayoutId id="2147483693" r:id="rId89"/>
    <p:sldLayoutId id="2147483694" r:id="rId90"/>
    <p:sldLayoutId id="2147483695" r:id="rId91"/>
    <p:sldLayoutId id="2147483696" r:id="rId92"/>
    <p:sldLayoutId id="2147483697" r:id="rId93"/>
    <p:sldLayoutId id="2147483698" r:id="rId94"/>
    <p:sldLayoutId id="2147483699" r:id="rId95"/>
    <p:sldLayoutId id="2147483700" r:id="rId96"/>
    <p:sldLayoutId id="2147483701" r:id="rId97"/>
    <p:sldLayoutId id="2147483702" r:id="rId98"/>
    <p:sldLayoutId id="2147483703" r:id="rId99"/>
    <p:sldLayoutId id="2147483682" r:id="rId100"/>
    <p:sldLayoutId id="2147483683" r:id="rId101"/>
    <p:sldLayoutId id="2147483684" r:id="rId102"/>
    <p:sldLayoutId id="2147483685" r:id="rId103"/>
    <p:sldLayoutId id="2147483686" r:id="rId104"/>
    <p:sldLayoutId id="2147483687" r:id="rId105"/>
    <p:sldLayoutId id="2147483688" r:id="rId106"/>
    <p:sldLayoutId id="2147483689" r:id="rId107"/>
    <p:sldLayoutId id="2147483690" r:id="rId108"/>
    <p:sldLayoutId id="2147483691" r:id="rId109"/>
    <p:sldLayoutId id="2147483692" r:id="rId110"/>
    <p:sldLayoutId id="2147483671" r:id="rId111"/>
    <p:sldLayoutId id="2147483672" r:id="rId112"/>
    <p:sldLayoutId id="2147483673" r:id="rId113"/>
    <p:sldLayoutId id="2147483674" r:id="rId114"/>
    <p:sldLayoutId id="2147483675" r:id="rId115"/>
    <p:sldLayoutId id="2147483676" r:id="rId116"/>
    <p:sldLayoutId id="2147483677" r:id="rId117"/>
    <p:sldLayoutId id="2147483678" r:id="rId118"/>
    <p:sldLayoutId id="2147483679" r:id="rId119"/>
    <p:sldLayoutId id="2147483680" r:id="rId120"/>
    <p:sldLayoutId id="2147483681" r:id="rId121"/>
    <p:sldLayoutId id="2147483649" r:id="rId122"/>
    <p:sldLayoutId id="2147483650" r:id="rId123"/>
    <p:sldLayoutId id="2147483651" r:id="rId124"/>
    <p:sldLayoutId id="2147483652" r:id="rId125"/>
    <p:sldLayoutId id="2147483653" r:id="rId126"/>
    <p:sldLayoutId id="2147483654" r:id="rId127"/>
    <p:sldLayoutId id="2147483655" r:id="rId128"/>
    <p:sldLayoutId id="2147483656" r:id="rId129"/>
    <p:sldLayoutId id="2147483657" r:id="rId130"/>
    <p:sldLayoutId id="2147483658" r:id="rId131"/>
    <p:sldLayoutId id="2147483659" r:id="rId132"/>
  </p:sldLayoutIdLst>
  <p:txStyles>
    <p:titleStyle>
      <a:lvl1pPr algn="ctr">
        <a:buNone/>
        <a:defRPr sz="44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B97AEB-21D8-407D-9A42-215D586F5F1C}"/>
              </a:ext>
            </a:extLst>
          </p:cNvPr>
          <p:cNvSpPr>
            <a:spLocks noGrp="1"/>
          </p:cNvSpPr>
          <p:nvPr/>
        </p:nvSpPr>
        <p:spPr>
          <a:xfrm>
            <a:off x="9144" y="9144"/>
            <a:ext cx="12173711" cy="6839712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CC180C-6CAE-42E3-825A-EC1F9641BE78}"/>
              </a:ext>
            </a:extLst>
          </p:cNvPr>
          <p:cNvSpPr>
            <a:spLocks noGrp="1"/>
          </p:cNvSpPr>
          <p:nvPr/>
        </p:nvSpPr>
        <p:spPr>
          <a:xfrm>
            <a:off x="9372600" y="9144"/>
            <a:ext cx="2807208" cy="6839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4CBD6F-76F8-4724-ADB3-234986971F9D}"/>
              </a:ext>
            </a:extLst>
          </p:cNvPr>
          <p:cNvSpPr>
            <a:spLocks noGrp="1"/>
          </p:cNvSpPr>
          <p:nvPr/>
        </p:nvSpPr>
        <p:spPr>
          <a:xfrm>
            <a:off x="9253728" y="9144"/>
            <a:ext cx="54864" cy="6839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6F26A-66B0-4333-8FC5-4BB45708201D}"/>
              </a:ext>
            </a:extLst>
          </p:cNvPr>
          <p:cNvSpPr>
            <a:spLocks noGrp="1"/>
          </p:cNvSpPr>
          <p:nvPr/>
        </p:nvSpPr>
        <p:spPr>
          <a:xfrm>
            <a:off x="694944" y="1517615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[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NN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호</a:t>
            </a:r>
            <a:r>
              <a:rPr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]
</a:t>
            </a:r>
            <a:r>
              <a:rPr sz="3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산업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명</a:t>
            </a:r>
            <a:r>
              <a:rPr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리서치</a:t>
            </a:r>
            <a:r>
              <a:rPr 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보고서</a:t>
            </a:r>
            <a:endParaRPr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535B6E-2726-40AB-836F-70FF974E4781}"/>
              </a:ext>
            </a:extLst>
          </p:cNvPr>
          <p:cNvSpPr>
            <a:spLocks noGrp="1"/>
          </p:cNvSpPr>
          <p:nvPr/>
        </p:nvSpPr>
        <p:spPr>
          <a:xfrm>
            <a:off x="694944" y="2916963"/>
            <a:ext cx="3759069" cy="1769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en-US" altLang="ko-KR"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SIRT </a:t>
            </a:r>
            <a:r>
              <a:rPr lang="ko-KR" altLang="en-US"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교육학술연구부 리서치 팀 </a:t>
            </a:r>
            <a:r>
              <a:rPr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lang="ko-KR" altLang="en-US"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팀원 </a:t>
            </a:r>
            <a:r>
              <a:rPr sz="910" b="0" dirty="0">
                <a:solidFill>
                  <a:srgbClr val="CDD6E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 · YYYY.MM.DD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803CE5F-39D1-2888-89C0-31776F271B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9696383" y="5637612"/>
            <a:ext cx="2235990" cy="10449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F6009-C94D-3A2D-CAC9-066FDAEA073E}"/>
              </a:ext>
            </a:extLst>
          </p:cNvPr>
          <p:cNvSpPr txBox="1"/>
          <p:nvPr/>
        </p:nvSpPr>
        <p:spPr>
          <a:xfrm>
            <a:off x="573023" y="5400157"/>
            <a:ext cx="78467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 보고서는 충남대학교 증권투자연구회의 내부 분석 결과를 바탕으로 작성되었습니다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수록된 자료는 객관적인 정보원으로부터 얻은 것이나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연구회에서 그 완전성과 정확성을 공식적으로 보장하지는 않습니다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투자에 대한 최종 결정과 그에 따른 책임은 전적으로 투자자 본인에게 있으며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 자료는 어떠한 경우에도 투자 결과에 대한 법적 증빙 자료로 활용될 수 없습니다</a:t>
            </a:r>
            <a: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br>
              <a:rPr lang="en-US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ko-KR"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Copyright</a:t>
            </a:r>
            <a:r>
              <a:rPr lang="ko-KR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ⓒ. 2026. </a:t>
            </a:r>
            <a:r>
              <a:rPr lang="en-US" altLang="ko-KR"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CNUStockInvestmentReserchTeam</a:t>
            </a:r>
            <a:r>
              <a:rPr lang="ko-KR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All </a:t>
            </a:r>
            <a:r>
              <a:rPr lang="ko-KR" altLang="ko-KR"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rights</a:t>
            </a:r>
            <a:r>
              <a:rPr lang="ko-KR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reserved</a:t>
            </a:r>
            <a:r>
              <a:rPr lang="ko-KR" altLang="ko-KR" sz="1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endParaRPr lang="ko-KR" altLang="en-US" sz="10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636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목차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300" name="Card A"/>
          <p:cNvSpPr/>
          <p:nvPr/>
        </p:nvSpPr>
        <p:spPr>
          <a:xfrm>
            <a:off x="932180" y="1422400"/>
            <a:ext cx="5279390" cy="2667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301" name="Card A Badge"/>
          <p:cNvSpPr/>
          <p:nvPr/>
        </p:nvSpPr>
        <p:spPr>
          <a:xfrm>
            <a:off x="1084580" y="1574800"/>
            <a:ext cx="420370" cy="420370"/>
          </a:xfrm>
          <a:prstGeom prst="roundRect">
            <a:avLst>
              <a:gd name="adj" fmla="val 12000"/>
            </a:avLst>
          </a:prstGeom>
          <a:solidFill>
            <a:srgbClr val="034EA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02" name="Card A Section"/>
          <p:cNvSpPr txBox="1"/>
          <p:nvPr/>
        </p:nvSpPr>
        <p:spPr>
          <a:xfrm>
            <a:off x="1643380" y="167005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cxnSp>
        <p:nvCxnSpPr>
          <p:cNvPr id="303" name="Card A Divider"/>
          <p:cNvCxnSpPr/>
          <p:nvPr/>
        </p:nvCxnSpPr>
        <p:spPr>
          <a:xfrm>
            <a:off x="1084580" y="2133600"/>
            <a:ext cx="497459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304" name="Card A Ch Nums"/>
          <p:cNvSpPr txBox="1"/>
          <p:nvPr/>
        </p:nvSpPr>
        <p:spPr>
          <a:xfrm>
            <a:off x="1084580" y="2235200"/>
            <a:ext cx="431800" cy="167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1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2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3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4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5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05" name="Card A Ch Titles"/>
          <p:cNvSpPr txBox="1"/>
          <p:nvPr/>
        </p:nvSpPr>
        <p:spPr>
          <a:xfrm>
            <a:off x="1592580" y="2235200"/>
            <a:ext cx="4466590" cy="1676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한눈에 보는 휴머노이드 산업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왜 주목할 가치가 있나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로봇은 어떻게 작동하나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가동시간은 왜 짧은가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성공률은 왜 안 오르나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얼마나 커지고, 어디로 움직이나</a:t>
            </a:r>
          </a:p>
        </p:txBody>
      </p:sp>
      <p:sp>
        <p:nvSpPr>
          <p:cNvPr id="306" name="Card B"/>
          <p:cNvSpPr/>
          <p:nvPr/>
        </p:nvSpPr>
        <p:spPr>
          <a:xfrm>
            <a:off x="6516370" y="1422400"/>
            <a:ext cx="5279390" cy="2667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307" name="Card B Badge"/>
          <p:cNvSpPr/>
          <p:nvPr/>
        </p:nvSpPr>
        <p:spPr>
          <a:xfrm>
            <a:off x="6668770" y="1574800"/>
            <a:ext cx="420370" cy="420370"/>
          </a:xfrm>
          <a:prstGeom prst="roundRect">
            <a:avLst>
              <a:gd name="adj" fmla="val 12000"/>
            </a:avLst>
          </a:prstGeom>
          <a:solidFill>
            <a:srgbClr val="034EA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08" name="Card B Section"/>
          <p:cNvSpPr txBox="1"/>
          <p:nvPr/>
        </p:nvSpPr>
        <p:spPr>
          <a:xfrm>
            <a:off x="7227570" y="167005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cxnSp>
        <p:nvCxnSpPr>
          <p:cNvPr id="309" name="Card B Divider"/>
          <p:cNvCxnSpPr/>
          <p:nvPr/>
        </p:nvCxnSpPr>
        <p:spPr>
          <a:xfrm>
            <a:off x="6668770" y="2133600"/>
            <a:ext cx="497459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310" name="Card B Ch Nums"/>
          <p:cNvSpPr txBox="1"/>
          <p:nvPr/>
        </p:nvSpPr>
        <p:spPr>
          <a:xfrm>
            <a:off x="6668770" y="2235200"/>
            <a:ext cx="431800" cy="1117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7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8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9</a:t>
            </a:r>
          </a:p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11" name="Card B Ch Titles"/>
          <p:cNvSpPr txBox="1"/>
          <p:nvPr/>
        </p:nvSpPr>
        <p:spPr>
          <a:xfrm>
            <a:off x="7176770" y="2235200"/>
            <a:ext cx="4466590" cy="1117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밸류체인 한눈에: 누가 무엇을 만들고, 원가는 어디서 나오나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부품 부문 해설: 누가 가격을 정하고, 수요는 얼마나 먼저 크나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기업은 버틸 수 있나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사업부문 정리: 부문마다 어떻게 벌고, 무엇을 보나</a:t>
            </a:r>
          </a:p>
        </p:txBody>
      </p:sp>
      <p:sp>
        <p:nvSpPr>
          <p:cNvPr id="312" name="Card C"/>
          <p:cNvSpPr/>
          <p:nvPr/>
        </p:nvSpPr>
        <p:spPr>
          <a:xfrm>
            <a:off x="932180" y="4292600"/>
            <a:ext cx="5279390" cy="127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313" name="Card C Badge"/>
          <p:cNvSpPr/>
          <p:nvPr/>
        </p:nvSpPr>
        <p:spPr>
          <a:xfrm>
            <a:off x="1084580" y="4445000"/>
            <a:ext cx="420370" cy="420370"/>
          </a:xfrm>
          <a:prstGeom prst="roundRect">
            <a:avLst>
              <a:gd name="adj" fmla="val 12000"/>
            </a:avLst>
          </a:prstGeom>
          <a:solidFill>
            <a:srgbClr val="034EA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4" name="Card C Section"/>
          <p:cNvSpPr txBox="1"/>
          <p:nvPr/>
        </p:nvSpPr>
        <p:spPr>
          <a:xfrm>
            <a:off x="1643380" y="454025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cxnSp>
        <p:nvCxnSpPr>
          <p:cNvPr id="315" name="Card C Divider"/>
          <p:cNvCxnSpPr/>
          <p:nvPr/>
        </p:nvCxnSpPr>
        <p:spPr>
          <a:xfrm>
            <a:off x="1084580" y="5003800"/>
            <a:ext cx="497459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316" name="Card C Ch Nums"/>
          <p:cNvSpPr txBox="1"/>
          <p:nvPr/>
        </p:nvSpPr>
        <p:spPr>
          <a:xfrm>
            <a:off x="1084580" y="5105400"/>
            <a:ext cx="4318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317" name="Card C Ch Titles"/>
          <p:cNvSpPr txBox="1"/>
          <p:nvPr/>
        </p:nvSpPr>
        <p:spPr>
          <a:xfrm>
            <a:off x="1592580" y="5105400"/>
            <a:ext cx="446659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산업 지도: 누가 어디에 있나</a:t>
            </a:r>
          </a:p>
        </p:txBody>
      </p:sp>
      <p:sp>
        <p:nvSpPr>
          <p:cNvPr id="318" name="Card D"/>
          <p:cNvSpPr/>
          <p:nvPr/>
        </p:nvSpPr>
        <p:spPr>
          <a:xfrm>
            <a:off x="6516370" y="4292600"/>
            <a:ext cx="5279390" cy="127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319" name="Card D Badge"/>
          <p:cNvSpPr/>
          <p:nvPr/>
        </p:nvSpPr>
        <p:spPr>
          <a:xfrm>
            <a:off x="6668770" y="4445000"/>
            <a:ext cx="420370" cy="420370"/>
          </a:xfrm>
          <a:prstGeom prst="roundRect">
            <a:avLst>
              <a:gd name="adj" fmla="val 12000"/>
            </a:avLst>
          </a:prstGeom>
          <a:solidFill>
            <a:srgbClr val="034EA2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20" name="Card D Section"/>
          <p:cNvSpPr txBox="1"/>
          <p:nvPr/>
        </p:nvSpPr>
        <p:spPr>
          <a:xfrm>
            <a:off x="7227570" y="454025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cxnSp>
        <p:nvCxnSpPr>
          <p:cNvPr id="321" name="Card D Divider"/>
          <p:cNvCxnSpPr/>
          <p:nvPr/>
        </p:nvCxnSpPr>
        <p:spPr>
          <a:xfrm>
            <a:off x="6668770" y="5003800"/>
            <a:ext cx="497459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322" name="Card D Ch Nums"/>
          <p:cNvSpPr txBox="1"/>
          <p:nvPr/>
        </p:nvSpPr>
        <p:spPr>
          <a:xfrm>
            <a:off x="6668770" y="5105400"/>
            <a:ext cx="43180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12~16</a:t>
            </a:r>
          </a:p>
        </p:txBody>
      </p:sp>
      <p:sp>
        <p:nvSpPr>
          <p:cNvPr id="323" name="Card D Ch Titles"/>
          <p:cNvSpPr txBox="1"/>
          <p:nvPr/>
        </p:nvSpPr>
        <p:spPr>
          <a:xfrm>
            <a:off x="7176770" y="5105400"/>
            <a:ext cx="4466590" cy="279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정리 대상 5개사 (엔비디아·현대차·Novanta·에스비비테크·로보티즈)</a:t>
            </a:r>
          </a:p>
        </p:txBody>
      </p:sp>
    </p:spTree>
    <p:extLst>
      <p:ext uri="{BB962C8B-B14F-4D97-AF65-F5344CB8AC3E}">
        <p14:creationId xmlns:p14="http://schemas.microsoft.com/office/powerpoint/2010/main" val="109534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한눈에 보는 휴머노이드 산업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휴머노이드는 아직 버는 돈보다 들어오는 투자금이 훨씬 큰 초기 산업이다.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팔린 로봇의 대부분은 아직 공장이 아니라 연구, 공연, 전시에 쓰인다.</a:t>
            </a:r>
          </a:p>
        </p:txBody>
      </p:sp>
      <p:cxnSp>
        <p:nvCxnSpPr>
          <p:cNvPr id="411" name="Num Row Top"/>
          <p:cNvCxnSpPr/>
          <p:nvPr/>
        </p:nvCxnSpPr>
        <p:spPr>
          <a:xfrm>
            <a:off x="932180" y="17780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cxnSp>
        <p:nvCxnSpPr>
          <p:cNvPr id="412" name="Num Row Bottom"/>
          <p:cNvCxnSpPr/>
          <p:nvPr/>
        </p:nvCxnSpPr>
        <p:spPr>
          <a:xfrm>
            <a:off x="932180" y="2717800"/>
            <a:ext cx="1086358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cxnSp>
        <p:nvCxnSpPr>
          <p:cNvPr id="413" name="Num Divider 1"/>
          <p:cNvCxnSpPr/>
          <p:nvPr/>
        </p:nvCxnSpPr>
        <p:spPr>
          <a:xfrm>
            <a:off x="4552950" y="1879600"/>
            <a:ext cx="0" cy="73660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cxnSp>
        <p:nvCxnSpPr>
          <p:cNvPr id="414" name="Num Divider 2"/>
          <p:cNvCxnSpPr/>
          <p:nvPr/>
        </p:nvCxnSpPr>
        <p:spPr>
          <a:xfrm>
            <a:off x="8173720" y="1879600"/>
            <a:ext cx="0" cy="73660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420" name="Num 1 Value"/>
          <p:cNvSpPr txBox="1"/>
          <p:nvPr/>
        </p:nvSpPr>
        <p:spPr>
          <a:xfrm>
            <a:off x="932180" y="18669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1.3만~1.8만 대</a:t>
            </a:r>
          </a:p>
        </p:txBody>
      </p:sp>
      <p:sp>
        <p:nvSpPr>
          <p:cNvPr id="421" name="Num 1 Label"/>
          <p:cNvSpPr txBox="1"/>
          <p:nvPr/>
        </p:nvSpPr>
        <p:spPr>
          <a:xfrm>
            <a:off x="932180" y="22733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출하</a:t>
            </a:r>
            <a:r>
              <a:rPr lang="ko-KR" altLang="en-US" sz="1000" b="1" baseline="3000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1)</a:t>
            </a:r>
          </a:p>
        </p:txBody>
      </p:sp>
      <p:sp>
        <p:nvSpPr>
          <p:cNvPr id="422" name="Num 1 Note"/>
          <p:cNvSpPr txBox="1"/>
          <p:nvPr/>
        </p:nvSpPr>
        <p:spPr>
          <a:xfrm>
            <a:off x="932180" y="2476500"/>
            <a:ext cx="330200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기관별</a:t>
            </a:r>
          </a:p>
        </p:txBody>
      </p:sp>
      <p:sp>
        <p:nvSpPr>
          <p:cNvPr id="423" name="Num 2 Value"/>
          <p:cNvSpPr txBox="1"/>
          <p:nvPr/>
        </p:nvSpPr>
        <p:spPr>
          <a:xfrm>
            <a:off x="4756150" y="18669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약 4.4억 달러</a:t>
            </a:r>
          </a:p>
        </p:txBody>
      </p:sp>
      <p:sp>
        <p:nvSpPr>
          <p:cNvPr id="424" name="Num 2 Label"/>
          <p:cNvSpPr txBox="1"/>
          <p:nvPr/>
        </p:nvSpPr>
        <p:spPr>
          <a:xfrm>
            <a:off x="4756150" y="22733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시장 매출</a:t>
            </a:r>
          </a:p>
        </p:txBody>
      </p:sp>
      <p:sp>
        <p:nvSpPr>
          <p:cNvPr id="425" name="Num 3 Value"/>
          <p:cNvSpPr txBox="1"/>
          <p:nvPr/>
        </p:nvSpPr>
        <p:spPr>
          <a:xfrm>
            <a:off x="8376920" y="1866900"/>
            <a:ext cx="3302000" cy="381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80% 이상</a:t>
            </a:r>
          </a:p>
        </p:txBody>
      </p:sp>
      <p:sp>
        <p:nvSpPr>
          <p:cNvPr id="426" name="Num 3 Label"/>
          <p:cNvSpPr txBox="1"/>
          <p:nvPr/>
        </p:nvSpPr>
        <p:spPr>
          <a:xfrm>
            <a:off x="8376920" y="22733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중국 기업 비중</a:t>
            </a:r>
          </a:p>
        </p:txBody>
      </p:sp>
      <p:sp>
        <p:nvSpPr>
          <p:cNvPr id="430" name="Num Row Notes"/>
          <p:cNvSpPr txBox="1"/>
          <p:nvPr/>
        </p:nvSpPr>
        <p:spPr>
          <a:xfrm>
            <a:off x="932180" y="276860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주 1) 출하: 제조사가 고객에게 내보낸 대수. 실제 현장 가동 대수와는 다르다.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Counterpoint Research, 2026-01-14(중국 기업 비중). 출하와 시장 매출의 출처는 아래 왼쪽 단에 적었다.</a:t>
            </a:r>
          </a:p>
        </p:txBody>
      </p:sp>
      <p:sp>
        <p:nvSpPr>
          <p:cNvPr id="440" name="Left Heading"/>
          <p:cNvSpPr txBox="1"/>
          <p:nvPr/>
        </p:nvSpPr>
        <p:spPr>
          <a:xfrm>
            <a:off x="932180" y="32258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판매량은 산업용 로봇의 2~3%, 이제 막 퍼지기 시작한 단계</a:t>
            </a:r>
          </a:p>
        </p:txBody>
      </p:sp>
      <p:cxnSp>
        <p:nvCxnSpPr>
          <p:cNvPr id="441" name="Left Heading Rule"/>
          <p:cNvCxnSpPr/>
          <p:nvPr/>
        </p:nvCxnSpPr>
        <p:spPr>
          <a:xfrm>
            <a:off x="932180" y="34798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442" name="Left Panel"/>
          <p:cNvSpPr/>
          <p:nvPr/>
        </p:nvSpPr>
        <p:spPr>
          <a:xfrm>
            <a:off x="932180" y="3568700"/>
            <a:ext cx="5279390" cy="22098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43" name="Left Panel Text"/>
          <p:cNvSpPr txBox="1"/>
          <p:nvPr/>
        </p:nvSpPr>
        <p:spPr>
          <a:xfrm>
            <a:off x="1109980" y="3746500"/>
            <a:ext cx="4923790" cy="1854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전 세계 휴머노이드 출하는 기관별로 약 1.3만~1.8만 대였고(Omdia 13,318대, IDC '1.8만 대에 근접'), 시장 매출은 약 4.4억 달러였다(IDC).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같은 해 공장에 설치된 산업용 로봇(60만 대 이상, IFR)의 2~3% 수준이다.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애지봇(AgiBot)과 유니트리가 각각 약 5,000대로 1·2위였고, 피규어, 어질리티, 테슬라 같은 미국 업체는 각 150대 안팎이었다(Omdia).</a:t>
            </a:r>
          </a:p>
          <a:p>
            <a:pPr marL="177800" indent="-177800" algn="l">
              <a:lnSpc>
                <a:spcPts val="1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새 제품은 처음에 천천히 퍼지다가 어느 시점부터 빠르게 퍼진다. 휴머노이드는 아직 천천히 퍼지는 첫 구간에 있고, 사 가는 곳도 주로 연구기관이나 함께 개발하는 협력 기업이다.</a:t>
            </a:r>
          </a:p>
        </p:txBody>
      </p:sp>
      <p:sp>
        <p:nvSpPr>
          <p:cNvPr id="444" name="Left Source"/>
          <p:cNvSpPr txBox="1"/>
          <p:nvPr/>
        </p:nvSpPr>
        <p:spPr>
          <a:xfrm>
            <a:off x="932180" y="5854700"/>
            <a:ext cx="527939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Omdia, 'Market Radar: General-purpose Embodied Intelligent Robots 2026', 2026-01-08 / IDC, 「人形机器人规模化元年已至，中国厂商抢占先发优势」, 2026-02-09 / IFR, World Robotics 2026 보도자료, 2026-09-24</a:t>
            </a:r>
          </a:p>
        </p:txBody>
      </p:sp>
      <p:sp>
        <p:nvSpPr>
          <p:cNvPr id="445" name="Right Heading"/>
          <p:cNvSpPr txBox="1"/>
          <p:nvPr/>
        </p:nvSpPr>
        <p:spPr>
          <a:xfrm>
            <a:off x="6516370" y="32258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팔린 로봇은 아직 현장에서 일해 돈을 버는 단계가 아니다</a:t>
            </a:r>
          </a:p>
        </p:txBody>
      </p:sp>
      <p:cxnSp>
        <p:nvCxnSpPr>
          <p:cNvPr id="446" name="Right Heading Rule"/>
          <p:cNvCxnSpPr/>
          <p:nvPr/>
        </p:nvCxnSpPr>
        <p:spPr>
          <a:xfrm>
            <a:off x="6516370" y="34798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447" name="Right Panel"/>
          <p:cNvSpPr/>
          <p:nvPr/>
        </p:nvSpPr>
        <p:spPr>
          <a:xfrm>
            <a:off x="6516370" y="3568700"/>
            <a:ext cx="5279390" cy="22098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48" name="Right Panel Text"/>
          <p:cNvSpPr txBox="1"/>
          <p:nvPr/>
        </p:nvSpPr>
        <p:spPr>
          <a:xfrm>
            <a:off x="6694170" y="3746500"/>
            <a:ext cx="4923790" cy="1854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배치된 로봇의 85% 이상은 공연, 교육, 데이터 수집, 안내용이었고, 공장과 물류 현장 투입은 아직 시범 단계다(IDC, 2026.4).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Interact Analysis도 2025년 생산된 로봇 중 실제 현장에 투입된 것은 약 10%라고 본다.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전 세계 약 50개 기업이 휴머노이드 사업을 선언했지만 대규모 시범 운영 단계까지 간 곳은 10곳이 안 된다(McKinsey, 2025.10).</a:t>
            </a:r>
          </a:p>
          <a:p>
            <a:pPr marL="177800" indent="-177800" algn="l">
              <a:lnSpc>
                <a:spcPts val="1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현장에서 돈을 버는 로봇은 아직 드물다. 그래서 이 산업은 시장이 얼마나 큰지보다, 로봇이 언제 어떤 조건에서 실제 사람의 일을 대신하기 시작하는지를 봐야 한다.</a:t>
            </a:r>
          </a:p>
        </p:txBody>
      </p:sp>
      <p:sp>
        <p:nvSpPr>
          <p:cNvPr id="449" name="Right Source"/>
          <p:cNvSpPr txBox="1"/>
          <p:nvPr/>
        </p:nvSpPr>
        <p:spPr>
          <a:xfrm>
            <a:off x="6516370" y="5854700"/>
            <a:ext cx="5279390" cy="50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IDC, 'From Task Execution to Value Creation…', 2026-04-23 / Interact Analysis, 보도자료, 2026-05-21 / McKinsey, 'Humanoid robots: Crossing the chasm from concept to commercial reality', 2025-10-15</a:t>
            </a:r>
          </a:p>
        </p:txBody>
      </p:sp>
    </p:spTree>
    <p:extLst>
      <p:ext uri="{BB962C8B-B14F-4D97-AF65-F5344CB8AC3E}">
        <p14:creationId xmlns:p14="http://schemas.microsoft.com/office/powerpoint/2010/main" val="30126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한눈에 보는 휴머노이드 산업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휴머노이드는 아직 버는 돈보다 들어오는 투자금이 훨씬 큰 초기 산업이다.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팔린 로봇의 대부분은 아직 공장이 아니라 연구, 공연, 전시에 쓰인다.</a:t>
            </a:r>
          </a:p>
        </p:txBody>
      </p:sp>
      <p:sp>
        <p:nvSpPr>
          <p:cNvPr id="5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어질리티는 2025년에 번 돈보다 쓴 돈이 50배 이상 컸다</a:t>
            </a:r>
          </a:p>
        </p:txBody>
      </p:sp>
      <p:cxnSp>
        <p:nvCxnSpPr>
          <p:cNvPr id="5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502" name="Chart Unit"/>
          <p:cNvSpPr txBox="1"/>
          <p:nvPr/>
        </p:nvSpPr>
        <p:spPr>
          <a:xfrm>
            <a:off x="932180" y="2336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(백만 달러)</a:t>
            </a:r>
          </a:p>
        </p:txBody>
      </p:sp>
      <p:sp>
        <p:nvSpPr>
          <p:cNvPr id="503" name="Chart Note"/>
          <p:cNvSpPr txBox="1"/>
          <p:nvPr/>
        </p:nvSpPr>
        <p:spPr>
          <a:xfrm>
            <a:off x="932180" y="48768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모두 같은 해(2025년), 같은 문서(SEC S-4) 값이다. 번 돈(매출 약 178만 달러)보다 쓴 돈이 50배 이상 크고, 그 차이는 투자금으로 메웠다(우선주 등으로 2026년 7월까지 누적 약 5억 달러 조달).</a:t>
            </a:r>
          </a:p>
        </p:txBody>
      </p:sp>
      <p:sp>
        <p:nvSpPr>
          <p:cNvPr id="504" name="Glossary"/>
          <p:cNvSpPr txBox="1"/>
          <p:nvPr/>
        </p:nvSpPr>
        <p:spPr>
          <a:xfrm>
            <a:off x="932180" y="5257800"/>
            <a:ext cx="527939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주) SEC S-4: 합병 등으로 새 주식을 발행할 때 미국 증권거래위원회(SEC)에 내는 등록 서류</a:t>
            </a:r>
          </a:p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주) 영업활동 현금 유출: 사업을 굴리는 과정에서 실제로 빠져나간 현금</a:t>
            </a:r>
          </a:p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주) 우선주: 배당이나 회사 정리 때 보통주보다 먼저 돈을 받는 권리가 붙은 주식</a:t>
            </a:r>
          </a:p>
        </p:txBody>
      </p:sp>
      <p:sp>
        <p:nvSpPr>
          <p:cNvPr id="505" name="Left Source"/>
          <p:cNvSpPr txBox="1"/>
          <p:nvPr/>
        </p:nvSpPr>
        <p:spPr>
          <a:xfrm>
            <a:off x="932180" y="5803900"/>
            <a:ext cx="527939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Agility Robotics, Form S-4, SEC, 2026-09-04</a:t>
            </a:r>
          </a:p>
        </p:txBody>
      </p:sp>
      <p:sp>
        <p:nvSpPr>
          <p:cNvPr id="510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매출은 아직 작고, 투자금으로 유지하는 상태</a:t>
            </a:r>
          </a:p>
        </p:txBody>
      </p:sp>
      <p:cxnSp>
        <p:nvCxnSpPr>
          <p:cNvPr id="511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512" name="Right Panel"/>
          <p:cNvSpPr/>
          <p:nvPr/>
        </p:nvSpPr>
        <p:spPr>
          <a:xfrm>
            <a:off x="6516370" y="2324100"/>
            <a:ext cx="5279390" cy="21082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513" name="Right Panel Text"/>
          <p:cNvSpPr txBox="1"/>
          <p:nvPr/>
        </p:nvSpPr>
        <p:spPr>
          <a:xfrm>
            <a:off x="6694170" y="2501900"/>
            <a:ext cx="4923790" cy="175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같은 해 로봇 스타트업 전체가 유치한 투자금은 약 140억 달러였다(Crunchbase).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매출은 대량 양산이 시작된 뒤에야 본격적으로 커질 수 있다.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투자자는 지금의 매출보다 '언젠가 사람만큼 일하게 되면 열릴 시장'을 보고 돈을 넣고 있다.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우리는 이 산업이 아직 '팔아서 버는 돈'보다 '미래를 보고 들어오는 돈'으로 움직인다고 본다.</a:t>
            </a:r>
          </a:p>
          <a:p>
            <a:pPr marL="177800" indent="-177800" algn="l">
              <a:lnSpc>
                <a:spcPts val="1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우리는 사람만큼 오래, 실수 없이 일하는 작업부터 시장이 열릴 것으로 본다.</a:t>
            </a:r>
          </a:p>
        </p:txBody>
      </p:sp>
      <p:sp>
        <p:nvSpPr>
          <p:cNvPr id="514" name="Right Source"/>
          <p:cNvSpPr txBox="1"/>
          <p:nvPr/>
        </p:nvSpPr>
        <p:spPr>
          <a:xfrm>
            <a:off x="6516370" y="45085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Crunchbase News, '5 Startup Sectors Seeing Big Funding Growth', 2026-02-09. 어질리티 수치의 출처는 왼쪽 차트 출처와 같다.</a:t>
            </a:r>
          </a:p>
        </p:txBody>
      </p:sp>
      <p:graphicFrame>
        <p:nvGraphicFramePr>
          <p:cNvPr id="521" name="Chart"/>
          <p:cNvGraphicFramePr/>
          <p:nvPr/>
        </p:nvGraphicFramePr>
        <p:xfrm>
          <a:off x="932180" y="2514600"/>
          <a:ext cx="527939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78408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왜 주목할 가치가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시장이 휴머노이드에 주목하는 이유는 '사람처럼 생겨서'가 아니라, 사람을 위해 지어진 현장에 그대로 들어가 여러 일을 하는 범용 기계가 될 수 있어서다.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싼 로봇은 이미 나왔지만 아직 현장에 들어가지 못한다. 가치가 현실이 되는 조건은 가격만이 아니라, 사람만큼 오래, 실수 없이 일하는 능력이다.</a:t>
            </a:r>
          </a:p>
        </p:txBody>
      </p:sp>
      <p:sp>
        <p:nvSpPr>
          <p:cNvPr id="600" name="Heading"/>
          <p:cNvSpPr txBox="1"/>
          <p:nvPr/>
        </p:nvSpPr>
        <p:spPr>
          <a:xfrm>
            <a:off x="932180" y="19812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공장을 다시 짓지 않고, 사람이 하던 여러 일을 맡길 수 있다</a:t>
            </a:r>
          </a:p>
        </p:txBody>
      </p:sp>
      <p:cxnSp>
        <p:nvCxnSpPr>
          <p:cNvPr id="601" name="Heading Rule"/>
          <p:cNvCxnSpPr/>
          <p:nvPr/>
        </p:nvCxnSpPr>
        <p:spPr>
          <a:xfrm>
            <a:off x="932180" y="22352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602" name="Valu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70269"/>
              </p:ext>
            </p:extLst>
          </p:nvPr>
        </p:nvGraphicFramePr>
        <p:xfrm>
          <a:off x="932180" y="2336800"/>
          <a:ext cx="10863580" cy="2508760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2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범용성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산업용 로봇은 한 가지 일에 맞춰 공장을 다시 지어야 했다. 휴머노이드는 한 기계로 여러 일을 맡을 수 있어, 같은 하드웨어를 여러 산업에 반복해서 팔 수 있다. </a:t>
                      </a:r>
                    </a:p>
                  </a:txBody>
                  <a:tcPr marL="127000" marR="127000" marT="127000" marB="127000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현장 호환성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계단, 문손잡이, 선반, 공구가 모두 사람 몸에 맞춰져 있다. 사람 모양의 로봇은 기존 공장과 창고를 고치지 않고 투입할 수 있다.</a:t>
                      </a:r>
                    </a:p>
                  </a:txBody>
                  <a:tcPr marL="127000" marR="127000" marT="127000" marB="127000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두뇌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이미지, 언어, 동작을 한 모델로 처리하는 VLA 모델(카메라 영상과 말을 이해해 로봇의 동작까지 한 번에 결정하는 AI 모델)이 나오면서, 로봇이 코드 대신 시연과 말로 새 작업을 배우기 시작했다. 새 현장에 배치하는 비용이 줄어든다.</a:t>
                      </a:r>
                    </a:p>
                  </a:txBody>
                  <a:tcPr marL="127000" marR="127000" marT="127000" marB="127000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일손이 부족한 자리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한국의 생산연령인구(15~64세)는 2022년 3,674만 명에서 2072년 1,658만 명으로 줄어들 전망이다(통계청 중위 추계). Roland Berger는 2025~2050년 근로연령인구가 중국 −24%, 일본 −25%, EU −18% 줄어든다고 본다.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위험한 점검(계단, 통로, 설비)과 반복 작업에서 먼저 가치가 생긴다. 사람용 시설을 그대로 쓰는 현장의 반복적인 물건 나르기가 가장 가까운 쓰임새다.</a:t>
                      </a:r>
                    </a:p>
                  </a:txBody>
                  <a:tcPr marL="127000" marR="127000" marT="127000" marB="127000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03" name="Conclusion"/>
          <p:cNvSpPr txBox="1"/>
          <p:nvPr/>
        </p:nvSpPr>
        <p:spPr>
          <a:xfrm>
            <a:off x="932180" y="525145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스마트폰 하나로 여러 앱을 쓰듯, 시장은 휴머노이드를 여러 산업에 되풀이해 팔 수 있는 범용 플랫폼으로 본다.</a:t>
            </a:r>
          </a:p>
        </p:txBody>
      </p:sp>
      <p:sp>
        <p:nvSpPr>
          <p:cNvPr id="604" name="Source"/>
          <p:cNvSpPr txBox="1"/>
          <p:nvPr/>
        </p:nvSpPr>
        <p:spPr>
          <a:xfrm>
            <a:off x="932180" y="563245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'Will embodied AI create robotic coworkers?', 2025-06-30 / 통계청(현 국가데이터처), 「장래인구추계: 2022~2072년」, 2023-12-14 / Roland Berger, 'Humanoid robots 2026: The convergence moment for a new market', 2026-04</a:t>
            </a:r>
          </a:p>
        </p:txBody>
      </p:sp>
    </p:spTree>
    <p:extLst>
      <p:ext uri="{BB962C8B-B14F-4D97-AF65-F5344CB8AC3E}">
        <p14:creationId xmlns:p14="http://schemas.microsoft.com/office/powerpoint/2010/main" val="65158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rice Band"/>
          <p:cNvSpPr/>
          <p:nvPr/>
        </p:nvSpPr>
        <p:spPr>
          <a:xfrm>
            <a:off x="4392930" y="2781300"/>
            <a:ext cx="841375" cy="15240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왜 주목할 가치가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시장이 휴머노이드에 주목하는 이유는 '사람처럼 생겨서'가 아니라, 사람을 위해 지어진 현장에 그대로 들어가 여러 일을 하는 범용 기계가 될 수 있어서다.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싼 로봇은 이미 나왔지만 아직 현장에 들어가지 못한다. 가치가 현실이 되는 조건은 가격만이 아니라, 사람만큼 오래, 실수 없이 일하는 능력이다.</a:t>
            </a:r>
          </a:p>
        </p:txBody>
      </p:sp>
      <p:sp>
        <p:nvSpPr>
          <p:cNvPr id="6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 값은 이미 싸졌지만, 공장에는 아직 못 들어간다</a:t>
            </a:r>
          </a:p>
        </p:txBody>
      </p:sp>
      <p:cxnSp>
        <p:nvCxnSpPr>
          <p:cNvPr id="6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610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사람보다 싼 로봇은 이미 있지만, 오래, 실수 없이 일하는 로봇은 아직 없다</a:t>
            </a:r>
          </a:p>
        </p:txBody>
      </p:sp>
      <p:cxnSp>
        <p:nvCxnSpPr>
          <p:cNvPr id="611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612" name="Right Panel"/>
          <p:cNvSpPr/>
          <p:nvPr/>
        </p:nvSpPr>
        <p:spPr>
          <a:xfrm>
            <a:off x="6516370" y="2336800"/>
            <a:ext cx="5279390" cy="21285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613" name="Right Panel Text"/>
          <p:cNvSpPr txBox="1"/>
          <p:nvPr/>
        </p:nvSpPr>
        <p:spPr>
          <a:xfrm>
            <a:off x="6694170" y="2514600"/>
            <a:ext cx="4923790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판매가로는 이미 그 수준에 온 제품이 있지만</a:t>
            </a:r>
            <a: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셋 다 공장 작업용에 부합하는 제품이 아니다</a:t>
            </a:r>
            <a: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정해진 반복 작업은 안정적으로 해내지만, 섬세한 손 작업과 스스로 판단하는 능력은 아직 발전 중이다. 험한 생산 현장에서 오래 버티는 내구성도 과제다.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기존 안전 기준은 울타리 안 자동화에 맞춰져 있어 휴머노이드에 맞지 않고, 통일된 기준도 없다. 규제가 엄한 시장일수록 더 많은 검증이 필요하다.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그래서 지금의 공장 투입은 경제성보다 공동 기술 개발에 가깝다.</a:t>
            </a:r>
          </a:p>
          <a:p>
            <a:pPr marL="177800" indent="-177800" algn="l">
              <a:lnSpc>
                <a:spcPts val="15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이 산업이 먼저 풀어야 할 숙제는 가격보다 능력이다.</a:t>
            </a:r>
          </a:p>
        </p:txBody>
      </p:sp>
      <p:sp>
        <p:nvSpPr>
          <p:cNvPr id="620" name="Source"/>
          <p:cNvSpPr txBox="1"/>
          <p:nvPr/>
        </p:nvSpPr>
        <p:spPr>
          <a:xfrm>
            <a:off x="932180" y="570230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Unitree 공식 제품 페이지(G1, H2), 2026-10-04 조회 / 1X 공식 주문 페이지(NEO), 2026-10-04 조회 / Roland Berger, 'Humanoid robots 2026: The convergence moment for a new market', 2026-04</a:t>
            </a:r>
          </a:p>
        </p:txBody>
      </p:sp>
      <p:sp>
        <p:nvSpPr>
          <p:cNvPr id="700" name="Chart Unit"/>
          <p:cNvSpPr txBox="1"/>
          <p:nvPr/>
        </p:nvSpPr>
        <p:spPr>
          <a:xfrm>
            <a:off x="2710180" y="2362200"/>
            <a:ext cx="1016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(만 달러)</a:t>
            </a:r>
          </a:p>
        </p:txBody>
      </p:sp>
      <p:sp>
        <p:nvSpPr>
          <p:cNvPr id="702" name="Band Label"/>
          <p:cNvSpPr txBox="1"/>
          <p:nvPr/>
        </p:nvSpPr>
        <p:spPr>
          <a:xfrm>
            <a:off x="4392930" y="2603500"/>
            <a:ext cx="84137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2만~3만</a:t>
            </a:r>
          </a:p>
        </p:txBody>
      </p:sp>
      <p:cxnSp>
        <p:nvCxnSpPr>
          <p:cNvPr id="703" name="Axis Line"/>
          <p:cNvCxnSpPr/>
          <p:nvPr/>
        </p:nvCxnSpPr>
        <p:spPr>
          <a:xfrm>
            <a:off x="2710180" y="4356100"/>
            <a:ext cx="33655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704" name="Tick 0"/>
          <p:cNvSpPr txBox="1"/>
          <p:nvPr/>
        </p:nvSpPr>
        <p:spPr>
          <a:xfrm>
            <a:off x="2557780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05" name="Tick 1"/>
          <p:cNvSpPr txBox="1"/>
          <p:nvPr/>
        </p:nvSpPr>
        <p:spPr>
          <a:xfrm>
            <a:off x="3399155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06" name="Tick 2"/>
          <p:cNvSpPr txBox="1"/>
          <p:nvPr/>
        </p:nvSpPr>
        <p:spPr>
          <a:xfrm>
            <a:off x="4240530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707" name="Tick 3"/>
          <p:cNvSpPr txBox="1"/>
          <p:nvPr/>
        </p:nvSpPr>
        <p:spPr>
          <a:xfrm>
            <a:off x="5081905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708" name="Tick 4"/>
          <p:cNvSpPr txBox="1"/>
          <p:nvPr/>
        </p:nvSpPr>
        <p:spPr>
          <a:xfrm>
            <a:off x="5923280" y="44069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710" name="Row 1 Name"/>
          <p:cNvSpPr txBox="1"/>
          <p:nvPr/>
        </p:nvSpPr>
        <p:spPr>
          <a:xfrm>
            <a:off x="932180" y="29464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G1 판매가</a:t>
            </a:r>
          </a:p>
        </p:txBody>
      </p:sp>
      <p:sp>
        <p:nvSpPr>
          <p:cNvPr id="711" name="Row 1 Dot"/>
          <p:cNvSpPr/>
          <p:nvPr/>
        </p:nvSpPr>
        <p:spPr>
          <a:xfrm>
            <a:off x="3782060" y="2971800"/>
            <a:ext cx="127000" cy="127000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712" name="Row 1 Value"/>
          <p:cNvSpPr txBox="1"/>
          <p:nvPr/>
        </p:nvSpPr>
        <p:spPr>
          <a:xfrm>
            <a:off x="3985260" y="29464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1.35</a:t>
            </a:r>
          </a:p>
        </p:txBody>
      </p:sp>
      <p:sp>
        <p:nvSpPr>
          <p:cNvPr id="713" name="Row 2 Name"/>
          <p:cNvSpPr txBox="1"/>
          <p:nvPr/>
        </p:nvSpPr>
        <p:spPr>
          <a:xfrm>
            <a:off x="932180" y="34544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1X NEO 선주문가</a:t>
            </a:r>
          </a:p>
        </p:txBody>
      </p:sp>
      <p:sp>
        <p:nvSpPr>
          <p:cNvPr id="714" name="Row 2 Dot"/>
          <p:cNvSpPr/>
          <p:nvPr/>
        </p:nvSpPr>
        <p:spPr>
          <a:xfrm>
            <a:off x="4329430" y="3479800"/>
            <a:ext cx="127000" cy="127000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715" name="Row 2 Value"/>
          <p:cNvSpPr txBox="1"/>
          <p:nvPr/>
        </p:nvSpPr>
        <p:spPr>
          <a:xfrm>
            <a:off x="4532630" y="34544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716" name="Row 3 Name"/>
          <p:cNvSpPr txBox="1"/>
          <p:nvPr/>
        </p:nvSpPr>
        <p:spPr>
          <a:xfrm>
            <a:off x="932180" y="3962400"/>
            <a:ext cx="1651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H2 판매가</a:t>
            </a:r>
          </a:p>
        </p:txBody>
      </p:sp>
      <p:sp>
        <p:nvSpPr>
          <p:cNvPr id="717" name="Row 3 Dot"/>
          <p:cNvSpPr/>
          <p:nvPr/>
        </p:nvSpPr>
        <p:spPr>
          <a:xfrm>
            <a:off x="5162550" y="3987800"/>
            <a:ext cx="127000" cy="127000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718" name="Row 3 Value"/>
          <p:cNvSpPr txBox="1"/>
          <p:nvPr/>
        </p:nvSpPr>
        <p:spPr>
          <a:xfrm>
            <a:off x="5365750" y="39624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2.99</a:t>
            </a:r>
          </a:p>
        </p:txBody>
      </p:sp>
      <p:sp>
        <p:nvSpPr>
          <p:cNvPr id="720" name="Chart Legend"/>
          <p:cNvSpPr txBox="1"/>
          <p:nvPr/>
        </p:nvSpPr>
        <p:spPr>
          <a:xfrm>
            <a:off x="932180" y="46863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점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: 지금 실제 판매가. </a:t>
            </a:r>
            <a:br>
              <a:rPr lang="en-US" altLang="ko-KR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9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띠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: 학습 비용까지 포함한 고급 휴머노이드의 예상 원가로, 이 값이면 운영 경제성이 크게 바뀐다.</a:t>
            </a:r>
          </a:p>
        </p:txBody>
      </p:sp>
    </p:spTree>
    <p:extLst>
      <p:ext uri="{BB962C8B-B14F-4D97-AF65-F5344CB8AC3E}">
        <p14:creationId xmlns:p14="http://schemas.microsoft.com/office/powerpoint/2010/main" val="306235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로봇은 어떻게 작동하나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휴머노이드는 감각(센서), 뇌(AI와 제어기), 근육(액추에이터)으로 이루어진 기계다.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지금 기술이 막힌 곳은 접촉 감각, 믿을 수 있는 AI, 정밀 감속기와 스크류, 그리고 손이다. 이 병목은 가동시간(4장)과 성공률(5장)로 드러난다.</a:t>
            </a:r>
          </a:p>
        </p:txBody>
      </p:sp>
      <p:sp>
        <p:nvSpPr>
          <p:cNvPr id="800" name="Heading"/>
          <p:cNvSpPr txBox="1"/>
          <p:nvPr/>
        </p:nvSpPr>
        <p:spPr>
          <a:xfrm>
            <a:off x="932180" y="19812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AI가 판단을 맡자, 쥐는 감각과 관절과 손이 병목으로 드러났다</a:t>
            </a:r>
          </a:p>
        </p:txBody>
      </p:sp>
      <p:cxnSp>
        <p:nvCxnSpPr>
          <p:cNvPr id="801" name="Heading Rule"/>
          <p:cNvCxnSpPr/>
          <p:nvPr/>
        </p:nvCxnSpPr>
        <p:spPr>
          <a:xfrm>
            <a:off x="932180" y="22352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2" name="Learning Loop Band"/>
          <p:cNvSpPr/>
          <p:nvPr/>
        </p:nvSpPr>
        <p:spPr>
          <a:xfrm>
            <a:off x="3313430" y="2311400"/>
            <a:ext cx="6096000" cy="279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034EA2"/>
            </a:solidFill>
            <a:prstDash val="dash"/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학습 고리(데이터):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현장 데이터 → 데이터센터 학습, 시뮬레이션 → 모델 업데이트</a:t>
            </a:r>
          </a:p>
        </p:txBody>
      </p:sp>
      <p:cxnSp>
        <p:nvCxnSpPr>
          <p:cNvPr id="803" name="Arrow 1"/>
          <p:cNvCxnSpPr/>
          <p:nvPr/>
        </p:nvCxnSpPr>
        <p:spPr>
          <a:xfrm>
            <a:off x="6361430" y="2590800"/>
            <a:ext cx="0" cy="152400"/>
          </a:xfrm>
          <a:prstGeom prst="line">
            <a:avLst/>
          </a:prstGeom>
          <a:ln w="12700">
            <a:solidFill>
              <a:srgbClr val="034EA2"/>
            </a:solidFill>
            <a:tailEnd type="triangle" w="med" len="med"/>
          </a:ln>
        </p:spPr>
      </p:cxnSp>
      <p:sp>
        <p:nvSpPr>
          <p:cNvPr id="804" name="Arrow Work Data"/>
          <p:cNvSpPr/>
          <p:nvPr/>
        </p:nvSpPr>
        <p:spPr>
          <a:xfrm>
            <a:off x="9409430" y="2451100"/>
            <a:ext cx="698500" cy="292100"/>
          </a:xfrm>
          <a:custGeom>
            <a:avLst/>
            <a:gdLst/>
            <a:ahLst/>
            <a:cxnLst/>
            <a:rect l="0" t="0" r="r" b="b"/>
            <a:pathLst>
              <a:path w="698500" h="292100" fill="none">
                <a:moveTo>
                  <a:pt x="698500" y="292100"/>
                </a:moveTo>
                <a:lnTo>
                  <a:pt x="698500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34EA2"/>
            </a:solidFill>
            <a:tailEnd type="triangle" w="med" len="med"/>
          </a:ln>
        </p:spPr>
        <p:txBody>
          <a:bodyPr/>
          <a:lstStyle/>
          <a:p>
            <a:endParaRPr lang="ko-KR" dirty="0"/>
          </a:p>
        </p:txBody>
      </p:sp>
      <p:sp>
        <p:nvSpPr>
          <p:cNvPr id="805" name="Work Data Label"/>
          <p:cNvSpPr txBox="1"/>
          <p:nvPr/>
        </p:nvSpPr>
        <p:spPr>
          <a:xfrm>
            <a:off x="10198100" y="2374900"/>
            <a:ext cx="889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작업 데이터</a:t>
            </a:r>
          </a:p>
        </p:txBody>
      </p:sp>
      <p:sp>
        <p:nvSpPr>
          <p:cNvPr id="806" name="Sense Box"/>
          <p:cNvSpPr/>
          <p:nvPr/>
        </p:nvSpPr>
        <p:spPr>
          <a:xfrm>
            <a:off x="932180" y="2743200"/>
            <a:ext cx="3365500" cy="2235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wrap="square" lIns="152400" tIns="0" rIns="15240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807" name="Decide Box"/>
          <p:cNvSpPr/>
          <p:nvPr/>
        </p:nvSpPr>
        <p:spPr>
          <a:xfrm>
            <a:off x="4678680" y="2743200"/>
            <a:ext cx="3365500" cy="2235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wrap="square" lIns="152400" tIns="0" rIns="15240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808" name="Actuate Box"/>
          <p:cNvSpPr/>
          <p:nvPr/>
        </p:nvSpPr>
        <p:spPr>
          <a:xfrm>
            <a:off x="8425180" y="2743200"/>
            <a:ext cx="3365500" cy="2235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wrap="square" lIns="152400" tIns="0" rIns="152400" bIns="0" rtlCol="0" anchor="ctr">
            <a:noAutofit/>
          </a:bodyPr>
          <a:lstStyle/>
          <a:p>
            <a:endParaRPr lang="ko-KR" dirty="0"/>
          </a:p>
        </p:txBody>
      </p:sp>
      <p:sp>
        <p:nvSpPr>
          <p:cNvPr id="809" name="Sense Text"/>
          <p:cNvSpPr txBox="1"/>
          <p:nvPr/>
        </p:nvSpPr>
        <p:spPr>
          <a:xfrm>
            <a:off x="1084580" y="2870200"/>
            <a:ext cx="3060700" cy="198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감지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 사람의 감각기관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카메라, 라이다가 주변을 보고, </a:t>
            </a:r>
            <a:b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관절 센서(엔코더: 관절이 얼마나 돌았는지, IMU: 몸이 얼마나 기울었는지)가 자세를 잰다.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접촉 감각: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물건을 쥘 때 힘과 미끄러짐을 느끼는 감각이 가장 부족하다</a:t>
            </a:r>
            <a:b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(힘·토크 센서: 얼마나 세게 쥐는지 재는 센서, 촉각 센서).</a:t>
            </a:r>
          </a:p>
        </p:txBody>
      </p:sp>
      <p:sp>
        <p:nvSpPr>
          <p:cNvPr id="810" name="Decide Text"/>
          <p:cNvSpPr txBox="1"/>
          <p:nvPr/>
        </p:nvSpPr>
        <p:spPr>
          <a:xfrm>
            <a:off x="4831080" y="2870200"/>
            <a:ext cx="3060700" cy="198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판단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 대뇌와 소뇌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상황을 이해하는 느린 AI(대뇌)와 몸을 빠르게 움직이고 균형을 잡는 층(소뇌)이 역할을 나눈다. </a:t>
            </a:r>
            <a:br>
              <a:rPr lang="en-US" altLang="ko-KR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요즘은 이 빠른 층도 AI로 학습시킨다.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신뢰성: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AI가 처음 보는 상황에서도 실수하지 않느냐가 병목이다.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연산 반도체: SoC, MCU, 메모리</a:t>
            </a:r>
          </a:p>
          <a:p>
            <a:pPr marL="0" indent="0" algn="l"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SoC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: AI 계산을 맡는 중심 칩.</a:t>
            </a:r>
            <a:br>
              <a:rPr lang="en-US" altLang="ko-KR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900" b="1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MCU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: 관절 하나하나를 제어하는 작은 칩. </a:t>
            </a:r>
            <a:br>
              <a:rPr lang="en-US" altLang="ko-KR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900" b="1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메모리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: 계산할 데이터를 잠시 담아 두는 칩.</a:t>
            </a:r>
          </a:p>
        </p:txBody>
      </p:sp>
      <p:sp>
        <p:nvSpPr>
          <p:cNvPr id="811" name="Actuate Text"/>
          <p:cNvSpPr txBox="1"/>
          <p:nvPr/>
        </p:nvSpPr>
        <p:spPr>
          <a:xfrm>
            <a:off x="8577580" y="2870200"/>
            <a:ext cx="3060700" cy="1981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구동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 근육과 관절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관절마다 모터와 감속기(회전을 느리고 강하게 바꾸는 톱니 장치) 또는 롤러 스크류(회전을 직선 운동으로 바꾸는 나사)를 묶은 액추에이터가 들어간다.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옵티머스는 몸체에 28개, 최신 세대 양손에 50개를 쓴다. 부품원가의 40~60%가 여기서 나와, 관절 부품 회사가 먼저 주목받는다.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정밀 감속기, 롤러 스크류, 로봇 손</a:t>
            </a:r>
          </a:p>
        </p:txBody>
      </p:sp>
      <p:cxnSp>
        <p:nvCxnSpPr>
          <p:cNvPr id="812" name="Arrow Sense-Decide"/>
          <p:cNvCxnSpPr/>
          <p:nvPr/>
        </p:nvCxnSpPr>
        <p:spPr>
          <a:xfrm>
            <a:off x="4323080" y="3860800"/>
            <a:ext cx="3302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813" name="Arrow Decide-Actuate"/>
          <p:cNvCxnSpPr/>
          <p:nvPr/>
        </p:nvCxnSpPr>
        <p:spPr>
          <a:xfrm>
            <a:off x="8069580" y="3860800"/>
            <a:ext cx="3302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sp>
        <p:nvSpPr>
          <p:cNvPr id="814" name="Feedback Arrow"/>
          <p:cNvSpPr/>
          <p:nvPr/>
        </p:nvSpPr>
        <p:spPr>
          <a:xfrm>
            <a:off x="2614930" y="4978400"/>
            <a:ext cx="7493000" cy="127000"/>
          </a:xfrm>
          <a:custGeom>
            <a:avLst/>
            <a:gdLst/>
            <a:ahLst/>
            <a:cxnLst/>
            <a:rect l="0" t="0" r="r" b="b"/>
            <a:pathLst>
              <a:path w="7493000" h="127000" fill="none">
                <a:moveTo>
                  <a:pt x="7493000" y="0"/>
                </a:moveTo>
                <a:lnTo>
                  <a:pt x="7493000" y="127000"/>
                </a:lnTo>
                <a:lnTo>
                  <a:pt x="0" y="12700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323A44"/>
            </a:solidFill>
            <a:tailEnd type="triangle" w="med" len="med"/>
          </a:ln>
        </p:spPr>
        <p:txBody>
          <a:bodyPr/>
          <a:lstStyle/>
          <a:p>
            <a:endParaRPr lang="ko-KR" dirty="0"/>
          </a:p>
        </p:txBody>
      </p:sp>
      <p:sp>
        <p:nvSpPr>
          <p:cNvPr id="815" name="Feedback Label"/>
          <p:cNvSpPr txBox="1"/>
          <p:nvPr/>
        </p:nvSpPr>
        <p:spPr>
          <a:xfrm>
            <a:off x="4826000" y="5156200"/>
            <a:ext cx="307086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동작의 결과가 다시 감지로 들어온다(피드백)</a:t>
            </a:r>
          </a:p>
        </p:txBody>
      </p:sp>
      <p:sp>
        <p:nvSpPr>
          <p:cNvPr id="816" name="Energy Loop Band"/>
          <p:cNvSpPr/>
          <p:nvPr/>
        </p:nvSpPr>
        <p:spPr>
          <a:xfrm>
            <a:off x="932180" y="5384800"/>
            <a:ext cx="10863580" cy="2794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wrap="square" lIns="152400" tIns="0" rIns="1524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 에너지 고리(배터리):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감지, 판단, 구동 전 과정에 전력 공급(무게, 출력, 배터리의 삼각관계)</a:t>
            </a:r>
          </a:p>
        </p:txBody>
      </p:sp>
      <p:sp>
        <p:nvSpPr>
          <p:cNvPr id="817" name="Conclusion"/>
          <p:cNvSpPr txBox="1"/>
          <p:nvPr/>
        </p:nvSpPr>
        <p:spPr>
          <a:xfrm>
            <a:off x="932180" y="5765800"/>
            <a:ext cx="8636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이 부품들이 모자라면 로봇은 오래 일하지 못하고(4장), 실수한다(5장).</a:t>
            </a:r>
          </a:p>
        </p:txBody>
      </p:sp>
      <p:sp>
        <p:nvSpPr>
          <p:cNvPr id="818" name="Legend"/>
          <p:cNvSpPr txBox="1"/>
          <p:nvPr/>
        </p:nvSpPr>
        <p:spPr>
          <a:xfrm>
            <a:off x="9652000" y="5765800"/>
            <a:ext cx="214376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 지금의 기술 병목</a:t>
            </a:r>
          </a:p>
        </p:txBody>
      </p:sp>
      <p:sp>
        <p:nvSpPr>
          <p:cNvPr id="819" name="Source"/>
          <p:cNvSpPr txBox="1"/>
          <p:nvPr/>
        </p:nvSpPr>
        <p:spPr>
          <a:xfrm>
            <a:off x="932180" y="599440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'Scaling the humanoid robotics supply chain into billion-dollar wins', 2026-04-17 / Figure, 'Helix 02', 2026-01-27 / Roland Berger, 'Humanoid robots 2026: The convergence moment for a new market', 2026-04</a:t>
            </a:r>
          </a:p>
        </p:txBody>
      </p:sp>
    </p:spTree>
    <p:extLst>
      <p:ext uri="{BB962C8B-B14F-4D97-AF65-F5344CB8AC3E}">
        <p14:creationId xmlns:p14="http://schemas.microsoft.com/office/powerpoint/2010/main" val="217996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Shift Band"/>
          <p:cNvSpPr/>
          <p:nvPr/>
        </p:nvSpPr>
        <p:spPr>
          <a:xfrm>
            <a:off x="10795000" y="2501900"/>
            <a:ext cx="990600" cy="19304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가동시간은 왜 짧은가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대부분의 휴머노이드는 한 번 충전으로 2~4시간 일하지만 공장의 한 교대는 8~12시간이다.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막힌 곳은 배터리이고, 볼 것은 '교대 한 번을 끊김 없이 채우는가'다.</a:t>
            </a:r>
          </a:p>
        </p:txBody>
      </p:sp>
      <p:sp>
        <p:nvSpPr>
          <p:cNvPr id="8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배터리를 키우면 무거워져서, 가동시간을 쉽게 늘릴 수 없다</a:t>
            </a:r>
          </a:p>
        </p:txBody>
      </p:sp>
      <p:cxnSp>
        <p:nvCxnSpPr>
          <p:cNvPr id="8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2" name="Left Panel"/>
          <p:cNvSpPr/>
          <p:nvPr/>
        </p:nvSpPr>
        <p:spPr>
          <a:xfrm>
            <a:off x="932180" y="2324100"/>
            <a:ext cx="5279390" cy="24638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3" name="Left Panel Text"/>
          <p:cNvSpPr txBox="1"/>
          <p:nvPr/>
        </p:nvSpPr>
        <p:spPr>
          <a:xfrm>
            <a:off x="1109980" y="2501900"/>
            <a:ext cx="4923790" cy="210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배터리를 키우면 무게가 늘고, 무게가 늘면 더 센 모터가 필요하고, 모터가 세지면 전력을 더 쓴다.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그래서 업계는 배터리를 키우는 대신, 로봇이 </a:t>
            </a: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스스로 배터리를 바꾸거나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(아틀라스, 워커 S2) </a:t>
            </a:r>
            <a:r>
              <a:rPr lang="ko-KR" altLang="en-US" sz="1000" b="1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짧고 잦게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충전한다(디짓 5: 90분 일하고 9분 충전).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배터리만의 문제도 아니다. 관절과 손은 열이 쌓이고 닳는다. 피규어는 BMW 공장 배치에서 가장 많이 고장 난 곳이 부품이 몰린 팔뚝이었다고 공개했고, 휴머노이드 중 평균 고장 간격(MTBF)을 공개한 곳은 아직 없다.</a:t>
            </a:r>
          </a:p>
        </p:txBody>
      </p:sp>
      <p:sp>
        <p:nvSpPr>
          <p:cNvPr id="804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가장 오래 가는 제품도 </a:t>
            </a:r>
            <a:r>
              <a:rPr lang="en-US" altLang="ko-KR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</a:t>
            </a: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시간</a:t>
            </a:r>
            <a:r>
              <a:rPr lang="en-US" altLang="ko-KR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공장 한 교대</a:t>
            </a:r>
            <a:r>
              <a:rPr lang="en-US" altLang="ko-KR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(8~12</a:t>
            </a: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시간</a:t>
            </a:r>
            <a:r>
              <a:rPr lang="en-US" altLang="ko-KR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)</a:t>
            </a: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에 못 미친다</a:t>
            </a:r>
          </a:p>
        </p:txBody>
      </p:sp>
      <p:cxnSp>
        <p:nvCxnSpPr>
          <p:cNvPr id="805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6" name="Bar Unit"/>
          <p:cNvSpPr txBox="1"/>
          <p:nvPr/>
        </p:nvSpPr>
        <p:spPr>
          <a:xfrm>
            <a:off x="6516370" y="23241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(시간, 제조사 공개치)</a:t>
            </a:r>
          </a:p>
        </p:txBody>
      </p:sp>
      <p:sp>
        <p:nvSpPr>
          <p:cNvPr id="808" name="Shift Band Label"/>
          <p:cNvSpPr txBox="1"/>
          <p:nvPr/>
        </p:nvSpPr>
        <p:spPr>
          <a:xfrm>
            <a:off x="9652000" y="2324100"/>
            <a:ext cx="214376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공장 한 교대 8~12시간</a:t>
            </a:r>
          </a:p>
        </p:txBody>
      </p:sp>
      <p:cxnSp>
        <p:nvCxnSpPr>
          <p:cNvPr id="809" name="Axis Line"/>
          <p:cNvCxnSpPr/>
          <p:nvPr/>
        </p:nvCxnSpPr>
        <p:spPr>
          <a:xfrm>
            <a:off x="8813800" y="4470400"/>
            <a:ext cx="29718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810" name="Tick 0"/>
          <p:cNvSpPr txBox="1"/>
          <p:nvPr/>
        </p:nvSpPr>
        <p:spPr>
          <a:xfrm>
            <a:off x="8661400" y="45085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811" name="Tick 4"/>
          <p:cNvSpPr txBox="1"/>
          <p:nvPr/>
        </p:nvSpPr>
        <p:spPr>
          <a:xfrm>
            <a:off x="9652000" y="45085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812" name="Tick 8"/>
          <p:cNvSpPr txBox="1"/>
          <p:nvPr/>
        </p:nvSpPr>
        <p:spPr>
          <a:xfrm>
            <a:off x="10642600" y="45085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813" name="Tick 12"/>
          <p:cNvSpPr txBox="1"/>
          <p:nvPr/>
        </p:nvSpPr>
        <p:spPr>
          <a:xfrm>
            <a:off x="11633200" y="4508500"/>
            <a:ext cx="3048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814" name="Bar 1 Name"/>
          <p:cNvSpPr txBox="1"/>
          <p:nvPr/>
        </p:nvSpPr>
        <p:spPr>
          <a:xfrm>
            <a:off x="6516370" y="25400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R1</a:t>
            </a:r>
          </a:p>
        </p:txBody>
      </p:sp>
      <p:sp>
        <p:nvSpPr>
          <p:cNvPr id="815" name="Bar 1"/>
          <p:cNvSpPr/>
          <p:nvPr/>
        </p:nvSpPr>
        <p:spPr>
          <a:xfrm>
            <a:off x="8813800" y="2559050"/>
            <a:ext cx="24765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6" name="Bar 1 Value"/>
          <p:cNvSpPr txBox="1"/>
          <p:nvPr/>
        </p:nvSpPr>
        <p:spPr>
          <a:xfrm>
            <a:off x="9112250" y="25400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17" name="Bar 2 Name"/>
          <p:cNvSpPr txBox="1"/>
          <p:nvPr/>
        </p:nvSpPr>
        <p:spPr>
          <a:xfrm>
            <a:off x="6516370" y="27813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어질리티 디짓 5 (9분 충전 반복)</a:t>
            </a:r>
          </a:p>
        </p:txBody>
      </p:sp>
      <p:sp>
        <p:nvSpPr>
          <p:cNvPr id="818" name="Bar 2"/>
          <p:cNvSpPr/>
          <p:nvPr/>
        </p:nvSpPr>
        <p:spPr>
          <a:xfrm>
            <a:off x="8813800" y="2800350"/>
            <a:ext cx="371475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9" name="Bar 2 Value"/>
          <p:cNvSpPr txBox="1"/>
          <p:nvPr/>
        </p:nvSpPr>
        <p:spPr>
          <a:xfrm>
            <a:off x="9236075" y="27813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1.5</a:t>
            </a:r>
          </a:p>
        </p:txBody>
      </p:sp>
      <p:sp>
        <p:nvSpPr>
          <p:cNvPr id="820" name="Bar 3 Name"/>
          <p:cNvSpPr txBox="1"/>
          <p:nvPr/>
        </p:nvSpPr>
        <p:spPr>
          <a:xfrm>
            <a:off x="6516370" y="30226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G1 (퀵릴리즈 배터리)</a:t>
            </a:r>
          </a:p>
        </p:txBody>
      </p:sp>
      <p:sp>
        <p:nvSpPr>
          <p:cNvPr id="821" name="Bar 3"/>
          <p:cNvSpPr/>
          <p:nvPr/>
        </p:nvSpPr>
        <p:spPr>
          <a:xfrm>
            <a:off x="8813800" y="3041650"/>
            <a:ext cx="4953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22" name="Bar 3 Value"/>
          <p:cNvSpPr txBox="1"/>
          <p:nvPr/>
        </p:nvSpPr>
        <p:spPr>
          <a:xfrm>
            <a:off x="9359900" y="30226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23" name="Bar 4 Name"/>
          <p:cNvSpPr txBox="1"/>
          <p:nvPr/>
        </p:nvSpPr>
        <p:spPr>
          <a:xfrm>
            <a:off x="6516370" y="32639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애지봇 X2 (0.5m/s 보행 기준)</a:t>
            </a:r>
          </a:p>
        </p:txBody>
      </p:sp>
      <p:sp>
        <p:nvSpPr>
          <p:cNvPr id="824" name="Bar 4"/>
          <p:cNvSpPr/>
          <p:nvPr/>
        </p:nvSpPr>
        <p:spPr>
          <a:xfrm>
            <a:off x="8813800" y="3282950"/>
            <a:ext cx="4953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25" name="Bar 4 Value"/>
          <p:cNvSpPr txBox="1"/>
          <p:nvPr/>
        </p:nvSpPr>
        <p:spPr>
          <a:xfrm>
            <a:off x="9359900" y="32639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26" name="Bar 5 Name"/>
          <p:cNvSpPr txBox="1"/>
          <p:nvPr/>
        </p:nvSpPr>
        <p:spPr>
          <a:xfrm>
            <a:off x="6516370" y="35052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H2 Plus (퀵릴리즈 배터리)</a:t>
            </a:r>
          </a:p>
        </p:txBody>
      </p:sp>
      <p:sp>
        <p:nvSpPr>
          <p:cNvPr id="827" name="Bar 5"/>
          <p:cNvSpPr/>
          <p:nvPr/>
        </p:nvSpPr>
        <p:spPr>
          <a:xfrm>
            <a:off x="8813800" y="3524250"/>
            <a:ext cx="74295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28" name="Bar 5 Value"/>
          <p:cNvSpPr txBox="1"/>
          <p:nvPr/>
        </p:nvSpPr>
        <p:spPr>
          <a:xfrm>
            <a:off x="9607550" y="35052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829" name="Bar 6 Name"/>
          <p:cNvSpPr txBox="1"/>
          <p:nvPr/>
        </p:nvSpPr>
        <p:spPr>
          <a:xfrm>
            <a:off x="6516370" y="37465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보스턴다이나믹스 아틀라스 (자동 교체)</a:t>
            </a:r>
          </a:p>
        </p:txBody>
      </p:sp>
      <p:sp>
        <p:nvSpPr>
          <p:cNvPr id="830" name="Bar 6"/>
          <p:cNvSpPr/>
          <p:nvPr/>
        </p:nvSpPr>
        <p:spPr>
          <a:xfrm>
            <a:off x="8813800" y="3765550"/>
            <a:ext cx="9906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31" name="Bar 6 Value"/>
          <p:cNvSpPr txBox="1"/>
          <p:nvPr/>
        </p:nvSpPr>
        <p:spPr>
          <a:xfrm>
            <a:off x="9855200" y="37465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832" name="Bar 7 Name"/>
          <p:cNvSpPr txBox="1"/>
          <p:nvPr/>
        </p:nvSpPr>
        <p:spPr>
          <a:xfrm>
            <a:off x="6516370" y="39878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1X NEO (스스로 충전)</a:t>
            </a:r>
          </a:p>
        </p:txBody>
      </p:sp>
      <p:sp>
        <p:nvSpPr>
          <p:cNvPr id="833" name="Bar 7"/>
          <p:cNvSpPr/>
          <p:nvPr/>
        </p:nvSpPr>
        <p:spPr>
          <a:xfrm>
            <a:off x="8813800" y="4006850"/>
            <a:ext cx="99060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34" name="Bar 7 Value"/>
          <p:cNvSpPr txBox="1"/>
          <p:nvPr/>
        </p:nvSpPr>
        <p:spPr>
          <a:xfrm>
            <a:off x="9855200" y="39878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835" name="Bar 8 Name"/>
          <p:cNvSpPr txBox="1"/>
          <p:nvPr/>
        </p:nvSpPr>
        <p:spPr>
          <a:xfrm>
            <a:off x="6516370" y="4229100"/>
            <a:ext cx="22225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피규어 03 (최대 성능 기준)</a:t>
            </a:r>
          </a:p>
        </p:txBody>
      </p:sp>
      <p:sp>
        <p:nvSpPr>
          <p:cNvPr id="836" name="Bar 8"/>
          <p:cNvSpPr/>
          <p:nvPr/>
        </p:nvSpPr>
        <p:spPr>
          <a:xfrm>
            <a:off x="8813800" y="4248150"/>
            <a:ext cx="1238250" cy="1397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37" name="Bar 8 Value"/>
          <p:cNvSpPr txBox="1"/>
          <p:nvPr/>
        </p:nvSpPr>
        <p:spPr>
          <a:xfrm>
            <a:off x="10102850" y="42291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838" name="Bar Note"/>
          <p:cNvSpPr txBox="1"/>
          <p:nvPr/>
        </p:nvSpPr>
        <p:spPr>
          <a:xfrm>
            <a:off x="6516370" y="4673600"/>
            <a:ext cx="527939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모두 제조사 공개치이고 측정 조건이 달라, 그대로 순위를 매기면 안 된다.</a:t>
            </a:r>
          </a:p>
        </p:txBody>
      </p:sp>
      <p:sp>
        <p:nvSpPr>
          <p:cNvPr id="839" name="Check Band"/>
          <p:cNvSpPr/>
          <p:nvPr/>
        </p:nvSpPr>
        <p:spPr>
          <a:xfrm>
            <a:off x="932180" y="5016500"/>
            <a:ext cx="10863580" cy="330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40" name="Check Text"/>
          <p:cNvSpPr txBox="1"/>
          <p:nvPr/>
        </p:nvSpPr>
        <p:spPr>
          <a:xfrm>
            <a:off x="1084580" y="5016500"/>
            <a:ext cx="10553700" cy="33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확인할 점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  ① 어떤 조건에서 잰 값인가   ② 배터리를 누가 바꾸나   ③ 현장에서 교대 한 번을 채웠나   ④ 소모 부품 교체 주기를 밝히나</a:t>
            </a:r>
          </a:p>
        </p:txBody>
      </p:sp>
      <p:sp>
        <p:nvSpPr>
          <p:cNvPr id="841" name="Conclusion"/>
          <p:cNvSpPr txBox="1"/>
          <p:nvPr/>
        </p:nvSpPr>
        <p:spPr>
          <a:xfrm>
            <a:off x="932180" y="54991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회사가 밝힌 가동시간은 재는 조건이 </a:t>
            </a:r>
            <a:r>
              <a:rPr lang="ko-KR" altLang="en-US" sz="1000" b="1" dirty="0" err="1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제각각이라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실제 공장에서 한 교대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(8~12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시간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)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를 멈추지 않고 일해 냈는지를 확인해봐야 한다</a:t>
            </a:r>
            <a:r>
              <a:rPr lang="en-US" altLang="ko-KR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.</a:t>
            </a:r>
            <a:endParaRPr lang="ko-KR" altLang="en-US" sz="1000" b="1" dirty="0">
              <a:solidFill>
                <a:srgbClr val="001C5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42" name="Source"/>
          <p:cNvSpPr txBox="1"/>
          <p:nvPr/>
        </p:nvSpPr>
        <p:spPr>
          <a:xfrm>
            <a:off x="932180" y="5829300"/>
            <a:ext cx="1086358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Unitree 공식 제품 페이지(R1, G1, H2), AgiBot 공식 제품 페이지(X2), Boston Dynamics 공식 페이지(Atlas), 1X 공식 페이지(NEO), UBTech 공식 제품 페이지(Walker S2), 이상 2026-10-04 조회 / Agility Robotics, 'Agility unveils Digit 5', 2026-09-15 / Figure, 'F.03 Battery Development', 2025-07-17 / Figure, 'F.02 Contributed to the Production of 30,000 Cars at BMW', 2025-11-19</a:t>
            </a:r>
          </a:p>
        </p:txBody>
      </p:sp>
    </p:spTree>
    <p:extLst>
      <p:ext uri="{BB962C8B-B14F-4D97-AF65-F5344CB8AC3E}">
        <p14:creationId xmlns:p14="http://schemas.microsoft.com/office/powerpoint/2010/main" val="926248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성공률은 왜 안 오르나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5-1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실패할 때마다 사람이 개입해야 하므로, 성공률 95%와 99.9%는 하루 1,000번 작업에서 실패 50번과 1번의 차이다.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막힌 곳은 손, 촉각, 데이터이고, 볼 것은 '제3자가 확인한 현장 성과'다.</a:t>
            </a:r>
          </a:p>
        </p:txBody>
      </p:sp>
      <p:sp>
        <p:nvSpPr>
          <p:cNvPr id="8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실패율로 보면 95%와 99.9%는 50배 차이다</a:t>
            </a:r>
          </a:p>
        </p:txBody>
      </p:sp>
      <p:cxnSp>
        <p:nvCxnSpPr>
          <p:cNvPr id="8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2" name="Bar Unit"/>
          <p:cNvSpPr txBox="1"/>
          <p:nvPr/>
        </p:nvSpPr>
        <p:spPr>
          <a:xfrm>
            <a:off x="932180" y="2362200"/>
            <a:ext cx="3302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(하루 1,000번 작업 중 실패 횟수)</a:t>
            </a:r>
          </a:p>
        </p:txBody>
      </p:sp>
      <p:sp>
        <p:nvSpPr>
          <p:cNvPr id="803" name="Bar 1 Name"/>
          <p:cNvSpPr txBox="1"/>
          <p:nvPr/>
        </p:nvSpPr>
        <p:spPr>
          <a:xfrm>
            <a:off x="932180" y="2743200"/>
            <a:ext cx="1371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성공률 95%</a:t>
            </a:r>
          </a:p>
        </p:txBody>
      </p:sp>
      <p:sp>
        <p:nvSpPr>
          <p:cNvPr id="804" name="Bar 1"/>
          <p:cNvSpPr/>
          <p:nvPr/>
        </p:nvSpPr>
        <p:spPr>
          <a:xfrm>
            <a:off x="2413000" y="2667000"/>
            <a:ext cx="330200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5" name="Bar 1 Value"/>
          <p:cNvSpPr txBox="1"/>
          <p:nvPr/>
        </p:nvSpPr>
        <p:spPr>
          <a:xfrm>
            <a:off x="5791200" y="27432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50번</a:t>
            </a:r>
          </a:p>
        </p:txBody>
      </p:sp>
      <p:sp>
        <p:nvSpPr>
          <p:cNvPr id="806" name="Bar 2 Name"/>
          <p:cNvSpPr txBox="1"/>
          <p:nvPr/>
        </p:nvSpPr>
        <p:spPr>
          <a:xfrm>
            <a:off x="932180" y="3530600"/>
            <a:ext cx="1371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성공률 99%</a:t>
            </a:r>
          </a:p>
        </p:txBody>
      </p:sp>
      <p:sp>
        <p:nvSpPr>
          <p:cNvPr id="807" name="Bar 2"/>
          <p:cNvSpPr/>
          <p:nvPr/>
        </p:nvSpPr>
        <p:spPr>
          <a:xfrm>
            <a:off x="2413000" y="3454400"/>
            <a:ext cx="66040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8" name="Bar 2 Value"/>
          <p:cNvSpPr txBox="1"/>
          <p:nvPr/>
        </p:nvSpPr>
        <p:spPr>
          <a:xfrm>
            <a:off x="3149600" y="35306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10번</a:t>
            </a:r>
          </a:p>
        </p:txBody>
      </p:sp>
      <p:sp>
        <p:nvSpPr>
          <p:cNvPr id="809" name="Bar 3 Name"/>
          <p:cNvSpPr txBox="1"/>
          <p:nvPr/>
        </p:nvSpPr>
        <p:spPr>
          <a:xfrm>
            <a:off x="932180" y="4318000"/>
            <a:ext cx="1371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성공률 99.9%</a:t>
            </a:r>
          </a:p>
        </p:txBody>
      </p:sp>
      <p:sp>
        <p:nvSpPr>
          <p:cNvPr id="810" name="Bar 3"/>
          <p:cNvSpPr/>
          <p:nvPr/>
        </p:nvSpPr>
        <p:spPr>
          <a:xfrm>
            <a:off x="2413000" y="4241800"/>
            <a:ext cx="6604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1" name="Bar 3 Value"/>
          <p:cNvSpPr txBox="1"/>
          <p:nvPr/>
        </p:nvSpPr>
        <p:spPr>
          <a:xfrm>
            <a:off x="2555240" y="43180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1번</a:t>
            </a:r>
          </a:p>
        </p:txBody>
      </p:sp>
      <p:sp>
        <p:nvSpPr>
          <p:cNvPr id="812" name="Bar Note"/>
          <p:cNvSpPr txBox="1"/>
          <p:nvPr/>
        </p:nvSpPr>
        <p:spPr>
          <a:xfrm>
            <a:off x="941301" y="4811395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예시일 뿐이며</a:t>
            </a:r>
            <a:r>
              <a:rPr lang="en-US" altLang="ko-KR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특정 제품의 실제 성공률이 아니다.</a:t>
            </a:r>
          </a:p>
        </p:txBody>
      </p:sp>
      <p:sp>
        <p:nvSpPr>
          <p:cNvPr id="813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지금 현장의 단순 작업에서도 성공률이 먼저 문제다</a:t>
            </a:r>
          </a:p>
        </p:txBody>
      </p:sp>
      <p:cxnSp>
        <p:nvCxnSpPr>
          <p:cNvPr id="814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17" name="Conclusion"/>
          <p:cNvSpPr txBox="1"/>
          <p:nvPr/>
        </p:nvSpPr>
        <p:spPr>
          <a:xfrm>
            <a:off x="932180" y="53848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시연 영상보다, 어느 현장에서 몇 번 중 몇 번 성공했는지를 봐야 한다.</a:t>
            </a:r>
          </a:p>
        </p:txBody>
      </p:sp>
      <p:sp>
        <p:nvSpPr>
          <p:cNvPr id="818" name="Source"/>
          <p:cNvSpPr txBox="1"/>
          <p:nvPr/>
        </p:nvSpPr>
        <p:spPr>
          <a:xfrm>
            <a:off x="932180" y="6019800"/>
            <a:ext cx="1086358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Figure, 'F.02 Contributed to the Production of 30,000 Cars at BMW', 2025-11-19 / Roland Berger, 'Humanoid robots 2026: The convergence moment for a new market', 2026-04</a:t>
            </a:r>
          </a:p>
        </p:txBody>
      </p:sp>
      <p:graphicFrame>
        <p:nvGraphicFramePr>
          <p:cNvPr id="830" name="Right Table"/>
          <p:cNvGraphicFramePr>
            <a:graphicFrameLocks noGrp="1"/>
          </p:cNvGraphicFramePr>
          <p:nvPr/>
        </p:nvGraphicFramePr>
        <p:xfrm>
          <a:off x="6516370" y="2324100"/>
          <a:ext cx="5279390" cy="2832227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561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왜 중요한가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동작을 하루 수백~수천 번 반복한다. 실패마다 사람이 달려가면 로봇을 쓰는 의미가 없다.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95% 로봇 옆에는 사실상 사람이 계속 붙어 있어야 한다.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98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지금 되는 일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정해진 경로로 같은 물건을 옮기는 일(물류 상자 운반, 점검).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섬세한 손재주는 그다음 단계다.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561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공개된 수치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회사 발표나 목표치뿐이다.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피규어 BMW의 '교대당 99% 초과'도 목표였고,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제3자가 확인한 현장 성공률은 아직 찾지 못했다.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091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성공률은 왜 안 오르나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5-2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실패할 때마다 사람이 개입해야 하므로, 성공률 95%와 99.9%는 하루 1,000번 작업에서 실패 50번과 1번의 차이다.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막힌 곳은 손, 촉각, 데이터이고, 볼 것은 '제3자가 확인한 현장 성과'다.</a:t>
            </a:r>
          </a:p>
        </p:txBody>
      </p:sp>
      <p:sp>
        <p:nvSpPr>
          <p:cNvPr id="8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 손은 사람 손만큼 따로 움직이는 관절이 많지 않다</a:t>
            </a:r>
          </a:p>
        </p:txBody>
      </p:sp>
      <p:cxnSp>
        <p:nvCxnSpPr>
          <p:cNvPr id="8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02" name="Left Body"/>
          <p:cNvSpPr txBox="1"/>
          <p:nvPr/>
        </p:nvSpPr>
        <p:spPr>
          <a:xfrm>
            <a:off x="932180" y="2336800"/>
            <a:ext cx="527939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사람 손은 자유도(따로 움직일 수 있는 방향의 수)가 20~27개인데, 로봇 손은 여러 관절이 한 모터에 묶여 따로 움직이는 관절이 적다. 쥐기는 되지만 돌리기, 끼우기 같은 섬세한 동작이 약하다.</a:t>
            </a:r>
          </a:p>
        </p:txBody>
      </p:sp>
      <p:sp>
        <p:nvSpPr>
          <p:cNvPr id="803" name="Bar Unit"/>
          <p:cNvSpPr txBox="1"/>
          <p:nvPr/>
        </p:nvSpPr>
        <p:spPr>
          <a:xfrm>
            <a:off x="932180" y="30226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(한 손의 자유도)</a:t>
            </a:r>
          </a:p>
        </p:txBody>
      </p:sp>
      <p:sp>
        <p:nvSpPr>
          <p:cNvPr id="804" name="Bar 1 Name"/>
          <p:cNvSpPr txBox="1"/>
          <p:nvPr/>
        </p:nvSpPr>
        <p:spPr>
          <a:xfrm>
            <a:off x="932180" y="32131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사람 손 (손목 포함)</a:t>
            </a:r>
          </a:p>
        </p:txBody>
      </p:sp>
      <p:sp>
        <p:nvSpPr>
          <p:cNvPr id="805" name="Bar 1"/>
          <p:cNvSpPr/>
          <p:nvPr/>
        </p:nvSpPr>
        <p:spPr>
          <a:xfrm>
            <a:off x="2921000" y="3225800"/>
            <a:ext cx="2729230" cy="1524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6" name="Bar 1 Value"/>
          <p:cNvSpPr txBox="1"/>
          <p:nvPr/>
        </p:nvSpPr>
        <p:spPr>
          <a:xfrm>
            <a:off x="5701030" y="32131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807" name="Bar 2 Name"/>
          <p:cNvSpPr txBox="1"/>
          <p:nvPr/>
        </p:nvSpPr>
        <p:spPr>
          <a:xfrm>
            <a:off x="932180" y="34925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1X NEO 손</a:t>
            </a:r>
          </a:p>
        </p:txBody>
      </p:sp>
      <p:sp>
        <p:nvSpPr>
          <p:cNvPr id="808" name="Bar 2"/>
          <p:cNvSpPr/>
          <p:nvPr/>
        </p:nvSpPr>
        <p:spPr>
          <a:xfrm>
            <a:off x="2921000" y="3505200"/>
            <a:ext cx="2223770" cy="152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09" name="Bar 2 Value"/>
          <p:cNvSpPr txBox="1"/>
          <p:nvPr/>
        </p:nvSpPr>
        <p:spPr>
          <a:xfrm>
            <a:off x="5195570" y="34925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810" name="Bar 3 Name"/>
          <p:cNvSpPr txBox="1"/>
          <p:nvPr/>
        </p:nvSpPr>
        <p:spPr>
          <a:xfrm>
            <a:off x="932180" y="37719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UBTech 5세대 손 (능동)</a:t>
            </a:r>
          </a:p>
        </p:txBody>
      </p:sp>
      <p:sp>
        <p:nvSpPr>
          <p:cNvPr id="811" name="Bar 3"/>
          <p:cNvSpPr/>
          <p:nvPr/>
        </p:nvSpPr>
        <p:spPr>
          <a:xfrm>
            <a:off x="2921000" y="3784600"/>
            <a:ext cx="1920240" cy="152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2" name="Bar 3 Value"/>
          <p:cNvSpPr txBox="1"/>
          <p:nvPr/>
        </p:nvSpPr>
        <p:spPr>
          <a:xfrm>
            <a:off x="4892040" y="37719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813" name="Bar 4 Name"/>
          <p:cNvSpPr txBox="1"/>
          <p:nvPr/>
        </p:nvSpPr>
        <p:spPr>
          <a:xfrm>
            <a:off x="932180" y="40513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UBTech 4세대 손</a:t>
            </a:r>
          </a:p>
        </p:txBody>
      </p:sp>
      <p:sp>
        <p:nvSpPr>
          <p:cNvPr id="814" name="Bar 4"/>
          <p:cNvSpPr/>
          <p:nvPr/>
        </p:nvSpPr>
        <p:spPr>
          <a:xfrm>
            <a:off x="2921000" y="4064000"/>
            <a:ext cx="1112520" cy="152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5" name="Bar 4 Value"/>
          <p:cNvSpPr txBox="1"/>
          <p:nvPr/>
        </p:nvSpPr>
        <p:spPr>
          <a:xfrm>
            <a:off x="4084320" y="40513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816" name="Bar 5 Name"/>
          <p:cNvSpPr txBox="1"/>
          <p:nvPr/>
        </p:nvSpPr>
        <p:spPr>
          <a:xfrm>
            <a:off x="932180" y="4330700"/>
            <a:ext cx="190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 G1 EDU 손</a:t>
            </a:r>
          </a:p>
        </p:txBody>
      </p:sp>
      <p:sp>
        <p:nvSpPr>
          <p:cNvPr id="817" name="Bar 5"/>
          <p:cNvSpPr/>
          <p:nvPr/>
        </p:nvSpPr>
        <p:spPr>
          <a:xfrm>
            <a:off x="2921000" y="4343400"/>
            <a:ext cx="707390" cy="152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18" name="Bar 5 Value"/>
          <p:cNvSpPr txBox="1"/>
          <p:nvPr/>
        </p:nvSpPr>
        <p:spPr>
          <a:xfrm>
            <a:off x="3679190" y="4330700"/>
            <a:ext cx="3556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819" name="Bar Note"/>
          <p:cNvSpPr txBox="1"/>
          <p:nvPr/>
        </p:nvSpPr>
        <p:spPr>
          <a:xfrm>
            <a:off x="932180" y="4597400"/>
            <a:ext cx="527939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회사마다 세는 기준이 달라, 숫자가 같아도 손재주가 같지는 않다.</a:t>
            </a:r>
          </a:p>
        </p:txBody>
      </p:sp>
      <p:sp>
        <p:nvSpPr>
          <p:cNvPr id="820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쥐는 감각과 학습 데이터도 아직 모자란다</a:t>
            </a:r>
          </a:p>
        </p:txBody>
      </p:sp>
      <p:cxnSp>
        <p:nvCxnSpPr>
          <p:cNvPr id="821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824" name="Check Band"/>
          <p:cNvSpPr/>
          <p:nvPr/>
        </p:nvSpPr>
        <p:spPr>
          <a:xfrm>
            <a:off x="932180" y="4965700"/>
            <a:ext cx="10863580" cy="3302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825" name="Check Text"/>
          <p:cNvSpPr txBox="1"/>
          <p:nvPr/>
        </p:nvSpPr>
        <p:spPr>
          <a:xfrm>
            <a:off x="1084580" y="4965700"/>
            <a:ext cx="10553700" cy="330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확인할 점</a:t>
            </a: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  ① 회사 자체 수치인가, 제3자가 확인했나   ② 연구실 수치인가, 현장 수치인가   ③ 손 자유도를 어떤 기준으로 셌나   ④ 촉각 센서를 갖췄나</a:t>
            </a:r>
          </a:p>
        </p:txBody>
      </p:sp>
      <p:sp>
        <p:nvSpPr>
          <p:cNvPr id="826" name="Conclusion"/>
          <p:cNvSpPr txBox="1"/>
          <p:nvPr/>
        </p:nvSpPr>
        <p:spPr>
          <a:xfrm>
            <a:off x="932180" y="54483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이 문제를 풀 데이터는 로봇이 현장에서 움직여야만 쌓인다.</a:t>
            </a:r>
          </a:p>
        </p:txBody>
      </p:sp>
      <p:sp>
        <p:nvSpPr>
          <p:cNvPr id="827" name="Source"/>
          <p:cNvSpPr txBox="1"/>
          <p:nvPr/>
        </p:nvSpPr>
        <p:spPr>
          <a:xfrm>
            <a:off x="932180" y="5829300"/>
            <a:ext cx="1086358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'Humanoid robots: Crossing the chasm from concept to commercial reality', 2025-10-15 / UBTech 2025 연간 실적 공고(HKEX), 2026-03-31 / 1X 공식 페이지(NEO), Unitree 공식 제품 페이지(G1), 2026-10-04 조회 / Roland Berger, 'Humanoid robots 2026: The convergence moment for a new market', 2026-04 / Google DeepMind, 'Gemini Robotics 2 brings whole body intelligence to robots', 2026-07-30</a:t>
            </a:r>
          </a:p>
        </p:txBody>
      </p:sp>
      <p:graphicFrame>
        <p:nvGraphicFramePr>
          <p:cNvPr id="830" name="Righ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058859"/>
              </p:ext>
            </p:extLst>
          </p:nvPr>
        </p:nvGraphicFramePr>
        <p:xfrm>
          <a:off x="6516370" y="2324100"/>
          <a:ext cx="5279390" cy="243840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933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감각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사람은 촉각과 시각을 함께 쓴다.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로봇 촉각 센서는 아직 공장에서 계속 쓸 만큼 튼튼하지 않고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수준이 되려면 손 하나에 센서 100개 이상이 필요하다.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907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데이터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사람이 물건을 다루는 영상은 많지만, 그때 손에 얼마나 힘이 들어갔는지는 영상에 남지 않는다. 실패를 겪어 봐야 실수를 피하는데, 사람 시범은 대부분 성공이라 실패 데이터는 로봇을 실제로 넘어뜨려야 생긴다.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최신 AI는 새 로봇에 몇 시간 만에 적응하지만, 여러 손가락을 쓰는 섬세한 작업은 아직 어렵다.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159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얼마나 커지고, 어디로 움직이나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6-1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2030년 전망은 기관마다 연 18만~300만 대로 16배 넘게 벌어진다.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휴머노이드의 정의와 시나리오가 다르기 때문이다. McKinsey는 시범 단계를 벗어나려면 안전 → 가동시간 → 손재주 → 원가 순서로 병목을 풀어야 한다고 보고, 우리는 이 순서가 막히는 것을 위험 신호로 본다.</a:t>
            </a:r>
          </a:p>
        </p:txBody>
      </p:sp>
      <p:sp>
        <p:nvSpPr>
          <p:cNvPr id="924" name="Source"/>
          <p:cNvSpPr txBox="1"/>
          <p:nvPr/>
        </p:nvSpPr>
        <p:spPr>
          <a:xfrm>
            <a:off x="932180" y="5918200"/>
            <a:ext cx="1086358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ABI Research, 'Robotics Research 2026'(블로그), 2025-11-24 / IDC, 'Humanoid Robotics Commercialization 2026'(블로그), 2026-04-23 / Roland Berger, 'Humanoid robots 2026: The convergence moment for a new market', 2026-04 / Interact Analysis 보도자료, 2026-05-21 / Omdia, 'Market Radar: General-purpose Embodied Intelligent Robots 2026', 2026-01-08 / IDC, 「人形机器人规模化元年已至，中国厂商抢占先发优势」, 2026-02-09</a:t>
            </a:r>
          </a:p>
        </p:txBody>
      </p:sp>
      <p:sp>
        <p:nvSpPr>
          <p:cNvPr id="950" name="Left Heading"/>
          <p:cNvSpPr txBox="1"/>
          <p:nvPr/>
        </p:nvSpPr>
        <p:spPr>
          <a:xfrm>
            <a:off x="932180" y="21844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2030년 전망은 기관마다 18만~300만 대로 갈린다</a:t>
            </a:r>
          </a:p>
        </p:txBody>
      </p:sp>
      <p:cxnSp>
        <p:nvCxnSpPr>
          <p:cNvPr id="951" name="Left Heading Rule"/>
          <p:cNvCxnSpPr/>
          <p:nvPr/>
        </p:nvCxnSpPr>
        <p:spPr>
          <a:xfrm>
            <a:off x="932180" y="24384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952" name="Bar Unit"/>
          <p:cNvSpPr txBox="1"/>
          <p:nvPr/>
        </p:nvSpPr>
        <p:spPr>
          <a:xfrm>
            <a:off x="932180" y="2540000"/>
            <a:ext cx="3302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(2030년 연간 출하 전망, 만 대)</a:t>
            </a:r>
          </a:p>
        </p:txBody>
      </p:sp>
      <p:cxnSp>
        <p:nvCxnSpPr>
          <p:cNvPr id="953" name="Axis Line"/>
          <p:cNvCxnSpPr/>
          <p:nvPr/>
        </p:nvCxnSpPr>
        <p:spPr>
          <a:xfrm>
            <a:off x="2583180" y="4343400"/>
            <a:ext cx="29210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954" name="Tick 0"/>
          <p:cNvSpPr txBox="1"/>
          <p:nvPr/>
        </p:nvSpPr>
        <p:spPr>
          <a:xfrm>
            <a:off x="2392680" y="4381500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955" name="Tick 100"/>
          <p:cNvSpPr txBox="1"/>
          <p:nvPr/>
        </p:nvSpPr>
        <p:spPr>
          <a:xfrm>
            <a:off x="3366770" y="4381500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956" name="Tick 200"/>
          <p:cNvSpPr txBox="1"/>
          <p:nvPr/>
        </p:nvSpPr>
        <p:spPr>
          <a:xfrm>
            <a:off x="4339590" y="4381500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200</a:t>
            </a:r>
          </a:p>
        </p:txBody>
      </p:sp>
      <p:sp>
        <p:nvSpPr>
          <p:cNvPr id="957" name="Tick 300"/>
          <p:cNvSpPr txBox="1"/>
          <p:nvPr/>
        </p:nvSpPr>
        <p:spPr>
          <a:xfrm>
            <a:off x="5313680" y="4381500"/>
            <a:ext cx="381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300</a:t>
            </a:r>
          </a:p>
        </p:txBody>
      </p:sp>
      <p:sp>
        <p:nvSpPr>
          <p:cNvPr id="958" name="Bar 1 Name"/>
          <p:cNvSpPr txBox="1"/>
          <p:nvPr/>
        </p:nvSpPr>
        <p:spPr>
          <a:xfrm>
            <a:off x="932180" y="2819400"/>
            <a:ext cx="15494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ABI Research</a:t>
            </a:r>
          </a:p>
        </p:txBody>
      </p:sp>
      <p:sp>
        <p:nvSpPr>
          <p:cNvPr id="959" name="Bar 1"/>
          <p:cNvSpPr/>
          <p:nvPr/>
        </p:nvSpPr>
        <p:spPr>
          <a:xfrm>
            <a:off x="2583180" y="2743200"/>
            <a:ext cx="17653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60" name="Bar 1 Value"/>
          <p:cNvSpPr txBox="1"/>
          <p:nvPr/>
        </p:nvSpPr>
        <p:spPr>
          <a:xfrm>
            <a:off x="2810510" y="28194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약 18만</a:t>
            </a:r>
          </a:p>
        </p:txBody>
      </p:sp>
      <p:sp>
        <p:nvSpPr>
          <p:cNvPr id="961" name="Bar 2 Name"/>
          <p:cNvSpPr txBox="1"/>
          <p:nvPr/>
        </p:nvSpPr>
        <p:spPr>
          <a:xfrm>
            <a:off x="932180" y="3378200"/>
            <a:ext cx="15494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IDC</a:t>
            </a:r>
          </a:p>
        </p:txBody>
      </p:sp>
      <p:sp>
        <p:nvSpPr>
          <p:cNvPr id="962" name="Bar 2"/>
          <p:cNvSpPr/>
          <p:nvPr/>
        </p:nvSpPr>
        <p:spPr>
          <a:xfrm>
            <a:off x="2583180" y="3302000"/>
            <a:ext cx="49657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63" name="Bar 2 Value"/>
          <p:cNvSpPr txBox="1"/>
          <p:nvPr/>
        </p:nvSpPr>
        <p:spPr>
          <a:xfrm>
            <a:off x="3130550" y="33782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51만 이상</a:t>
            </a:r>
          </a:p>
        </p:txBody>
      </p:sp>
      <p:sp>
        <p:nvSpPr>
          <p:cNvPr id="964" name="Bar 3 Name"/>
          <p:cNvSpPr txBox="1"/>
          <p:nvPr/>
        </p:nvSpPr>
        <p:spPr>
          <a:xfrm>
            <a:off x="932180" y="3937000"/>
            <a:ext cx="15494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Roland Berger (기본~낙관)</a:t>
            </a:r>
          </a:p>
        </p:txBody>
      </p:sp>
      <p:sp>
        <p:nvSpPr>
          <p:cNvPr id="965" name="Bar 3 Dark"/>
          <p:cNvSpPr/>
          <p:nvPr/>
        </p:nvSpPr>
        <p:spPr>
          <a:xfrm>
            <a:off x="2583180" y="3860800"/>
            <a:ext cx="974090" cy="355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66" name="Bar 3 Light"/>
          <p:cNvSpPr/>
          <p:nvPr/>
        </p:nvSpPr>
        <p:spPr>
          <a:xfrm>
            <a:off x="3557270" y="3860800"/>
            <a:ext cx="1946910" cy="3556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67" name="Bar 3 Value"/>
          <p:cNvSpPr txBox="1"/>
          <p:nvPr/>
        </p:nvSpPr>
        <p:spPr>
          <a:xfrm>
            <a:off x="5554980" y="3937000"/>
            <a:ext cx="762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100만~300만</a:t>
            </a:r>
          </a:p>
        </p:txBody>
      </p:sp>
      <p:sp>
        <p:nvSpPr>
          <p:cNvPr id="968" name="Bar Note"/>
          <p:cNvSpPr txBox="1"/>
          <p:nvPr/>
        </p:nvSpPr>
        <p:spPr>
          <a:xfrm>
            <a:off x="932180" y="46355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기관마다 휴머노이드의 정의(바퀴형 포함 여부)와 시나리오가 다르다. IDC는 '51만 대 초과'로 표현했다.</a:t>
            </a:r>
          </a:p>
        </p:txBody>
      </p:sp>
      <p:sp>
        <p:nvSpPr>
          <p:cNvPr id="969" name="Right Heading"/>
          <p:cNvSpPr txBox="1"/>
          <p:nvPr/>
        </p:nvSpPr>
        <p:spPr>
          <a:xfrm>
            <a:off x="6516370" y="21844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숫자 하나보다, 무엇을 곱해서 나온 숫자인지를 봐야 한다</a:t>
            </a:r>
          </a:p>
        </p:txBody>
      </p:sp>
      <p:cxnSp>
        <p:nvCxnSpPr>
          <p:cNvPr id="970" name="Right Heading Rule"/>
          <p:cNvCxnSpPr/>
          <p:nvPr/>
        </p:nvCxnSpPr>
        <p:spPr>
          <a:xfrm>
            <a:off x="6516370" y="24384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971" name="Righ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289630"/>
              </p:ext>
            </p:extLst>
          </p:nvPr>
        </p:nvGraphicFramePr>
        <p:xfrm>
          <a:off x="6516370" y="2540000"/>
          <a:ext cx="5279390" cy="24257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011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2035년 전망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Interact Analysis 70만 대 이상, Omdia 260만 대(바퀴형 등 범용 로봇 포함), Roland Berger 1,000만~3,000만 대로 2035년에도 크게 갈린다.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계산식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완성체 시장 = 출하 대수 × 평균 판매가. 대수가 늘수록 가격이 내려가, 매출은 대수보다 느리게 는다.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지금 규모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2025년 실제 출하는 약 1.3만~1.8만 대였다.</a:t>
                      </a:r>
                    </a:p>
                  </a:txBody>
                  <a:tcPr marL="127000" marR="127000" marT="127000" marB="1270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72" name="Conclusion"/>
          <p:cNvSpPr txBox="1"/>
          <p:nvPr/>
        </p:nvSpPr>
        <p:spPr>
          <a:xfrm>
            <a:off x="932180" y="52197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우리는 로봇이 사람만큼 오래, 정확하게 일하게 되는 시점이 몇 년만 어긋나도 전망이 몇 배씩 달라질 수 있다고 본다.</a:t>
            </a:r>
          </a:p>
        </p:txBody>
      </p:sp>
    </p:spTree>
    <p:extLst>
      <p:ext uri="{BB962C8B-B14F-4D97-AF65-F5344CB8AC3E}">
        <p14:creationId xmlns:p14="http://schemas.microsoft.com/office/powerpoint/2010/main" val="3932712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얼마나 커지고, 어디로 움직이나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01" name="Menu Highlight"/>
          <p:cNvSpPr/>
          <p:nvPr/>
        </p:nvSpPr>
        <p:spPr>
          <a:xfrm>
            <a:off x="45720" y="11938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896620" y="196850"/>
            <a:ext cx="8763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01/04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6-2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7239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2030년 전망은 기관마다 연 18만~300만 대로 16배 넘게 벌어진다.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휴머노이드의 정의와 시나리오가 다르기 때문이다. McKinsey는 시범 단계를 벗어나려면 안전 → 가동시간 → 손재주 → 원가 순서로 병목을 풀어야 한다고 보고, 우리는 이 순서가 막히는 것을 위험 신호로 본다.</a:t>
            </a:r>
          </a:p>
        </p:txBody>
      </p:sp>
      <p:sp>
        <p:nvSpPr>
          <p:cNvPr id="900" name="Order Heading"/>
          <p:cNvSpPr txBox="1"/>
          <p:nvPr/>
        </p:nvSpPr>
        <p:spPr>
          <a:xfrm>
            <a:off x="932180" y="21844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시범 단계를 벗어나려면 병목을 이 순서로 풀어야 한다</a:t>
            </a:r>
          </a:p>
        </p:txBody>
      </p:sp>
      <p:cxnSp>
        <p:nvCxnSpPr>
          <p:cNvPr id="901" name="Order Heading Rule"/>
          <p:cNvCxnSpPr/>
          <p:nvPr/>
        </p:nvCxnSpPr>
        <p:spPr>
          <a:xfrm>
            <a:off x="932180" y="24384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902" name="Order Box 1"/>
          <p:cNvSpPr/>
          <p:nvPr/>
        </p:nvSpPr>
        <p:spPr>
          <a:xfrm>
            <a:off x="932180" y="2540000"/>
            <a:ext cx="2489200" cy="1320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03" name="Order Box 2"/>
          <p:cNvSpPr/>
          <p:nvPr/>
        </p:nvSpPr>
        <p:spPr>
          <a:xfrm>
            <a:off x="3714750" y="2540000"/>
            <a:ext cx="2489200" cy="1320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04" name="Order Box 3"/>
          <p:cNvSpPr/>
          <p:nvPr/>
        </p:nvSpPr>
        <p:spPr>
          <a:xfrm>
            <a:off x="6497320" y="2540000"/>
            <a:ext cx="2489200" cy="1320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05" name="Order Box 4"/>
          <p:cNvSpPr/>
          <p:nvPr/>
        </p:nvSpPr>
        <p:spPr>
          <a:xfrm>
            <a:off x="9279890" y="2540000"/>
            <a:ext cx="2489200" cy="1320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06" name="Order Text 1"/>
          <p:cNvSpPr txBox="1"/>
          <p:nvPr/>
        </p:nvSpPr>
        <p:spPr>
          <a:xfrm>
            <a:off x="1084580" y="2692400"/>
            <a:ext cx="2184400" cy="106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① 안전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사람 곁에서 울타리 없이 일하려면 휴머노이드용 안전 기준이 필요한데, 아직 통일된 기준이 없다. 그래서 로봇은 분리된 구역을 벗어나지 못한다.</a:t>
            </a:r>
          </a:p>
        </p:txBody>
      </p:sp>
      <p:sp>
        <p:nvSpPr>
          <p:cNvPr id="907" name="Order Text 2"/>
          <p:cNvSpPr txBox="1"/>
          <p:nvPr/>
        </p:nvSpPr>
        <p:spPr>
          <a:xfrm>
            <a:off x="3867150" y="2692400"/>
            <a:ext cx="2184400" cy="106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② 가동시간 (4장)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투자 회수를 가르는 핵심이라 두 번째 과제다. 한 교대(8~12시간)를 채워야 사람 한 명분의 일을 한다.</a:t>
            </a:r>
          </a:p>
        </p:txBody>
      </p:sp>
      <p:sp>
        <p:nvSpPr>
          <p:cNvPr id="908" name="Order Text 3"/>
          <p:cNvSpPr txBox="1"/>
          <p:nvPr/>
        </p:nvSpPr>
        <p:spPr>
          <a:xfrm>
            <a:off x="6649720" y="2692400"/>
            <a:ext cx="2184400" cy="106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③ 손재주 (5장)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초기 운반, 점검에서는 단순 작업의 성공률이 먼저이고, 손재주는 그다음에 할 수 있는 일의 범위를 정한다.</a:t>
            </a:r>
          </a:p>
        </p:txBody>
      </p:sp>
      <p:sp>
        <p:nvSpPr>
          <p:cNvPr id="909" name="Order Text 4"/>
          <p:cNvSpPr txBox="1"/>
          <p:nvPr/>
        </p:nvSpPr>
        <p:spPr>
          <a:xfrm>
            <a:off x="9432290" y="2692400"/>
            <a:ext cx="2184400" cy="1066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④ 원가 (2장)</a:t>
            </a:r>
          </a:p>
          <a:p>
            <a: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시범 운영을 넘어 널리 퍼지려면 마지막으로 가격이 내려와야 한다.</a:t>
            </a:r>
          </a:p>
        </p:txBody>
      </p:sp>
      <p:cxnSp>
        <p:nvCxnSpPr>
          <p:cNvPr id="910" name="Order Arrow 1"/>
          <p:cNvCxnSpPr/>
          <p:nvPr/>
        </p:nvCxnSpPr>
        <p:spPr>
          <a:xfrm>
            <a:off x="3446780" y="3200400"/>
            <a:ext cx="24257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911" name="Order Arrow 2"/>
          <p:cNvCxnSpPr/>
          <p:nvPr/>
        </p:nvCxnSpPr>
        <p:spPr>
          <a:xfrm>
            <a:off x="6229350" y="3200400"/>
            <a:ext cx="24257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912" name="Order Arrow 3"/>
          <p:cNvCxnSpPr/>
          <p:nvPr/>
        </p:nvCxnSpPr>
        <p:spPr>
          <a:xfrm>
            <a:off x="9011920" y="3200400"/>
            <a:ext cx="24257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sp>
        <p:nvSpPr>
          <p:cNvPr id="913" name="Next Heading"/>
          <p:cNvSpPr txBox="1"/>
          <p:nvPr/>
        </p:nvSpPr>
        <p:spPr>
          <a:xfrm>
            <a:off x="932180" y="41148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다음 경쟁은 손과 촉각, 현장 데이터로 옮겨 간다</a:t>
            </a:r>
          </a:p>
        </p:txBody>
      </p:sp>
      <p:cxnSp>
        <p:nvCxnSpPr>
          <p:cNvPr id="914" name="Next Heading Rule"/>
          <p:cNvCxnSpPr/>
          <p:nvPr/>
        </p:nvCxnSpPr>
        <p:spPr>
          <a:xfrm>
            <a:off x="932180" y="43688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915" name="Next Panel"/>
          <p:cNvSpPr/>
          <p:nvPr/>
        </p:nvSpPr>
        <p:spPr>
          <a:xfrm>
            <a:off x="932180" y="4470400"/>
            <a:ext cx="10863580" cy="812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916" name="Next Panel Text"/>
          <p:cNvSpPr txBox="1"/>
          <p:nvPr/>
        </p:nvSpPr>
        <p:spPr>
          <a:xfrm>
            <a:off x="1109980" y="4648200"/>
            <a:ext cx="1050798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지금 휴머노이드는 정해진 반복 작업은 안정적으로 하지만, 섬세한 손 작업과 스스로 판단하는 능력은 아직 발전 중이다.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현장에 로봇을 많이 깔수록 데이터가 쌓여 AI가 좋아지는 선순환이 생긴다.</a:t>
            </a:r>
          </a:p>
        </p:txBody>
      </p:sp>
      <p:sp>
        <p:nvSpPr>
          <p:cNvPr id="917" name="Conclusion"/>
          <p:cNvSpPr txBox="1"/>
          <p:nvPr/>
        </p:nvSpPr>
        <p:spPr>
          <a:xfrm>
            <a:off x="932180" y="55372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우리는 손과 촉각, 현장 데이터가 다음 차별화 지점이 되고, 완성체는 소수로 좁혀질 수 있다고 본다.</a:t>
            </a:r>
          </a:p>
        </p:txBody>
      </p:sp>
      <p:sp>
        <p:nvSpPr>
          <p:cNvPr id="918" name="Source"/>
          <p:cNvSpPr txBox="1"/>
          <p:nvPr/>
        </p:nvSpPr>
        <p:spPr>
          <a:xfrm>
            <a:off x="932180" y="60960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'Humanoid robots: Crossing the chasm from concept to commercial reality', 2025-10-15 / Roland Berger, 'Humanoid robots 2026: The convergence moment for a new market', 2026-04</a:t>
            </a:r>
          </a:p>
        </p:txBody>
      </p:sp>
    </p:spTree>
    <p:extLst>
      <p:ext uri="{BB962C8B-B14F-4D97-AF65-F5344CB8AC3E}">
        <p14:creationId xmlns:p14="http://schemas.microsoft.com/office/powerpoint/2010/main" val="3215209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밸류체인 한눈에: 누가 무엇을 만들고, 원가는 어디서 나오나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7-1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같은 부품이라도 전기차와 반도체가 이미 대량으로 만드는 것(모터, 배터리, 칩)과 공급 생태계가 작은 것(정밀 감속기, 스크류, 힘 센서)으로 갈린다.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AI 두뇌는 부품 사슬의 한 단계가 아니라 완성체 옆에서 따로 들어오는 공급자다.</a:t>
            </a:r>
          </a:p>
        </p:txBody>
      </p:sp>
      <p:sp>
        <p:nvSpPr>
          <p:cNvPr id="1000" name="AI Box"/>
          <p:cNvSpPr/>
          <p:nvPr/>
        </p:nvSpPr>
        <p:spPr>
          <a:xfrm>
            <a:off x="5758180" y="1981200"/>
            <a:ext cx="4064000" cy="762000"/>
          </a:xfrm>
          <a:prstGeom prst="roundRect">
            <a:avLst>
              <a:gd name="adj" fmla="val 5000"/>
            </a:avLst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01" name="AI Box Text"/>
          <p:cNvSpPr txBox="1"/>
          <p:nvPr/>
        </p:nvSpPr>
        <p:spPr>
          <a:xfrm>
            <a:off x="5910580" y="2057400"/>
            <a:ext cx="37592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AI 두뇌 (옆에서 공급)</a:t>
            </a:r>
          </a:p>
          <a:p>
            <a: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VLA 모델(로봇용 AI), 로봇 탑재 칩, 학습용 GPU</a:t>
            </a:r>
          </a:p>
          <a:p>
            <a: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 탑재 칩은 원가에 포함, 학습용 GPU는 로봇 밖</a:t>
            </a:r>
          </a:p>
        </p:txBody>
      </p:sp>
      <p:cxnSp>
        <p:nvCxnSpPr>
          <p:cNvPr id="1002" name="AI Arrow"/>
          <p:cNvCxnSpPr/>
          <p:nvPr/>
        </p:nvCxnSpPr>
        <p:spPr>
          <a:xfrm>
            <a:off x="8583930" y="2743200"/>
            <a:ext cx="0" cy="46990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sp>
        <p:nvSpPr>
          <p:cNvPr id="1003" name="AI Arrow Label"/>
          <p:cNvSpPr txBox="1"/>
          <p:nvPr/>
        </p:nvSpPr>
        <p:spPr>
          <a:xfrm>
            <a:off x="7136130" y="2895600"/>
            <a:ext cx="13716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완성체에 옆에서 공급</a:t>
            </a:r>
          </a:p>
        </p:txBody>
      </p:sp>
      <p:cxnSp>
        <p:nvCxnSpPr>
          <p:cNvPr id="1004" name="Data Line 1"/>
          <p:cNvCxnSpPr/>
          <p:nvPr/>
        </p:nvCxnSpPr>
        <p:spPr>
          <a:xfrm flipV="1">
            <a:off x="10806430" y="2362200"/>
            <a:ext cx="0" cy="889000"/>
          </a:xfrm>
          <a:prstGeom prst="line">
            <a:avLst/>
          </a:prstGeom>
          <a:ln w="15875">
            <a:solidFill>
              <a:srgbClr val="034EA2"/>
            </a:solidFill>
            <a:prstDash val="dash"/>
          </a:ln>
        </p:spPr>
      </p:cxnSp>
      <p:cxnSp>
        <p:nvCxnSpPr>
          <p:cNvPr id="1005" name="Data Line 2"/>
          <p:cNvCxnSpPr/>
          <p:nvPr/>
        </p:nvCxnSpPr>
        <p:spPr>
          <a:xfrm flipH="1">
            <a:off x="9847580" y="2362200"/>
            <a:ext cx="958850" cy="0"/>
          </a:xfrm>
          <a:prstGeom prst="line">
            <a:avLst/>
          </a:prstGeom>
          <a:ln w="15875">
            <a:solidFill>
              <a:srgbClr val="034EA2"/>
            </a:solidFill>
            <a:prstDash val="dash"/>
            <a:tailEnd type="triangle" w="med" len="med"/>
          </a:ln>
        </p:spPr>
      </p:cxnSp>
      <p:sp>
        <p:nvSpPr>
          <p:cNvPr id="1006" name="Data Label"/>
          <p:cNvSpPr txBox="1"/>
          <p:nvPr/>
        </p:nvSpPr>
        <p:spPr>
          <a:xfrm>
            <a:off x="9898380" y="2133600"/>
            <a:ext cx="18973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현장 데이터 </a:t>
            </a: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(권리는 계약으로)</a:t>
            </a:r>
          </a:p>
        </p:txBody>
      </p:sp>
      <p:sp>
        <p:nvSpPr>
          <p:cNvPr id="1007" name="Flow Label"/>
          <p:cNvSpPr txBox="1"/>
          <p:nvPr/>
        </p:nvSpPr>
        <p:spPr>
          <a:xfrm>
            <a:off x="932180" y="30226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제품과 부품의 흐름 →</a:t>
            </a:r>
          </a:p>
        </p:txBody>
      </p:sp>
      <p:sp>
        <p:nvSpPr>
          <p:cNvPr id="1008" name="Stage Box 1"/>
          <p:cNvSpPr/>
          <p:nvPr/>
        </p:nvSpPr>
        <p:spPr>
          <a:xfrm>
            <a:off x="9321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09" name="Stage Box 2"/>
          <p:cNvSpPr/>
          <p:nvPr/>
        </p:nvSpPr>
        <p:spPr>
          <a:xfrm>
            <a:off x="31546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10" name="Stage Box 3"/>
          <p:cNvSpPr/>
          <p:nvPr/>
        </p:nvSpPr>
        <p:spPr>
          <a:xfrm>
            <a:off x="53771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11" name="Stage Box 4"/>
          <p:cNvSpPr/>
          <p:nvPr/>
        </p:nvSpPr>
        <p:spPr>
          <a:xfrm>
            <a:off x="75996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12" name="Stage Box 5"/>
          <p:cNvSpPr/>
          <p:nvPr/>
        </p:nvSpPr>
        <p:spPr>
          <a:xfrm>
            <a:off x="9822180" y="3251200"/>
            <a:ext cx="1968500" cy="1625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8890">
            <a:solidFill>
              <a:srgbClr val="DDE1E7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13" name="Stage Text 1"/>
          <p:cNvSpPr txBox="1"/>
          <p:nvPr/>
        </p:nvSpPr>
        <p:spPr>
          <a:xfrm>
            <a:off x="10591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소재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희토류 영구자석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특수강, 베어링강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경량 합금, 복합소재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2024년 소결 자석 생산의 94%가 중국</a:t>
            </a:r>
          </a:p>
        </p:txBody>
      </p:sp>
      <p:sp>
        <p:nvSpPr>
          <p:cNvPr id="1014" name="Stage Text 2"/>
          <p:cNvSpPr txBox="1"/>
          <p:nvPr/>
        </p:nvSpPr>
        <p:spPr>
          <a:xfrm>
            <a:off x="32816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핵심 부품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모터, 베어링, 엔코더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정밀 감속기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롤러 스크류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힘, 토크, 촉각 센서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카메라, 배터리 셀</a:t>
            </a:r>
          </a:p>
        </p:txBody>
      </p:sp>
      <p:sp>
        <p:nvSpPr>
          <p:cNvPr id="1015" name="Stage Text 3"/>
          <p:cNvSpPr txBox="1"/>
          <p:nvPr/>
        </p:nvSpPr>
        <p:spPr>
          <a:xfrm>
            <a:off x="55041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모듈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관절 액추에이터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로봇 손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센서 모듈, 배터리 팩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로봇용 컴퓨터</a:t>
            </a:r>
          </a:p>
        </p:txBody>
      </p:sp>
      <p:sp>
        <p:nvSpPr>
          <p:cNvPr id="1016" name="Stage Text 4"/>
          <p:cNvSpPr txBox="1"/>
          <p:nvPr/>
        </p:nvSpPr>
        <p:spPr>
          <a:xfrm>
            <a:off x="77266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완성체(OEM)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설계, 시스템 통합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생산, 품질 검증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판매 또는 대여(RaaS)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가동시간, 성공률</a:t>
            </a:r>
          </a:p>
        </p:txBody>
      </p:sp>
      <p:sp>
        <p:nvSpPr>
          <p:cNvPr id="1017" name="Stage Text 5"/>
          <p:cNvSpPr txBox="1"/>
          <p:nvPr/>
        </p:nvSpPr>
        <p:spPr>
          <a:xfrm>
            <a:off x="9949180" y="3378200"/>
            <a:ext cx="1714500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수요처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자동차, 전자, 물류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시스템 통합(SI)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유지보수, 교체 부품</a:t>
            </a:r>
          </a:p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소프트웨어 구독</a:t>
            </a:r>
          </a:p>
        </p:txBody>
      </p:sp>
      <p:cxnSp>
        <p:nvCxnSpPr>
          <p:cNvPr id="1018" name="Stage Arrow 1"/>
          <p:cNvCxnSpPr/>
          <p:nvPr/>
        </p:nvCxnSpPr>
        <p:spPr>
          <a:xfrm>
            <a:off x="2938780" y="4064000"/>
            <a:ext cx="1778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1019" name="Stage Arrow 2"/>
          <p:cNvCxnSpPr/>
          <p:nvPr/>
        </p:nvCxnSpPr>
        <p:spPr>
          <a:xfrm>
            <a:off x="5161280" y="4064000"/>
            <a:ext cx="1778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1020" name="Stage Arrow 3"/>
          <p:cNvCxnSpPr/>
          <p:nvPr/>
        </p:nvCxnSpPr>
        <p:spPr>
          <a:xfrm>
            <a:off x="7383780" y="4064000"/>
            <a:ext cx="1778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1021" name="Stage Arrow 4"/>
          <p:cNvCxnSpPr/>
          <p:nvPr/>
        </p:nvCxnSpPr>
        <p:spPr>
          <a:xfrm>
            <a:off x="9606280" y="4064000"/>
            <a:ext cx="177800" cy="0"/>
          </a:xfrm>
          <a:prstGeom prst="line">
            <a:avLst/>
          </a:prstGeom>
          <a:ln w="19050">
            <a:solidFill>
              <a:srgbClr val="323A44"/>
            </a:solidFill>
            <a:tailEnd type="triangle" w="med" len="med"/>
          </a:ln>
        </p:spPr>
      </p:cxnSp>
      <p:cxnSp>
        <p:nvCxnSpPr>
          <p:cNvPr id="1022" name="Drive Bracket"/>
          <p:cNvCxnSpPr/>
          <p:nvPr/>
        </p:nvCxnSpPr>
        <p:spPr>
          <a:xfrm>
            <a:off x="3154680" y="5080000"/>
            <a:ext cx="419100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cxnSp>
        <p:nvCxnSpPr>
          <p:cNvPr id="1023" name="Drive Tick L"/>
          <p:cNvCxnSpPr/>
          <p:nvPr/>
        </p:nvCxnSpPr>
        <p:spPr>
          <a:xfrm>
            <a:off x="3154680" y="5003800"/>
            <a:ext cx="0" cy="7620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cxnSp>
        <p:nvCxnSpPr>
          <p:cNvPr id="1024" name="Drive Tick R"/>
          <p:cNvCxnSpPr/>
          <p:nvPr/>
        </p:nvCxnSpPr>
        <p:spPr>
          <a:xfrm>
            <a:off x="7345680" y="5003800"/>
            <a:ext cx="0" cy="7620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025" name="Drive Label"/>
          <p:cNvSpPr txBox="1"/>
          <p:nvPr/>
        </p:nvSpPr>
        <p:spPr>
          <a:xfrm>
            <a:off x="3154680" y="5156200"/>
            <a:ext cx="41910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구동계(액추에이터) = 부품원가의 40~60%</a:t>
            </a:r>
          </a:p>
        </p:txBody>
      </p:sp>
      <p:cxnSp>
        <p:nvCxnSpPr>
          <p:cNvPr id="1026" name="VI Bracket"/>
          <p:cNvCxnSpPr/>
          <p:nvPr/>
        </p:nvCxnSpPr>
        <p:spPr>
          <a:xfrm>
            <a:off x="3154680" y="5537200"/>
            <a:ext cx="6413500" cy="0"/>
          </a:xfrm>
          <a:prstGeom prst="line">
            <a:avLst/>
          </a:prstGeom>
          <a:ln w="12700">
            <a:solidFill>
              <a:srgbClr val="323A44"/>
            </a:solidFill>
            <a:prstDash val="dash"/>
          </a:ln>
        </p:spPr>
      </p:cxnSp>
      <p:cxnSp>
        <p:nvCxnSpPr>
          <p:cNvPr id="1027" name="VI Tick L"/>
          <p:cNvCxnSpPr/>
          <p:nvPr/>
        </p:nvCxnSpPr>
        <p:spPr>
          <a:xfrm>
            <a:off x="3154680" y="5461000"/>
            <a:ext cx="0" cy="76200"/>
          </a:xfrm>
          <a:prstGeom prst="line">
            <a:avLst/>
          </a:prstGeom>
          <a:ln w="12700">
            <a:solidFill>
              <a:srgbClr val="323A44"/>
            </a:solidFill>
            <a:prstDash val="dash"/>
          </a:ln>
        </p:spPr>
      </p:cxnSp>
      <p:cxnSp>
        <p:nvCxnSpPr>
          <p:cNvPr id="1028" name="VI Tick R"/>
          <p:cNvCxnSpPr/>
          <p:nvPr/>
        </p:nvCxnSpPr>
        <p:spPr>
          <a:xfrm>
            <a:off x="9568180" y="5461000"/>
            <a:ext cx="0" cy="76200"/>
          </a:xfrm>
          <a:prstGeom prst="line">
            <a:avLst/>
          </a:prstGeom>
          <a:ln w="12700">
            <a:solidFill>
              <a:srgbClr val="323A44"/>
            </a:solidFill>
            <a:prstDash val="dash"/>
          </a:ln>
        </p:spPr>
      </p:cxnSp>
      <p:sp>
        <p:nvSpPr>
          <p:cNvPr id="1029" name="VI Label"/>
          <p:cNvSpPr txBox="1"/>
          <p:nvPr/>
        </p:nvSpPr>
        <p:spPr>
          <a:xfrm>
            <a:off x="3154680" y="5600700"/>
            <a:ext cx="641350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수직계열화: 핵심 부품부터 완성체까지 직접 만드는 완성체도 있다</a:t>
            </a:r>
          </a:p>
        </p:txBody>
      </p:sp>
      <p:sp>
        <p:nvSpPr>
          <p:cNvPr id="1030" name="Money Note"/>
          <p:cNvSpPr txBox="1"/>
          <p:nvPr/>
        </p:nvSpPr>
        <p:spPr>
          <a:xfrm>
            <a:off x="932180" y="5905500"/>
            <a:ext cx="108635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돈(대금)은 제품과 반대 방향(수요처 → 소재)으로 흐른다.</a:t>
            </a:r>
          </a:p>
        </p:txBody>
      </p:sp>
      <p:sp>
        <p:nvSpPr>
          <p:cNvPr id="1031" name="Legend Note"/>
          <p:cNvSpPr txBox="1"/>
          <p:nvPr/>
        </p:nvSpPr>
        <p:spPr>
          <a:xfrm>
            <a:off x="932180" y="6083300"/>
            <a:ext cx="108635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C0392B"/>
                </a:solidFill>
                <a:latin typeface="Noto Sans KR"/>
                <a:ea typeface="Noto Sans KR"/>
                <a:cs typeface="Noto Sans KR"/>
              </a:rPr>
              <a:t>● </a:t>
            </a: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굵은 글씨</a:t>
            </a: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= 공급 병목 후보(부품, 소재)와 완성체가 넘어야 할 병목(가동시간, 성공률)</a:t>
            </a:r>
          </a:p>
        </p:txBody>
      </p:sp>
      <p:sp>
        <p:nvSpPr>
          <p:cNvPr id="1032" name="Source"/>
          <p:cNvSpPr txBox="1"/>
          <p:nvPr/>
        </p:nvSpPr>
        <p:spPr>
          <a:xfrm>
            <a:off x="932180" y="6261100"/>
            <a:ext cx="1086358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'Turning humanoid supply chain constraints into billion-dollar wins', 2026-04-17 / IEA, 'Rare Earth Elements: Pathways to secure and diversified supply chains', 2026-04-08</a:t>
            </a:r>
          </a:p>
        </p:txBody>
      </p:sp>
    </p:spTree>
    <p:extLst>
      <p:ext uri="{BB962C8B-B14F-4D97-AF65-F5344CB8AC3E}">
        <p14:creationId xmlns:p14="http://schemas.microsoft.com/office/powerpoint/2010/main" val="277786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밸류체인 한눈에: 누가 무엇을 만들고, 원가는 어디서 나오나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7-2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같은 부품이라도 전기차와 반도체가 이미 대량으로 만드는 것(모터, 배터리, 칩)과 공급 생태계가 작은 것(정밀 감속기, 스크류, 힘 센서)으로 갈린다.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AI 두뇌는 부품 사슬의 한 단계가 아니라 완성체 옆에서 따로 들어오는 공급자다.</a:t>
            </a:r>
          </a:p>
        </p:txBody>
      </p:sp>
      <p:sp>
        <p:nvSpPr>
          <p:cNvPr id="11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3장이 로봇 안의 신호 흐름이었다면, 여기는 부품과 돈의 흐름이다</a:t>
            </a:r>
          </a:p>
        </p:txBody>
      </p:sp>
      <p:cxnSp>
        <p:nvCxnSpPr>
          <p:cNvPr id="11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102" name="Left Panel"/>
          <p:cNvSpPr/>
          <p:nvPr/>
        </p:nvSpPr>
        <p:spPr>
          <a:xfrm>
            <a:off x="932180" y="2336800"/>
            <a:ext cx="5279390" cy="12573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03" name="Left Panel Text"/>
          <p:cNvSpPr txBox="1"/>
          <p:nvPr/>
        </p:nvSpPr>
        <p:spPr>
          <a:xfrm>
            <a:off x="1109980" y="2438400"/>
            <a:ext cx="4923790" cy="1054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3장의 기능 지도가 로봇 안에서 신호가 흐르는 순서(감지→판단→구동)였다면, 밸류체인은 부품과 돈이 흐르는 순서다.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제품은 소재에서 수요처로 흐르고, 돈은 반대 방향으로 흐른다.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두뇌(AI 모델, 학습용 GPU)는 완성체에 옆에서 공급되고, 현장에서 쌓인 데이터는 거꾸로 두뇌로 흘러간다.</a:t>
            </a:r>
          </a:p>
        </p:txBody>
      </p:sp>
      <p:sp>
        <p:nvSpPr>
          <p:cNvPr id="1104" name="Left Conclusion"/>
          <p:cNvSpPr txBox="1"/>
          <p:nvPr/>
        </p:nvSpPr>
        <p:spPr>
          <a:xfrm>
            <a:off x="932180" y="3695700"/>
            <a:ext cx="527939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같은 부품을 이제 '누가 만들어 누구에게 파나'로 다시 본다.</a:t>
            </a:r>
          </a:p>
        </p:txBody>
      </p:sp>
      <p:sp>
        <p:nvSpPr>
          <p:cNvPr id="1105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핵심 부품을 직접 만드는 완성체가 단계의 경계를 흐린다</a:t>
            </a:r>
          </a:p>
        </p:txBody>
      </p:sp>
      <p:cxnSp>
        <p:nvCxnSpPr>
          <p:cNvPr id="1106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107" name="Right Panel"/>
          <p:cNvSpPr/>
          <p:nvPr/>
        </p:nvSpPr>
        <p:spPr>
          <a:xfrm>
            <a:off x="6516370" y="2336800"/>
            <a:ext cx="5279390" cy="12573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08" name="Right Panel Text"/>
          <p:cNvSpPr txBox="1"/>
          <p:nvPr/>
        </p:nvSpPr>
        <p:spPr>
          <a:xfrm>
            <a:off x="6694170" y="2438400"/>
            <a:ext cx="4923790" cy="1054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완성체 기업들은 지금 핵심 부품을 직접 만들거나(수직계열화) 소수 협력사와 함께 설계한다.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유니트리는 모터, 감속기, 엔코더를 직접 설계하고 조립한다. 고사양 라이다나 로봇 손을 선택 장착하지 않으면, 외부에서 사 오는 부품은 총원가의 약 14~18%다.</a:t>
            </a:r>
          </a:p>
        </p:txBody>
      </p:sp>
      <p:sp>
        <p:nvSpPr>
          <p:cNvPr id="1109" name="Right Conclusion"/>
          <p:cNvSpPr txBox="1"/>
          <p:nvPr/>
        </p:nvSpPr>
        <p:spPr>
          <a:xfrm>
            <a:off x="6516370" y="3695700"/>
            <a:ext cx="527939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부품사에게 수직계열화는 고객을 잃는 위험이다.</a:t>
            </a:r>
          </a:p>
        </p:txBody>
      </p:sp>
      <p:sp>
        <p:nvSpPr>
          <p:cNvPr id="1110" name="Cost Heading"/>
          <p:cNvSpPr txBox="1"/>
          <p:nvPr/>
        </p:nvSpPr>
        <p:spPr>
          <a:xfrm>
            <a:off x="932180" y="41275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관절이 수십 개라 원가에서 가장 큰 덩어리는 구동계다</a:t>
            </a:r>
          </a:p>
        </p:txBody>
      </p:sp>
      <p:cxnSp>
        <p:nvCxnSpPr>
          <p:cNvPr id="1111" name="Cost Heading Rule"/>
          <p:cNvCxnSpPr/>
          <p:nvPr/>
        </p:nvCxnSpPr>
        <p:spPr>
          <a:xfrm>
            <a:off x="932180" y="43815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112" name="Cost Unit"/>
          <p:cNvSpPr txBox="1"/>
          <p:nvPr/>
        </p:nvSpPr>
        <p:spPr>
          <a:xfrm>
            <a:off x="932180" y="44831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(부품원가 중 비중, %)</a:t>
            </a:r>
          </a:p>
        </p:txBody>
      </p:sp>
      <p:sp>
        <p:nvSpPr>
          <p:cNvPr id="1113" name="Cost Per Unit"/>
          <p:cNvSpPr txBox="1"/>
          <p:nvPr/>
        </p:nvSpPr>
        <p:spPr>
          <a:xfrm>
            <a:off x="3671570" y="44831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대당 부품원가 3만~15만 달러</a:t>
            </a:r>
          </a:p>
        </p:txBody>
      </p:sp>
      <p:cxnSp>
        <p:nvCxnSpPr>
          <p:cNvPr id="1114" name="Grid 0"/>
          <p:cNvCxnSpPr/>
          <p:nvPr/>
        </p:nvCxnSpPr>
        <p:spPr>
          <a:xfrm>
            <a:off x="2176780" y="4686300"/>
            <a:ext cx="0" cy="1016000"/>
          </a:xfrm>
          <a:prstGeom prst="line">
            <a:avLst/>
          </a:prstGeom>
          <a:ln w="6350">
            <a:solidFill>
              <a:srgbClr val="DDE1E7"/>
            </a:solidFill>
          </a:ln>
        </p:spPr>
      </p:cxnSp>
      <p:sp>
        <p:nvSpPr>
          <p:cNvPr id="1115" name="Tick 0"/>
          <p:cNvSpPr txBox="1"/>
          <p:nvPr/>
        </p:nvSpPr>
        <p:spPr>
          <a:xfrm>
            <a:off x="1986280" y="5740400"/>
            <a:ext cx="3810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cxnSp>
        <p:nvCxnSpPr>
          <p:cNvPr id="1116" name="Grid 20"/>
          <p:cNvCxnSpPr/>
          <p:nvPr/>
        </p:nvCxnSpPr>
        <p:spPr>
          <a:xfrm>
            <a:off x="3234690" y="4686300"/>
            <a:ext cx="0" cy="1016000"/>
          </a:xfrm>
          <a:prstGeom prst="line">
            <a:avLst/>
          </a:prstGeom>
          <a:ln w="6350">
            <a:solidFill>
              <a:srgbClr val="DDE1E7"/>
            </a:solidFill>
          </a:ln>
        </p:spPr>
      </p:cxnSp>
      <p:sp>
        <p:nvSpPr>
          <p:cNvPr id="1117" name="Tick 20"/>
          <p:cNvSpPr txBox="1"/>
          <p:nvPr/>
        </p:nvSpPr>
        <p:spPr>
          <a:xfrm>
            <a:off x="3044190" y="5740400"/>
            <a:ext cx="3810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cxnSp>
        <p:nvCxnSpPr>
          <p:cNvPr id="1118" name="Grid 40"/>
          <p:cNvCxnSpPr/>
          <p:nvPr/>
        </p:nvCxnSpPr>
        <p:spPr>
          <a:xfrm>
            <a:off x="4293870" y="4686300"/>
            <a:ext cx="0" cy="1016000"/>
          </a:xfrm>
          <a:prstGeom prst="line">
            <a:avLst/>
          </a:prstGeom>
          <a:ln w="6350">
            <a:solidFill>
              <a:srgbClr val="DDE1E7"/>
            </a:solidFill>
          </a:ln>
        </p:spPr>
      </p:cxnSp>
      <p:sp>
        <p:nvSpPr>
          <p:cNvPr id="1119" name="Tick 40"/>
          <p:cNvSpPr txBox="1"/>
          <p:nvPr/>
        </p:nvSpPr>
        <p:spPr>
          <a:xfrm>
            <a:off x="4103370" y="5740400"/>
            <a:ext cx="3810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40</a:t>
            </a:r>
          </a:p>
        </p:txBody>
      </p:sp>
      <p:cxnSp>
        <p:nvCxnSpPr>
          <p:cNvPr id="1120" name="Grid 60"/>
          <p:cNvCxnSpPr/>
          <p:nvPr/>
        </p:nvCxnSpPr>
        <p:spPr>
          <a:xfrm>
            <a:off x="5351780" y="4686300"/>
            <a:ext cx="0" cy="1016000"/>
          </a:xfrm>
          <a:prstGeom prst="line">
            <a:avLst/>
          </a:prstGeom>
          <a:ln w="6350">
            <a:solidFill>
              <a:srgbClr val="DDE1E7"/>
            </a:solidFill>
          </a:ln>
        </p:spPr>
      </p:cxnSp>
      <p:sp>
        <p:nvSpPr>
          <p:cNvPr id="1121" name="Tick 60"/>
          <p:cNvSpPr txBox="1"/>
          <p:nvPr/>
        </p:nvSpPr>
        <p:spPr>
          <a:xfrm>
            <a:off x="5161280" y="5740400"/>
            <a:ext cx="3810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60</a:t>
            </a:r>
          </a:p>
        </p:txBody>
      </p:sp>
      <p:sp>
        <p:nvSpPr>
          <p:cNvPr id="1122" name="Cost 1 Name"/>
          <p:cNvSpPr txBox="1"/>
          <p:nvPr/>
        </p:nvSpPr>
        <p:spPr>
          <a:xfrm>
            <a:off x="932180" y="46990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구동계</a:t>
            </a:r>
          </a:p>
        </p:txBody>
      </p:sp>
      <p:sp>
        <p:nvSpPr>
          <p:cNvPr id="1123" name="Cost Bar 1"/>
          <p:cNvSpPr/>
          <p:nvPr/>
        </p:nvSpPr>
        <p:spPr>
          <a:xfrm>
            <a:off x="4293870" y="4724400"/>
            <a:ext cx="105791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24" name="Cost 1 Value"/>
          <p:cNvSpPr txBox="1"/>
          <p:nvPr/>
        </p:nvSpPr>
        <p:spPr>
          <a:xfrm>
            <a:off x="5402580" y="46990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40~60%</a:t>
            </a:r>
          </a:p>
        </p:txBody>
      </p:sp>
      <p:sp>
        <p:nvSpPr>
          <p:cNvPr id="1125" name="Cost 2 Name"/>
          <p:cNvSpPr txBox="1"/>
          <p:nvPr/>
        </p:nvSpPr>
        <p:spPr>
          <a:xfrm>
            <a:off x="932180" y="49022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감지</a:t>
            </a:r>
          </a:p>
        </p:txBody>
      </p:sp>
      <p:sp>
        <p:nvSpPr>
          <p:cNvPr id="1126" name="Cost Bar 2"/>
          <p:cNvSpPr/>
          <p:nvPr/>
        </p:nvSpPr>
        <p:spPr>
          <a:xfrm>
            <a:off x="2706370" y="4927600"/>
            <a:ext cx="52959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27" name="Cost 2 Value"/>
          <p:cNvSpPr txBox="1"/>
          <p:nvPr/>
        </p:nvSpPr>
        <p:spPr>
          <a:xfrm>
            <a:off x="3286760" y="49022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10~20%</a:t>
            </a:r>
          </a:p>
        </p:txBody>
      </p:sp>
      <p:sp>
        <p:nvSpPr>
          <p:cNvPr id="1128" name="Cost 3 Name"/>
          <p:cNvSpPr txBox="1"/>
          <p:nvPr/>
        </p:nvSpPr>
        <p:spPr>
          <a:xfrm>
            <a:off x="932180" y="51054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연산·제어</a:t>
            </a:r>
          </a:p>
        </p:txBody>
      </p:sp>
      <p:sp>
        <p:nvSpPr>
          <p:cNvPr id="1129" name="Cost Bar 3"/>
          <p:cNvSpPr/>
          <p:nvPr/>
        </p:nvSpPr>
        <p:spPr>
          <a:xfrm>
            <a:off x="2706370" y="5130800"/>
            <a:ext cx="26416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30" name="Cost 3 Value"/>
          <p:cNvSpPr txBox="1"/>
          <p:nvPr/>
        </p:nvSpPr>
        <p:spPr>
          <a:xfrm>
            <a:off x="3021330" y="51054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10~15%</a:t>
            </a:r>
          </a:p>
        </p:txBody>
      </p:sp>
      <p:sp>
        <p:nvSpPr>
          <p:cNvPr id="1131" name="Cost 4 Name"/>
          <p:cNvSpPr txBox="1"/>
          <p:nvPr/>
        </p:nvSpPr>
        <p:spPr>
          <a:xfrm>
            <a:off x="932180" y="53086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구조물</a:t>
            </a:r>
          </a:p>
        </p:txBody>
      </p:sp>
      <p:sp>
        <p:nvSpPr>
          <p:cNvPr id="1132" name="Cost Bar 4"/>
          <p:cNvSpPr/>
          <p:nvPr/>
        </p:nvSpPr>
        <p:spPr>
          <a:xfrm>
            <a:off x="2440940" y="5334000"/>
            <a:ext cx="26416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33" name="Cost 4 Value"/>
          <p:cNvSpPr txBox="1"/>
          <p:nvPr/>
        </p:nvSpPr>
        <p:spPr>
          <a:xfrm>
            <a:off x="2755900" y="53086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5~10%</a:t>
            </a:r>
          </a:p>
        </p:txBody>
      </p:sp>
      <p:sp>
        <p:nvSpPr>
          <p:cNvPr id="1134" name="Cost 5 Name"/>
          <p:cNvSpPr txBox="1"/>
          <p:nvPr/>
        </p:nvSpPr>
        <p:spPr>
          <a:xfrm>
            <a:off x="932180" y="5511800"/>
            <a:ext cx="1143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배터리</a:t>
            </a:r>
          </a:p>
        </p:txBody>
      </p:sp>
      <p:sp>
        <p:nvSpPr>
          <p:cNvPr id="1135" name="Cost Bar 5"/>
          <p:cNvSpPr/>
          <p:nvPr/>
        </p:nvSpPr>
        <p:spPr>
          <a:xfrm>
            <a:off x="2440940" y="5537200"/>
            <a:ext cx="26416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136" name="Cost 5 Value"/>
          <p:cNvSpPr txBox="1"/>
          <p:nvPr/>
        </p:nvSpPr>
        <p:spPr>
          <a:xfrm>
            <a:off x="2755900" y="5511800"/>
            <a:ext cx="635000" cy="177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5~10%</a:t>
            </a:r>
          </a:p>
        </p:txBody>
      </p:sp>
      <p:sp>
        <p:nvSpPr>
          <p:cNvPr id="1137" name="Supply Heading"/>
          <p:cNvSpPr txBox="1"/>
          <p:nvPr/>
        </p:nvSpPr>
        <p:spPr>
          <a:xfrm>
            <a:off x="6516370" y="41275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같은 부품이라도 값이 내려갈 곳과 먼저 모자랄 곳이 갈린다</a:t>
            </a:r>
          </a:p>
        </p:txBody>
      </p:sp>
      <p:cxnSp>
        <p:nvCxnSpPr>
          <p:cNvPr id="1138" name="Supply Heading Rule"/>
          <p:cNvCxnSpPr/>
          <p:nvPr/>
        </p:nvCxnSpPr>
        <p:spPr>
          <a:xfrm>
            <a:off x="6516370" y="43815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139" name="Supply Table"/>
          <p:cNvGraphicFramePr>
            <a:graphicFrameLocks noGrp="1"/>
          </p:cNvGraphicFramePr>
          <p:nvPr/>
        </p:nvGraphicFramePr>
        <p:xfrm>
          <a:off x="6516370" y="4483100"/>
          <a:ext cx="5279390" cy="112566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5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 대량 생산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모터, 배터리, 칩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전기차와 반도체 공급망이 이미 대량 생산해, 물량이 늘 때 원가가 더 빨리 내려갈 수 있다.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공급사가 적음</a:t>
                      </a:r>
                    </a:p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정밀 감속기, 롤러 스크류, 힘 센서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소수 공급사에 몰려 있고 새로 늘리기 어렵다. 물량이 늘 때 먼저 모자랄 부품이다.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40" name="Conclusion"/>
          <p:cNvSpPr txBox="1"/>
          <p:nvPr/>
        </p:nvSpPr>
        <p:spPr>
          <a:xfrm>
            <a:off x="932180" y="59817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원가가 크면서 공급도 좁은 부품은 감속기와 스크류다. 누가 가격을 정하는지는 8장에서 본다.</a:t>
            </a:r>
          </a:p>
        </p:txBody>
      </p:sp>
      <p:sp>
        <p:nvSpPr>
          <p:cNvPr id="1141" name="Source"/>
          <p:cNvSpPr txBox="1"/>
          <p:nvPr/>
        </p:nvSpPr>
        <p:spPr>
          <a:xfrm>
            <a:off x="932180" y="62357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'Turning humanoid supply chain constraints into billion-dollar wins', 2026-04-17 / 宇树科技 1차 심사 문의 회신, 상하이증권거래소 공시, 2026-03-20</a:t>
            </a:r>
          </a:p>
        </p:txBody>
      </p:sp>
    </p:spTree>
    <p:extLst>
      <p:ext uri="{BB962C8B-B14F-4D97-AF65-F5344CB8AC3E}">
        <p14:creationId xmlns:p14="http://schemas.microsoft.com/office/powerpoint/2010/main" val="503925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부품 부문 해설: 누가 가격을 정하고, 수요는 얼마나 먼저 크나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8-1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원가 비중이 크고 만들 수 있는 회사가 적은 부품(하모닉 감속기, 롤러 스크류, 6축 힘 센서, 희토류 자석)이 협상력 후보다.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다만 물량이 늘면서 단가는 이미 내려가고 있어, '부족하다'가 곧 '비싸게 판다'는 아니다.</a:t>
            </a:r>
          </a:p>
        </p:txBody>
      </p:sp>
      <p:sp>
        <p:nvSpPr>
          <p:cNvPr id="1200" name="Matrix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많이 들어가면서 아무나 못 만드는 부품에 가격을 정할 힘이 생긴다</a:t>
            </a:r>
          </a:p>
        </p:txBody>
      </p:sp>
      <p:cxnSp>
        <p:nvCxnSpPr>
          <p:cNvPr id="1201" name="Matrix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202" name="Matrix Table"/>
          <p:cNvGraphicFramePr>
            <a:graphicFrameLocks noGrp="1"/>
          </p:cNvGraphicFramePr>
          <p:nvPr/>
        </p:nvGraphicFramePr>
        <p:xfrm>
          <a:off x="932180" y="2336800"/>
          <a:ext cx="5279390" cy="1513078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sz="10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비중 큼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원가 비중 작음~중간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병목 위험 높음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C0392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● </a:t>
                      </a: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하모닉 감속기, 롤러 스크류</a:t>
                      </a:r>
                    </a:p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가격을 정할 후보. 단, 고객이 직접 만들 위험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6축 힘 센서, 촉각 센서, 희토류 자석</a:t>
                      </a:r>
                    </a:p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소수 공급, 표준 미정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병목 위험 낮음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모터</a:t>
                      </a:r>
                    </a:p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대량 생산 중, 가격 경쟁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카메라, 배터리 셀, 구조물</a:t>
                      </a:r>
                    </a:p>
                    <a:p>
                      <a:pPr marL="0" indent="0" algn="l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범용품</a:t>
                      </a: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1E7"/>
                      </a:solidFill>
                      <a:prstDash val="solid"/>
                    </a:lnL>
                    <a:lnR w="9525" cap="flat" cmpd="sng" algn="ctr">
                      <a:solidFill>
                        <a:srgbClr val="DDE1E7"/>
                      </a:solidFill>
                      <a:prstDash val="solid"/>
                    </a:lnR>
                    <a:lnT w="9525" cap="flat" cmpd="sng" algn="ctr">
                      <a:solidFill>
                        <a:srgbClr val="DDE1E7"/>
                      </a:solidFill>
                      <a:prstDash val="solid"/>
                    </a:lnT>
                    <a:lnB w="9525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03" name="Vendor Note"/>
          <p:cNvSpPr txBox="1"/>
          <p:nvPr/>
        </p:nvSpPr>
        <p:spPr>
          <a:xfrm>
            <a:off x="932180" y="39116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하모닉 감속기는 Harmonic Drive, Nabtesco, 녹적해파 등 소수 업체에, 6축 힘 센서는 ATI, OnRobot 등 소수 로봇 전문 업체에 몰려 있다.</a:t>
            </a:r>
          </a:p>
        </p:txBody>
      </p:sp>
      <p:sp>
        <p:nvSpPr>
          <p:cNvPr id="1204" name="Magne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가장 뚜렷한 집중은 희토류 자석이다</a:t>
            </a:r>
          </a:p>
        </p:txBody>
      </p:sp>
      <p:cxnSp>
        <p:nvCxnSpPr>
          <p:cNvPr id="1205" name="Magne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206" name="Magnet Unit"/>
          <p:cNvSpPr txBox="1"/>
          <p:nvPr/>
        </p:nvSpPr>
        <p:spPr>
          <a:xfrm>
            <a:off x="6516370" y="23368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(중국 비중, %)</a:t>
            </a:r>
          </a:p>
        </p:txBody>
      </p:sp>
      <p:sp>
        <p:nvSpPr>
          <p:cNvPr id="1207" name="Magnet 1 Name"/>
          <p:cNvSpPr txBox="1"/>
          <p:nvPr/>
        </p:nvSpPr>
        <p:spPr>
          <a:xfrm>
            <a:off x="6516370" y="2514600"/>
            <a:ext cx="1498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희토류 채굴</a:t>
            </a:r>
          </a:p>
        </p:txBody>
      </p:sp>
      <p:sp>
        <p:nvSpPr>
          <p:cNvPr id="1208" name="Magnet 1 Track"/>
          <p:cNvSpPr/>
          <p:nvPr/>
        </p:nvSpPr>
        <p:spPr>
          <a:xfrm>
            <a:off x="8116570" y="2514600"/>
            <a:ext cx="3048000" cy="203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09" name="Magnet 1 Bar"/>
          <p:cNvSpPr/>
          <p:nvPr/>
        </p:nvSpPr>
        <p:spPr>
          <a:xfrm>
            <a:off x="8116570" y="2514600"/>
            <a:ext cx="2103120" cy="203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0" name="Magnet 1 Value"/>
          <p:cNvSpPr txBox="1"/>
          <p:nvPr/>
        </p:nvSpPr>
        <p:spPr>
          <a:xfrm>
            <a:off x="11240770" y="25146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약 69%</a:t>
            </a:r>
          </a:p>
        </p:txBody>
      </p:sp>
      <p:sp>
        <p:nvSpPr>
          <p:cNvPr id="1211" name="Magnet 2 Name"/>
          <p:cNvSpPr txBox="1"/>
          <p:nvPr/>
        </p:nvSpPr>
        <p:spPr>
          <a:xfrm>
            <a:off x="6516370" y="2819400"/>
            <a:ext cx="1498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자석 가공과 정제</a:t>
            </a:r>
          </a:p>
        </p:txBody>
      </p:sp>
      <p:sp>
        <p:nvSpPr>
          <p:cNvPr id="1212" name="Magnet 2 Track"/>
          <p:cNvSpPr/>
          <p:nvPr/>
        </p:nvSpPr>
        <p:spPr>
          <a:xfrm>
            <a:off x="8116570" y="2819400"/>
            <a:ext cx="3048000" cy="203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3" name="Magnet 2 Bar"/>
          <p:cNvSpPr/>
          <p:nvPr/>
        </p:nvSpPr>
        <p:spPr>
          <a:xfrm>
            <a:off x="8116570" y="2819400"/>
            <a:ext cx="2743200" cy="203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4" name="Magnet 2 Value"/>
          <p:cNvSpPr txBox="1"/>
          <p:nvPr/>
        </p:nvSpPr>
        <p:spPr>
          <a:xfrm>
            <a:off x="11240770" y="28194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약 90%</a:t>
            </a:r>
          </a:p>
        </p:txBody>
      </p:sp>
      <p:sp>
        <p:nvSpPr>
          <p:cNvPr id="1215" name="Magnet 3 Name"/>
          <p:cNvSpPr txBox="1"/>
          <p:nvPr/>
        </p:nvSpPr>
        <p:spPr>
          <a:xfrm>
            <a:off x="6516370" y="3124200"/>
            <a:ext cx="14986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소결 자석 생산(2024년)</a:t>
            </a:r>
          </a:p>
        </p:txBody>
      </p:sp>
      <p:sp>
        <p:nvSpPr>
          <p:cNvPr id="1216" name="Magnet 3 Track"/>
          <p:cNvSpPr/>
          <p:nvPr/>
        </p:nvSpPr>
        <p:spPr>
          <a:xfrm>
            <a:off x="8116570" y="3124200"/>
            <a:ext cx="3048000" cy="203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7" name="Magnet 3 Bar"/>
          <p:cNvSpPr/>
          <p:nvPr/>
        </p:nvSpPr>
        <p:spPr>
          <a:xfrm>
            <a:off x="8116570" y="3124200"/>
            <a:ext cx="2865120" cy="2032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18" name="Magnet 3 Value"/>
          <p:cNvSpPr txBox="1"/>
          <p:nvPr/>
        </p:nvSpPr>
        <p:spPr>
          <a:xfrm>
            <a:off x="11240770" y="31242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94%</a:t>
            </a:r>
          </a:p>
        </p:txBody>
      </p:sp>
      <p:sp>
        <p:nvSpPr>
          <p:cNvPr id="1219" name="Magnet Panel"/>
          <p:cNvSpPr/>
          <p:nvPr/>
        </p:nvSpPr>
        <p:spPr>
          <a:xfrm>
            <a:off x="6516370" y="3556000"/>
            <a:ext cx="5279390" cy="6858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220" name="Magnet Panel Text"/>
          <p:cNvSpPr txBox="1"/>
          <p:nvPr/>
        </p:nvSpPr>
        <p:spPr>
          <a:xfrm>
            <a:off x="6694170" y="3683000"/>
            <a:ext cx="4923790" cy="431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고출력 관절 모터는 네오디뮴 희토류 자석에 기댄다.</a:t>
            </a:r>
          </a:p>
          <a:p>
            <a:pPr marL="127000" indent="-127000" algn="l">
              <a:lnSpc>
                <a:spcPts val="15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ko-KR" altLang="en-US" sz="10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일론 머스크는 자석 공급 제약이 옵티머스 생산에 영향을 줬다고 밝혔다.</a:t>
            </a:r>
          </a:p>
        </p:txBody>
      </p:sp>
      <p:sp>
        <p:nvSpPr>
          <p:cNvPr id="1221" name="Price Heading"/>
          <p:cNvSpPr txBox="1"/>
          <p:nvPr/>
        </p:nvSpPr>
        <p:spPr>
          <a:xfrm>
            <a:off x="932180" y="44958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다만 부족하다고 곧 비싸게 파는 것은 아니다</a:t>
            </a:r>
          </a:p>
        </p:txBody>
      </p:sp>
      <p:cxnSp>
        <p:nvCxnSpPr>
          <p:cNvPr id="1222" name="Price Heading Rule"/>
          <p:cNvCxnSpPr/>
          <p:nvPr/>
        </p:nvCxnSpPr>
        <p:spPr>
          <a:xfrm>
            <a:off x="932180" y="47498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223" name="Price Table"/>
          <p:cNvGraphicFramePr>
            <a:graphicFrameLocks noGrp="1"/>
          </p:cNvGraphicFramePr>
          <p:nvPr/>
        </p:nvGraphicFramePr>
        <p:xfrm>
          <a:off x="932180" y="4851400"/>
          <a:ext cx="10863580" cy="65113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단가 하락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녹적해파의 감속기 평균 판매단가는 2022년 약 1,618위안에서 2025년 약 1,121위안으로 31% 내렸고, 판매량은 26만 개에서 43만 개로 늘었다(금속부품 매출 포함, 우리 계산).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내재화 위험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완성체가 핵심 관절을 직접 설계하는 흐름은 물량이 예측 가능해질 때까지 이어질 것이다.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4" name="Conclusion"/>
          <p:cNvSpPr txBox="1"/>
          <p:nvPr/>
        </p:nvSpPr>
        <p:spPr>
          <a:xfrm>
            <a:off x="932180" y="59817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우리는 부품사를 볼 때 '얼마나 많이 들어가나'보다 '고객이 쉽게 직접 만들 수 없는가'와 '표준 설계에 채택됐는가'를 봐야 한다고 본다.</a:t>
            </a:r>
          </a:p>
        </p:txBody>
      </p:sp>
      <p:sp>
        <p:nvSpPr>
          <p:cNvPr id="1225" name="Source"/>
          <p:cNvSpPr txBox="1"/>
          <p:nvPr/>
        </p:nvSpPr>
        <p:spPr>
          <a:xfrm>
            <a:off x="932180" y="62357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McKinsey, 'Turning humanoid supply chain constraints into billion-dollar wins', 2026-04-17 / IEA, 'Rare Earth Elements', 2026-04-08 / 苏州绿的谐波 연차보고서(2022~2025)</a:t>
            </a:r>
          </a:p>
        </p:txBody>
      </p:sp>
    </p:spTree>
    <p:extLst>
      <p:ext uri="{BB962C8B-B14F-4D97-AF65-F5344CB8AC3E}">
        <p14:creationId xmlns:p14="http://schemas.microsoft.com/office/powerpoint/2010/main" val="4101182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부품 부문 해설: 누가 가격을 정하고, 수요는 얼마나 먼저 크나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8-2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원가 비중이 크고 만들 수 있는 회사가 적은 부품(하모닉 감속기, 롤러 스크류, 6축 힘 센서, 희토류 자석)이 협상력 후보다.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다만 물량이 늘면서 단가는 이미 내려가고 있어, '부족하다'가 곧 '비싸게 판다'는 아니다.</a:t>
            </a:r>
          </a:p>
        </p:txBody>
      </p:sp>
      <p:sp>
        <p:nvSpPr>
          <p:cNvPr id="13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부품 수요는 대수에 대당 개수가 한 번 더 곱해진다</a:t>
            </a:r>
          </a:p>
        </p:txBody>
      </p:sp>
      <p:cxnSp>
        <p:nvCxnSpPr>
          <p:cNvPr id="13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302" name="Formula"/>
          <p:cNvSpPr txBox="1"/>
          <p:nvPr/>
        </p:nvSpPr>
        <p:spPr>
          <a:xfrm>
            <a:off x="932180" y="23368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부품 시장 = 출하 대수 × 대당 탑재 수량 × 단가</a:t>
            </a:r>
          </a:p>
        </p:txBody>
      </p:sp>
      <p:sp>
        <p:nvSpPr>
          <p:cNvPr id="1303" name="Left Unit"/>
          <p:cNvSpPr txBox="1"/>
          <p:nvPr/>
        </p:nvSpPr>
        <p:spPr>
          <a:xfrm>
            <a:off x="932180" y="2616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(연간 관절 부품 수, 개)</a:t>
            </a:r>
          </a:p>
        </p:txBody>
      </p:sp>
      <p:sp>
        <p:nvSpPr>
          <p:cNvPr id="1304" name="Left 1 Name"/>
          <p:cNvSpPr txBox="1"/>
          <p:nvPr/>
        </p:nvSpPr>
        <p:spPr>
          <a:xfrm>
            <a:off x="932180" y="28194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휴머노이드 연 50만 대일 때</a:t>
            </a:r>
          </a:p>
        </p:txBody>
      </p:sp>
      <p:sp>
        <p:nvSpPr>
          <p:cNvPr id="1305" name="Left 1 Dark"/>
          <p:cNvSpPr/>
          <p:nvPr/>
        </p:nvSpPr>
        <p:spPr>
          <a:xfrm>
            <a:off x="2684780" y="2819400"/>
            <a:ext cx="1428750" cy="254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06" name="Left 1 Light"/>
          <p:cNvSpPr/>
          <p:nvPr/>
        </p:nvSpPr>
        <p:spPr>
          <a:xfrm>
            <a:off x="4113530" y="2819400"/>
            <a:ext cx="571500" cy="254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07" name="Left 1 Value"/>
          <p:cNvSpPr txBox="1"/>
          <p:nvPr/>
        </p:nvSpPr>
        <p:spPr>
          <a:xfrm>
            <a:off x="4735830" y="2819400"/>
            <a:ext cx="1397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1,250만~1,750만 개</a:t>
            </a:r>
          </a:p>
        </p:txBody>
      </p:sp>
      <p:sp>
        <p:nvSpPr>
          <p:cNvPr id="1308" name="Left 2 Name"/>
          <p:cNvSpPr txBox="1"/>
          <p:nvPr/>
        </p:nvSpPr>
        <p:spPr>
          <a:xfrm>
            <a:off x="932180" y="3225800"/>
            <a:ext cx="1651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2025년 산업용 로봇 설치분</a:t>
            </a:r>
          </a:p>
        </p:txBody>
      </p:sp>
      <p:sp>
        <p:nvSpPr>
          <p:cNvPr id="1309" name="Left 2 Dark"/>
          <p:cNvSpPr/>
          <p:nvPr/>
        </p:nvSpPr>
        <p:spPr>
          <a:xfrm>
            <a:off x="2684780" y="3225800"/>
            <a:ext cx="274320" cy="254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10" name="Left 2 Light"/>
          <p:cNvSpPr/>
          <p:nvPr/>
        </p:nvSpPr>
        <p:spPr>
          <a:xfrm>
            <a:off x="2959100" y="3225800"/>
            <a:ext cx="137160" cy="254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11" name="Left 2 Value"/>
          <p:cNvSpPr txBox="1"/>
          <p:nvPr/>
        </p:nvSpPr>
        <p:spPr>
          <a:xfrm>
            <a:off x="3147060" y="3225800"/>
            <a:ext cx="1397000" cy="25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240만~360만 개</a:t>
            </a:r>
          </a:p>
        </p:txBody>
      </p:sp>
      <p:cxnSp>
        <p:nvCxnSpPr>
          <p:cNvPr id="1312" name="Left Axis"/>
          <p:cNvCxnSpPr/>
          <p:nvPr/>
        </p:nvCxnSpPr>
        <p:spPr>
          <a:xfrm>
            <a:off x="2684780" y="3581400"/>
            <a:ext cx="22860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1313" name="Left Tick 0"/>
          <p:cNvSpPr txBox="1"/>
          <p:nvPr/>
        </p:nvSpPr>
        <p:spPr>
          <a:xfrm>
            <a:off x="24561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314" name="Left Tick 500만"/>
          <p:cNvSpPr txBox="1"/>
          <p:nvPr/>
        </p:nvSpPr>
        <p:spPr>
          <a:xfrm>
            <a:off x="30276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500만</a:t>
            </a:r>
          </a:p>
        </p:txBody>
      </p:sp>
      <p:sp>
        <p:nvSpPr>
          <p:cNvPr id="1315" name="Left Tick 1,000만"/>
          <p:cNvSpPr txBox="1"/>
          <p:nvPr/>
        </p:nvSpPr>
        <p:spPr>
          <a:xfrm>
            <a:off x="35991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1,000만</a:t>
            </a:r>
          </a:p>
        </p:txBody>
      </p:sp>
      <p:sp>
        <p:nvSpPr>
          <p:cNvPr id="1316" name="Left Tick 1,500만"/>
          <p:cNvSpPr txBox="1"/>
          <p:nvPr/>
        </p:nvSpPr>
        <p:spPr>
          <a:xfrm>
            <a:off x="41706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1,500만</a:t>
            </a:r>
          </a:p>
        </p:txBody>
      </p:sp>
      <p:sp>
        <p:nvSpPr>
          <p:cNvPr id="1317" name="Left Tick 2,000만"/>
          <p:cNvSpPr txBox="1"/>
          <p:nvPr/>
        </p:nvSpPr>
        <p:spPr>
          <a:xfrm>
            <a:off x="4742180" y="36195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2,000만</a:t>
            </a:r>
          </a:p>
        </p:txBody>
      </p:sp>
      <p:sp>
        <p:nvSpPr>
          <p:cNvPr id="1318" name="Left Note"/>
          <p:cNvSpPr txBox="1"/>
          <p:nvPr/>
        </p:nvSpPr>
        <p:spPr>
          <a:xfrm>
            <a:off x="932180" y="38608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휴머노이드 한 대에는 회전, 직선 액추에이터가 25~35개 들어간다(테슬라 옵티머스 초기 설계는 몸체만 28개). 산업용 로봇은 2025년 설치 60만 대 이상에 대당 관절 4~6개를 곱한 우리 가정이다.</a:t>
            </a:r>
          </a:p>
        </p:txBody>
      </p:sp>
      <p:sp>
        <p:nvSpPr>
          <p:cNvPr id="1319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2035년 부품 시장은 액추에이터만 최대 790억 달러로 추정된다</a:t>
            </a:r>
          </a:p>
        </p:txBody>
      </p:sp>
      <p:cxnSp>
        <p:nvCxnSpPr>
          <p:cNvPr id="1320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321" name="Right Unit"/>
          <p:cNvSpPr txBox="1"/>
          <p:nvPr/>
        </p:nvSpPr>
        <p:spPr>
          <a:xfrm>
            <a:off x="6516370" y="23368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(2035년 시장 추정, 달러)</a:t>
            </a:r>
          </a:p>
        </p:txBody>
      </p:sp>
      <p:sp>
        <p:nvSpPr>
          <p:cNvPr id="1322" name="Right 1 Name"/>
          <p:cNvSpPr txBox="1"/>
          <p:nvPr/>
        </p:nvSpPr>
        <p:spPr>
          <a:xfrm>
            <a:off x="6516370" y="25781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몸체 액추에이터</a:t>
            </a:r>
          </a:p>
        </p:txBody>
      </p:sp>
      <p:sp>
        <p:nvSpPr>
          <p:cNvPr id="1323" name="Right 1 Dark"/>
          <p:cNvSpPr/>
          <p:nvPr/>
        </p:nvSpPr>
        <p:spPr>
          <a:xfrm>
            <a:off x="8014970" y="2578100"/>
            <a:ext cx="908050" cy="279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24" name="Right 1 Light"/>
          <p:cNvSpPr/>
          <p:nvPr/>
        </p:nvSpPr>
        <p:spPr>
          <a:xfrm>
            <a:off x="8923020" y="2578100"/>
            <a:ext cx="1851660" cy="2794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25" name="Right 1 Value"/>
          <p:cNvSpPr txBox="1"/>
          <p:nvPr/>
        </p:nvSpPr>
        <p:spPr>
          <a:xfrm>
            <a:off x="10825480" y="2578100"/>
            <a:ext cx="914400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260억~790억</a:t>
            </a:r>
          </a:p>
        </p:txBody>
      </p:sp>
      <p:sp>
        <p:nvSpPr>
          <p:cNvPr id="1326" name="Right 2 Name"/>
          <p:cNvSpPr txBox="1"/>
          <p:nvPr/>
        </p:nvSpPr>
        <p:spPr>
          <a:xfrm>
            <a:off x="6516370" y="3035300"/>
            <a:ext cx="1397000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손 액추에이터</a:t>
            </a:r>
          </a:p>
        </p:txBody>
      </p:sp>
      <p:sp>
        <p:nvSpPr>
          <p:cNvPr id="1327" name="Right 2 Dark"/>
          <p:cNvSpPr/>
          <p:nvPr/>
        </p:nvSpPr>
        <p:spPr>
          <a:xfrm>
            <a:off x="8014970" y="3035300"/>
            <a:ext cx="314325" cy="2794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28" name="Right 2 Light"/>
          <p:cNvSpPr/>
          <p:nvPr/>
        </p:nvSpPr>
        <p:spPr>
          <a:xfrm>
            <a:off x="8329295" y="3035300"/>
            <a:ext cx="593725" cy="2794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329" name="Right 2 Value"/>
          <p:cNvSpPr txBox="1"/>
          <p:nvPr/>
        </p:nvSpPr>
        <p:spPr>
          <a:xfrm>
            <a:off x="8973820" y="3035300"/>
            <a:ext cx="914400" cy="279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90억~260억</a:t>
            </a:r>
          </a:p>
        </p:txBody>
      </p:sp>
      <p:cxnSp>
        <p:nvCxnSpPr>
          <p:cNvPr id="1330" name="Right Axis"/>
          <p:cNvCxnSpPr/>
          <p:nvPr/>
        </p:nvCxnSpPr>
        <p:spPr>
          <a:xfrm>
            <a:off x="8014970" y="3479800"/>
            <a:ext cx="2794000" cy="0"/>
          </a:xfrm>
          <a:prstGeom prst="line">
            <a:avLst/>
          </a:prstGeom>
          <a:ln w="9525">
            <a:solidFill>
              <a:srgbClr val="DDE1E7"/>
            </a:solidFill>
          </a:ln>
        </p:spPr>
      </p:cxnSp>
      <p:sp>
        <p:nvSpPr>
          <p:cNvPr id="1331" name="Right Tick 0"/>
          <p:cNvSpPr txBox="1"/>
          <p:nvPr/>
        </p:nvSpPr>
        <p:spPr>
          <a:xfrm>
            <a:off x="77863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332" name="Right Tick 200억"/>
          <p:cNvSpPr txBox="1"/>
          <p:nvPr/>
        </p:nvSpPr>
        <p:spPr>
          <a:xfrm>
            <a:off x="84848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200억</a:t>
            </a:r>
          </a:p>
        </p:txBody>
      </p:sp>
      <p:sp>
        <p:nvSpPr>
          <p:cNvPr id="1333" name="Right Tick 400억"/>
          <p:cNvSpPr txBox="1"/>
          <p:nvPr/>
        </p:nvSpPr>
        <p:spPr>
          <a:xfrm>
            <a:off x="91833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400억</a:t>
            </a:r>
          </a:p>
        </p:txBody>
      </p:sp>
      <p:sp>
        <p:nvSpPr>
          <p:cNvPr id="1334" name="Right Tick 600억"/>
          <p:cNvSpPr txBox="1"/>
          <p:nvPr/>
        </p:nvSpPr>
        <p:spPr>
          <a:xfrm>
            <a:off x="98818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600억</a:t>
            </a:r>
          </a:p>
        </p:txBody>
      </p:sp>
      <p:sp>
        <p:nvSpPr>
          <p:cNvPr id="1335" name="Right Tick 800억"/>
          <p:cNvSpPr txBox="1"/>
          <p:nvPr/>
        </p:nvSpPr>
        <p:spPr>
          <a:xfrm>
            <a:off x="10580370" y="3517900"/>
            <a:ext cx="457200" cy="139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800억</a:t>
            </a:r>
          </a:p>
        </p:txBody>
      </p:sp>
      <p:sp>
        <p:nvSpPr>
          <p:cNvPr id="1336" name="Order Heading"/>
          <p:cNvSpPr txBox="1"/>
          <p:nvPr/>
        </p:nvSpPr>
        <p:spPr>
          <a:xfrm>
            <a:off x="932180" y="4445000"/>
            <a:ext cx="1086358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산업 초기에는 부품사가 완성체보다 먼저 주문을 받을 수 있다</a:t>
            </a:r>
          </a:p>
        </p:txBody>
      </p:sp>
      <p:cxnSp>
        <p:nvCxnSpPr>
          <p:cNvPr id="1337" name="Order Heading Rule"/>
          <p:cNvCxnSpPr/>
          <p:nvPr/>
        </p:nvCxnSpPr>
        <p:spPr>
          <a:xfrm>
            <a:off x="932180" y="4699000"/>
            <a:ext cx="1086358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338" name="Order Table"/>
          <p:cNvGraphicFramePr>
            <a:graphicFrameLocks noGrp="1"/>
          </p:cNvGraphicFramePr>
          <p:nvPr/>
        </p:nvGraphicFramePr>
        <p:xfrm>
          <a:off x="932180" y="4800600"/>
          <a:ext cx="10863580" cy="65113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먼저 받는 주문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수십 곳의 완성체가 시제품 경쟁을 하며 부품을 산다. 녹적해파의 감속기 판매량은 2025년 72% 늘었지만, 휴머노이드 몫은 따로 공시되지 않는다.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주의할 점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대부분 부품사의 휴머노이드 매출은 아직 작아, 몸값이 실적보다 앞서 있는 경우가 많다(9장).</a:t>
                      </a:r>
                    </a:p>
                  </a:txBody>
                  <a:tcPr marL="127000" marR="127000" marT="76200" marB="762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39" name="Conclusion"/>
          <p:cNvSpPr txBox="1"/>
          <p:nvPr/>
        </p:nvSpPr>
        <p:spPr>
          <a:xfrm>
            <a:off x="932180" y="57404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단, '감속기가 많이 들어간다'와 '특정 감속기 회사의 매출이 는다'는 다르다. 어떤 방식이 표준이 될지, 완성체가 직접 만들지에 달려 있다.</a:t>
            </a:r>
          </a:p>
        </p:txBody>
      </p:sp>
      <p:sp>
        <p:nvSpPr>
          <p:cNvPr id="1340" name="Source"/>
          <p:cNvSpPr txBox="1"/>
          <p:nvPr/>
        </p:nvSpPr>
        <p:spPr>
          <a:xfrm>
            <a:off x="932180" y="6172200"/>
            <a:ext cx="10863580" cy="165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Roland Berger, 'Humanoid robots 2026', 2026-04 / Tesla, 'Tesla AI Day 2022', 2022-09-30 / IFR, World Robotics 2026 보도자료, 2026-09-24 / 苏州绿的谐波 2025 연차보고서</a:t>
            </a:r>
          </a:p>
        </p:txBody>
      </p:sp>
    </p:spTree>
    <p:extLst>
      <p:ext uri="{BB962C8B-B14F-4D97-AF65-F5344CB8AC3E}">
        <p14:creationId xmlns:p14="http://schemas.microsoft.com/office/powerpoint/2010/main" val="3566487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기업은 버틸 수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9-1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우리가 손익을 확인한 휴머노이드 기업 4곳 중 3곳이 적자이고, 그중 2곳은 손실이 매출보다 크다.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이익이 없으면 주가수익비율(P/E)을 쓸 수 없다. 그래서 이 산업의 기업은 이익이 아니라 매출 대비 몸값(P/S)과 버틸 수 있는 기간(런웨이)으로 본다.</a:t>
            </a:r>
          </a:p>
        </p:txBody>
      </p:sp>
      <p:sp>
        <p:nvSpPr>
          <p:cNvPr id="14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완성체 4곳 중 3곳이 적자다</a:t>
            </a:r>
          </a:p>
        </p:txBody>
      </p:sp>
      <p:cxnSp>
        <p:nvCxnSpPr>
          <p:cNvPr id="14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402" name="Left Unit"/>
          <p:cNvSpPr txBox="1"/>
          <p:nvPr/>
        </p:nvSpPr>
        <p:spPr>
          <a:xfrm>
            <a:off x="932180" y="23368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(2025년, 백만 달러)</a:t>
            </a:r>
          </a:p>
        </p:txBody>
      </p:sp>
      <p:sp>
        <p:nvSpPr>
          <p:cNvPr id="1403" name="Legend Rev Swatch"/>
          <p:cNvSpPr/>
          <p:nvPr/>
        </p:nvSpPr>
        <p:spPr>
          <a:xfrm>
            <a:off x="4572000" y="2362200"/>
            <a:ext cx="101600" cy="101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04" name="Legend Rev"/>
          <p:cNvSpPr txBox="1"/>
          <p:nvPr/>
        </p:nvSpPr>
        <p:spPr>
          <a:xfrm>
            <a:off x="4724400" y="2336800"/>
            <a:ext cx="508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매출</a:t>
            </a:r>
          </a:p>
        </p:txBody>
      </p:sp>
      <p:sp>
        <p:nvSpPr>
          <p:cNvPr id="1405" name="Legend NI Swatch"/>
          <p:cNvSpPr/>
          <p:nvPr/>
        </p:nvSpPr>
        <p:spPr>
          <a:xfrm>
            <a:off x="5257800" y="2362200"/>
            <a:ext cx="101600" cy="1016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06" name="Legend NI"/>
          <p:cNvSpPr txBox="1"/>
          <p:nvPr/>
        </p:nvSpPr>
        <p:spPr>
          <a:xfrm>
            <a:off x="5410200" y="2336800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순손익</a:t>
            </a:r>
          </a:p>
        </p:txBody>
      </p:sp>
      <p:cxnSp>
        <p:nvCxnSpPr>
          <p:cNvPr id="1407" name="Zero Line"/>
          <p:cNvCxnSpPr/>
          <p:nvPr/>
        </p:nvCxnSpPr>
        <p:spPr>
          <a:xfrm>
            <a:off x="3817620" y="2489200"/>
            <a:ext cx="0" cy="2184400"/>
          </a:xfrm>
          <a:prstGeom prst="line">
            <a:avLst/>
          </a:prstGeom>
          <a:ln w="9525">
            <a:solidFill>
              <a:srgbClr val="323A44"/>
            </a:solidFill>
          </a:ln>
        </p:spPr>
      </p:cxnSp>
      <p:sp>
        <p:nvSpPr>
          <p:cNvPr id="1408" name="Co 1 Name"/>
          <p:cNvSpPr txBox="1"/>
          <p:nvPr/>
        </p:nvSpPr>
        <p:spPr>
          <a:xfrm>
            <a:off x="932180" y="25400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UBTech</a:t>
            </a:r>
          </a:p>
        </p:txBody>
      </p:sp>
      <p:sp>
        <p:nvSpPr>
          <p:cNvPr id="1409" name="Co 1 Revenue"/>
          <p:cNvSpPr/>
          <p:nvPr/>
        </p:nvSpPr>
        <p:spPr>
          <a:xfrm>
            <a:off x="3817620" y="2705100"/>
            <a:ext cx="174244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0" name="Co 1 Revenue Value"/>
          <p:cNvSpPr txBox="1"/>
          <p:nvPr/>
        </p:nvSpPr>
        <p:spPr>
          <a:xfrm>
            <a:off x="5610860" y="27051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298.2</a:t>
            </a:r>
          </a:p>
        </p:txBody>
      </p:sp>
      <p:sp>
        <p:nvSpPr>
          <p:cNvPr id="1411" name="Co 1 Net"/>
          <p:cNvSpPr/>
          <p:nvPr/>
        </p:nvSpPr>
        <p:spPr>
          <a:xfrm>
            <a:off x="3130550" y="2857500"/>
            <a:ext cx="68707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2" name="Co 1 Net Value"/>
          <p:cNvSpPr txBox="1"/>
          <p:nvPr/>
        </p:nvSpPr>
        <p:spPr>
          <a:xfrm>
            <a:off x="2520950" y="28575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−117.7</a:t>
            </a:r>
          </a:p>
        </p:txBody>
      </p:sp>
      <p:sp>
        <p:nvSpPr>
          <p:cNvPr id="1413" name="Co 2 Name"/>
          <p:cNvSpPr txBox="1"/>
          <p:nvPr/>
        </p:nvSpPr>
        <p:spPr>
          <a:xfrm>
            <a:off x="932180" y="30734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유니트리</a:t>
            </a:r>
          </a:p>
        </p:txBody>
      </p:sp>
      <p:sp>
        <p:nvSpPr>
          <p:cNvPr id="1414" name="Co 2 Revenue"/>
          <p:cNvSpPr/>
          <p:nvPr/>
        </p:nvSpPr>
        <p:spPr>
          <a:xfrm>
            <a:off x="3817620" y="3238500"/>
            <a:ext cx="147955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5" name="Co 2 Revenue Value"/>
          <p:cNvSpPr txBox="1"/>
          <p:nvPr/>
        </p:nvSpPr>
        <p:spPr>
          <a:xfrm>
            <a:off x="5347970" y="32385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253.2</a:t>
            </a:r>
          </a:p>
        </p:txBody>
      </p:sp>
      <p:sp>
        <p:nvSpPr>
          <p:cNvPr id="1416" name="Co 2 Net"/>
          <p:cNvSpPr/>
          <p:nvPr/>
        </p:nvSpPr>
        <p:spPr>
          <a:xfrm>
            <a:off x="3817620" y="3390900"/>
            <a:ext cx="24257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7" name="Co 2 Net Value"/>
          <p:cNvSpPr txBox="1"/>
          <p:nvPr/>
        </p:nvSpPr>
        <p:spPr>
          <a:xfrm>
            <a:off x="4110990" y="33909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41.5</a:t>
            </a:r>
          </a:p>
        </p:txBody>
      </p:sp>
      <p:sp>
        <p:nvSpPr>
          <p:cNvPr id="1418" name="Co 3 Name"/>
          <p:cNvSpPr txBox="1"/>
          <p:nvPr/>
        </p:nvSpPr>
        <p:spPr>
          <a:xfrm>
            <a:off x="932180" y="36068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보스턴다이나믹스</a:t>
            </a:r>
          </a:p>
        </p:txBody>
      </p:sp>
      <p:sp>
        <p:nvSpPr>
          <p:cNvPr id="1419" name="Co 3 Revenue"/>
          <p:cNvSpPr/>
          <p:nvPr/>
        </p:nvSpPr>
        <p:spPr>
          <a:xfrm>
            <a:off x="3817620" y="3771900"/>
            <a:ext cx="64643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0" name="Co 3 Revenue Value"/>
          <p:cNvSpPr txBox="1"/>
          <p:nvPr/>
        </p:nvSpPr>
        <p:spPr>
          <a:xfrm>
            <a:off x="4514850" y="37719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110.6</a:t>
            </a:r>
          </a:p>
        </p:txBody>
      </p:sp>
      <p:sp>
        <p:nvSpPr>
          <p:cNvPr id="1421" name="Co 3 Net"/>
          <p:cNvSpPr/>
          <p:nvPr/>
        </p:nvSpPr>
        <p:spPr>
          <a:xfrm>
            <a:off x="1541780" y="3924300"/>
            <a:ext cx="227584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2" name="Co 3 Net Value"/>
          <p:cNvSpPr txBox="1"/>
          <p:nvPr/>
        </p:nvSpPr>
        <p:spPr>
          <a:xfrm>
            <a:off x="932180" y="39243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−389.6</a:t>
            </a:r>
          </a:p>
        </p:txBody>
      </p:sp>
      <p:sp>
        <p:nvSpPr>
          <p:cNvPr id="1423" name="Co 4 Name"/>
          <p:cNvSpPr txBox="1"/>
          <p:nvPr/>
        </p:nvSpPr>
        <p:spPr>
          <a:xfrm>
            <a:off x="932180" y="41402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어질리티</a:t>
            </a:r>
          </a:p>
        </p:txBody>
      </p:sp>
      <p:sp>
        <p:nvSpPr>
          <p:cNvPr id="1424" name="Co 4 Revenue"/>
          <p:cNvSpPr/>
          <p:nvPr/>
        </p:nvSpPr>
        <p:spPr>
          <a:xfrm>
            <a:off x="3817620" y="4305300"/>
            <a:ext cx="1016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5" name="Co 4 Revenue Value"/>
          <p:cNvSpPr txBox="1"/>
          <p:nvPr/>
        </p:nvSpPr>
        <p:spPr>
          <a:xfrm>
            <a:off x="3878580" y="43053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1.8</a:t>
            </a:r>
          </a:p>
        </p:txBody>
      </p:sp>
      <p:sp>
        <p:nvSpPr>
          <p:cNvPr id="1426" name="Co 4 Net"/>
          <p:cNvSpPr/>
          <p:nvPr/>
        </p:nvSpPr>
        <p:spPr>
          <a:xfrm>
            <a:off x="3011170" y="4457700"/>
            <a:ext cx="80645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7" name="Co 4 Net Value"/>
          <p:cNvSpPr txBox="1"/>
          <p:nvPr/>
        </p:nvSpPr>
        <p:spPr>
          <a:xfrm>
            <a:off x="2401570" y="44577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−138.1</a:t>
            </a:r>
          </a:p>
        </p:txBody>
      </p:sp>
      <p:sp>
        <p:nvSpPr>
          <p:cNvPr id="1428" name="Left Note"/>
          <p:cNvSpPr txBox="1"/>
          <p:nvPr/>
        </p:nvSpPr>
        <p:spPr>
          <a:xfrm>
            <a:off x="932180" y="47752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2026-09-25 미국 연준 H.10 환율(달러당 6.7110위안, 1,356.51원)로 환산했다. 보스턴다이나믹스는 회사 전체(100%) 기준이다.</a:t>
            </a:r>
          </a:p>
        </p:txBody>
      </p:sp>
      <p:sp>
        <p:nvSpPr>
          <p:cNvPr id="1429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흑자는 일부 기업뿐이고, 적자 기업은 현금이 관건이다</a:t>
            </a:r>
          </a:p>
        </p:txBody>
      </p:sp>
      <p:cxnSp>
        <p:nvCxnSpPr>
          <p:cNvPr id="1430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431" name="Righ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700793"/>
              </p:ext>
            </p:extLst>
          </p:nvPr>
        </p:nvGraphicFramePr>
        <p:xfrm>
          <a:off x="6516370" y="2336800"/>
          <a:ext cx="5279390" cy="289560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7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예외: 유니트리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2024년부터 흑자였고, 2025년 매출 약 17.0억 위안에 순이익 약 2.8억 위안을 냈다. 부품을 직접 만들어 원가를 낮춘 덕이다(7장). 다만 2026년 상반기에는 일회성 요인을 뺀 이익이 전년보다 19% 줄었다.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흑자 부품사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녹적해파, Harmonic Drive, Nabtesco 모두 흑자.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다만 세 회사 모두 휴머노이드 매출을 따로 공시하지 않아,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지금의 이익이 휴머노이드에서 나왔다고 볼 근거는 없다.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버틸 수 있는 기간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어질리티는 2025년 말 현금 1.03억 달러에 연간 영업 현금 유출이 약 1억 달러로, 추가 조달 없이 약 1년을 버틸 수 있었다(우리 계산). 증권신고서에는 '계속기업 불확실성'이 적혀 있고, 상장(SPAC 합병)을 추진하고 있다.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2" name="Conclusion"/>
          <p:cNvSpPr txBox="1"/>
          <p:nvPr/>
        </p:nvSpPr>
        <p:spPr>
          <a:xfrm>
            <a:off x="932180" y="54864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투자금이 떨어지기 전에 매출을 키우지 못하면 문을 닫거나 팔린다. 그래서 '현금으로 몇 년을 버틸 수 있나'가 첫 번째 지표다.</a:t>
            </a:r>
          </a:p>
        </p:txBody>
      </p:sp>
      <p:sp>
        <p:nvSpPr>
          <p:cNvPr id="1433" name="Source"/>
          <p:cNvSpPr txBox="1"/>
          <p:nvPr/>
        </p:nvSpPr>
        <p:spPr>
          <a:xfrm>
            <a:off x="932180" y="5918200"/>
            <a:ext cx="1086358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Agility Robotics, Form S-4/A, SEC, 2026-09-30 / 宇树科技 招股说明书, 2026-08-14 · 上市公告书, 2026-08-18 / UBTech 2025 연간 실적 공고, HKEX, 2026-03-31 / 현대글로비스 2025 사업보고서 연결 주석, DART, 2026-03-18 / 苏州绿的谐波 2025 연차보고서(정정본 2026-07-09) / Harmonic Drive Systems 2026년 3월기 결산단신, 2026-05-13 / Nabtesco FY2025 결산단신, 2026-02-12 / 미국 연준 H.10, 2026-09-28</a:t>
            </a:r>
          </a:p>
        </p:txBody>
      </p:sp>
    </p:spTree>
    <p:extLst>
      <p:ext uri="{BB962C8B-B14F-4D97-AF65-F5344CB8AC3E}">
        <p14:creationId xmlns:p14="http://schemas.microsoft.com/office/powerpoint/2010/main" val="502755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C41A01-018B-4F67-AAE8-4F6185527B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ab Num 1"/>
          <p:cNvSpPr txBox="1"/>
          <p:nvPr/>
        </p:nvSpPr>
        <p:spPr>
          <a:xfrm>
            <a:off x="89662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ab Name 1"/>
          <p:cNvSpPr txBox="1"/>
          <p:nvPr/>
        </p:nvSpPr>
        <p:spPr>
          <a:xfrm>
            <a:off x="111506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22" name="Tab Num 2"/>
          <p:cNvSpPr txBox="1"/>
          <p:nvPr/>
        </p:nvSpPr>
        <p:spPr>
          <a:xfrm>
            <a:off x="228600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3" name="Tab Name 2"/>
          <p:cNvSpPr txBox="1"/>
          <p:nvPr/>
        </p:nvSpPr>
        <p:spPr>
          <a:xfrm>
            <a:off x="250571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24" name="Tab Num 3"/>
          <p:cNvSpPr txBox="1"/>
          <p:nvPr/>
        </p:nvSpPr>
        <p:spPr>
          <a:xfrm>
            <a:off x="367538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" name="Tab Name 3"/>
          <p:cNvSpPr txBox="1"/>
          <p:nvPr/>
        </p:nvSpPr>
        <p:spPr>
          <a:xfrm>
            <a:off x="389509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26" name="Tab Num 4"/>
          <p:cNvSpPr txBox="1"/>
          <p:nvPr/>
        </p:nvSpPr>
        <p:spPr>
          <a:xfrm>
            <a:off x="5066030" y="38100"/>
            <a:ext cx="18288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7" name="Tab Name 4"/>
          <p:cNvSpPr txBox="1"/>
          <p:nvPr/>
        </p:nvSpPr>
        <p:spPr>
          <a:xfrm>
            <a:off x="5285740" y="38100"/>
            <a:ext cx="657860" cy="152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A4B4CD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sp>
        <p:nvSpPr>
          <p:cNvPr id="32" name="Title"/>
          <p:cNvSpPr txBox="1"/>
          <p:nvPr/>
        </p:nvSpPr>
        <p:spPr>
          <a:xfrm>
            <a:off x="932180" y="439420"/>
            <a:ext cx="7909560" cy="355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기업은 버틸 수 있나</a:t>
            </a: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D0F060-388C-4A79-B6B0-3590DD557D9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2368326-68EA-4C22-8D01-B93698053109}"/>
              </a:ext>
            </a:extLst>
          </p:cNvPr>
          <p:cNvSpPr>
            <a:spLocks noGrp="1"/>
          </p:cNvSpPr>
          <p:nvPr/>
        </p:nvSpPr>
        <p:spPr>
          <a:xfrm>
            <a:off x="932180" y="6455410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468C007A-0DDA-424D-F462-D777EE3EE384}"/>
              </a:ext>
            </a:extLst>
          </p:cNvPr>
          <p:cNvSpPr>
            <a:spLocks noGrp="1"/>
          </p:cNvSpPr>
          <p:nvPr/>
        </p:nvSpPr>
        <p:spPr>
          <a:xfrm>
            <a:off x="0" y="-1135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1" name="Menu Highlight"/>
          <p:cNvSpPr/>
          <p:nvPr/>
        </p:nvSpPr>
        <p:spPr>
          <a:xfrm>
            <a:off x="45720" y="1803400"/>
            <a:ext cx="701040" cy="330200"/>
          </a:xfrm>
          <a:prstGeom prst="roundRect">
            <a:avLst>
              <a:gd name="adj" fmla="val 16667"/>
            </a:avLst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08" name="Menu Num 2"/>
          <p:cNvSpPr txBox="1"/>
          <p:nvPr/>
        </p:nvSpPr>
        <p:spPr>
          <a:xfrm>
            <a:off x="63500" y="18986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0" name="Menu Name 2"/>
          <p:cNvSpPr txBox="1"/>
          <p:nvPr/>
        </p:nvSpPr>
        <p:spPr>
          <a:xfrm>
            <a:off x="228600" y="18986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밸류체인</a:t>
            </a:r>
          </a:p>
        </p:txBody>
      </p:sp>
      <p:sp>
        <p:nvSpPr>
          <p:cNvPr id="112" name="Menu Num 3"/>
          <p:cNvSpPr txBox="1"/>
          <p:nvPr/>
        </p:nvSpPr>
        <p:spPr>
          <a:xfrm>
            <a:off x="63500" y="261239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4" name="Menu Name 3"/>
          <p:cNvSpPr txBox="1"/>
          <p:nvPr/>
        </p:nvSpPr>
        <p:spPr>
          <a:xfrm>
            <a:off x="228600" y="261239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포지셔닝</a:t>
            </a:r>
          </a:p>
        </p:txBody>
      </p:sp>
      <p:sp>
        <p:nvSpPr>
          <p:cNvPr id="116" name="Menu Num 4"/>
          <p:cNvSpPr txBox="1"/>
          <p:nvPr/>
        </p:nvSpPr>
        <p:spPr>
          <a:xfrm>
            <a:off x="63500" y="332486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18" name="Menu Name 4"/>
          <p:cNvSpPr txBox="1"/>
          <p:nvPr/>
        </p:nvSpPr>
        <p:spPr>
          <a:xfrm>
            <a:off x="228600" y="332486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기업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9CDCF3F-7C0C-530C-FD1B-20938179E6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Menu Num 1"/>
          <p:cNvSpPr txBox="1"/>
          <p:nvPr/>
        </p:nvSpPr>
        <p:spPr>
          <a:xfrm>
            <a:off x="63500" y="1289050"/>
            <a:ext cx="1651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Menu Name 1"/>
          <p:cNvSpPr txBox="1"/>
          <p:nvPr/>
        </p:nvSpPr>
        <p:spPr>
          <a:xfrm>
            <a:off x="228600" y="1289050"/>
            <a:ext cx="571500" cy="152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프롤로그</a:t>
            </a:r>
          </a:p>
        </p:txBody>
      </p:sp>
      <p:sp>
        <p:nvSpPr>
          <p:cNvPr id="400" name="Tab Underline"/>
          <p:cNvSpPr/>
          <p:nvPr/>
        </p:nvSpPr>
        <p:spPr>
          <a:xfrm>
            <a:off x="2286000" y="196850"/>
            <a:ext cx="87757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2" name="Label Bg"/>
          <p:cNvSpPr/>
          <p:nvPr/>
        </p:nvSpPr>
        <p:spPr>
          <a:xfrm>
            <a:off x="10698480" y="494030"/>
            <a:ext cx="932180" cy="25654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403" name="Label"/>
          <p:cNvSpPr txBox="1"/>
          <p:nvPr/>
        </p:nvSpPr>
        <p:spPr>
          <a:xfrm>
            <a:off x="10698480" y="494030"/>
            <a:ext cx="932180" cy="25654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/>
                <a:ea typeface="Noto Sans KR"/>
                <a:cs typeface="Noto Sans KR"/>
              </a:rPr>
              <a:t>목차 02/04</a:t>
            </a:r>
          </a:p>
        </p:txBody>
      </p:sp>
      <p:sp>
        <p:nvSpPr>
          <p:cNvPr id="404" name="Page Number"/>
          <p:cNvSpPr txBox="1"/>
          <p:nvPr/>
        </p:nvSpPr>
        <p:spPr>
          <a:xfrm>
            <a:off x="182880" y="6474460"/>
            <a:ext cx="320040" cy="1447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9-1</a:t>
            </a:r>
          </a:p>
        </p:txBody>
      </p:sp>
      <p:sp>
        <p:nvSpPr>
          <p:cNvPr id="410" name="Lead"/>
          <p:cNvSpPr txBox="1"/>
          <p:nvPr/>
        </p:nvSpPr>
        <p:spPr>
          <a:xfrm>
            <a:off x="932180" y="1320800"/>
            <a:ext cx="10863580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우리가 손익을 확인한 휴머노이드 기업 4곳 중 3곳이 적자이고, 그중 2곳은 손실이 매출보다 크다.</a:t>
            </a: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 </a:t>
            </a:r>
            <a:br>
              <a:rPr lang="en-US" altLang="ko-KR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</a:br>
            <a:r>
              <a:rPr lang="ko-KR" altLang="en-US" sz="13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이익이 없으면 주가수익비율(P/E)을 쓸 수 없다. 그래서 이 산업의 기업은 이익이 아니라 매출 대비 몸값(P/S)과 버틸 수 있는 기간(런웨이)으로 본다.</a:t>
            </a:r>
          </a:p>
        </p:txBody>
      </p:sp>
      <p:sp>
        <p:nvSpPr>
          <p:cNvPr id="1400" name="Left Heading"/>
          <p:cNvSpPr txBox="1"/>
          <p:nvPr/>
        </p:nvSpPr>
        <p:spPr>
          <a:xfrm>
            <a:off x="93218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완성체 4곳 중 3곳이 적자다</a:t>
            </a:r>
          </a:p>
        </p:txBody>
      </p:sp>
      <p:cxnSp>
        <p:nvCxnSpPr>
          <p:cNvPr id="1401" name="Left Heading Rule"/>
          <p:cNvCxnSpPr/>
          <p:nvPr/>
        </p:nvCxnSpPr>
        <p:spPr>
          <a:xfrm>
            <a:off x="93218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sp>
        <p:nvSpPr>
          <p:cNvPr id="1402" name="Left Unit"/>
          <p:cNvSpPr txBox="1"/>
          <p:nvPr/>
        </p:nvSpPr>
        <p:spPr>
          <a:xfrm>
            <a:off x="932180" y="23368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(2025년, 백만 달러)</a:t>
            </a:r>
          </a:p>
        </p:txBody>
      </p:sp>
      <p:sp>
        <p:nvSpPr>
          <p:cNvPr id="1403" name="Legend Rev Swatch"/>
          <p:cNvSpPr/>
          <p:nvPr/>
        </p:nvSpPr>
        <p:spPr>
          <a:xfrm>
            <a:off x="4572000" y="2362200"/>
            <a:ext cx="101600" cy="1016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04" name="Legend Rev"/>
          <p:cNvSpPr txBox="1"/>
          <p:nvPr/>
        </p:nvSpPr>
        <p:spPr>
          <a:xfrm>
            <a:off x="4724400" y="2336800"/>
            <a:ext cx="508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매출</a:t>
            </a:r>
          </a:p>
        </p:txBody>
      </p:sp>
      <p:sp>
        <p:nvSpPr>
          <p:cNvPr id="1405" name="Legend NI Swatch"/>
          <p:cNvSpPr/>
          <p:nvPr/>
        </p:nvSpPr>
        <p:spPr>
          <a:xfrm>
            <a:off x="5257800" y="2362200"/>
            <a:ext cx="101600" cy="1016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06" name="Legend NI"/>
          <p:cNvSpPr txBox="1"/>
          <p:nvPr/>
        </p:nvSpPr>
        <p:spPr>
          <a:xfrm>
            <a:off x="5410200" y="2336800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순손익</a:t>
            </a:r>
          </a:p>
        </p:txBody>
      </p:sp>
      <p:cxnSp>
        <p:nvCxnSpPr>
          <p:cNvPr id="1407" name="Zero Line"/>
          <p:cNvCxnSpPr/>
          <p:nvPr/>
        </p:nvCxnSpPr>
        <p:spPr>
          <a:xfrm>
            <a:off x="3817620" y="2489200"/>
            <a:ext cx="0" cy="2184400"/>
          </a:xfrm>
          <a:prstGeom prst="line">
            <a:avLst/>
          </a:prstGeom>
          <a:ln w="9525">
            <a:solidFill>
              <a:srgbClr val="323A44"/>
            </a:solidFill>
          </a:ln>
        </p:spPr>
      </p:cxnSp>
      <p:sp>
        <p:nvSpPr>
          <p:cNvPr id="1408" name="Co 1 Name"/>
          <p:cNvSpPr txBox="1"/>
          <p:nvPr/>
        </p:nvSpPr>
        <p:spPr>
          <a:xfrm>
            <a:off x="932180" y="25400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UBTech</a:t>
            </a:r>
          </a:p>
        </p:txBody>
      </p:sp>
      <p:sp>
        <p:nvSpPr>
          <p:cNvPr id="1409" name="Co 1 Revenue"/>
          <p:cNvSpPr/>
          <p:nvPr/>
        </p:nvSpPr>
        <p:spPr>
          <a:xfrm>
            <a:off x="3817620" y="2705100"/>
            <a:ext cx="174244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0" name="Co 1 Revenue Value"/>
          <p:cNvSpPr txBox="1"/>
          <p:nvPr/>
        </p:nvSpPr>
        <p:spPr>
          <a:xfrm>
            <a:off x="5610860" y="27051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298.2</a:t>
            </a:r>
          </a:p>
        </p:txBody>
      </p:sp>
      <p:sp>
        <p:nvSpPr>
          <p:cNvPr id="1411" name="Co 1 Net"/>
          <p:cNvSpPr/>
          <p:nvPr/>
        </p:nvSpPr>
        <p:spPr>
          <a:xfrm>
            <a:off x="3130550" y="2857500"/>
            <a:ext cx="68707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2" name="Co 1 Net Value"/>
          <p:cNvSpPr txBox="1"/>
          <p:nvPr/>
        </p:nvSpPr>
        <p:spPr>
          <a:xfrm>
            <a:off x="2520950" y="28575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−117.7</a:t>
            </a:r>
          </a:p>
        </p:txBody>
      </p:sp>
      <p:sp>
        <p:nvSpPr>
          <p:cNvPr id="1413" name="Co 2 Name"/>
          <p:cNvSpPr txBox="1"/>
          <p:nvPr/>
        </p:nvSpPr>
        <p:spPr>
          <a:xfrm>
            <a:off x="932180" y="30734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유니트리</a:t>
            </a:r>
          </a:p>
        </p:txBody>
      </p:sp>
      <p:sp>
        <p:nvSpPr>
          <p:cNvPr id="1414" name="Co 2 Revenue"/>
          <p:cNvSpPr/>
          <p:nvPr/>
        </p:nvSpPr>
        <p:spPr>
          <a:xfrm>
            <a:off x="3817620" y="3238500"/>
            <a:ext cx="147955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5" name="Co 2 Revenue Value"/>
          <p:cNvSpPr txBox="1"/>
          <p:nvPr/>
        </p:nvSpPr>
        <p:spPr>
          <a:xfrm>
            <a:off x="5347970" y="32385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253.2</a:t>
            </a:r>
          </a:p>
        </p:txBody>
      </p:sp>
      <p:sp>
        <p:nvSpPr>
          <p:cNvPr id="1416" name="Co 2 Net"/>
          <p:cNvSpPr/>
          <p:nvPr/>
        </p:nvSpPr>
        <p:spPr>
          <a:xfrm>
            <a:off x="3817620" y="3390900"/>
            <a:ext cx="24257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17" name="Co 2 Net Value"/>
          <p:cNvSpPr txBox="1"/>
          <p:nvPr/>
        </p:nvSpPr>
        <p:spPr>
          <a:xfrm>
            <a:off x="4110990" y="33909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41.5</a:t>
            </a:r>
          </a:p>
        </p:txBody>
      </p:sp>
      <p:sp>
        <p:nvSpPr>
          <p:cNvPr id="1418" name="Co 3 Name"/>
          <p:cNvSpPr txBox="1"/>
          <p:nvPr/>
        </p:nvSpPr>
        <p:spPr>
          <a:xfrm>
            <a:off x="932180" y="36068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보스턴다이나믹스</a:t>
            </a:r>
          </a:p>
        </p:txBody>
      </p:sp>
      <p:sp>
        <p:nvSpPr>
          <p:cNvPr id="1419" name="Co 3 Revenue"/>
          <p:cNvSpPr/>
          <p:nvPr/>
        </p:nvSpPr>
        <p:spPr>
          <a:xfrm>
            <a:off x="3817620" y="3771900"/>
            <a:ext cx="64643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0" name="Co 3 Revenue Value"/>
          <p:cNvSpPr txBox="1"/>
          <p:nvPr/>
        </p:nvSpPr>
        <p:spPr>
          <a:xfrm>
            <a:off x="4514850" y="37719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110.6</a:t>
            </a:r>
          </a:p>
        </p:txBody>
      </p:sp>
      <p:sp>
        <p:nvSpPr>
          <p:cNvPr id="1421" name="Co 3 Net"/>
          <p:cNvSpPr/>
          <p:nvPr/>
        </p:nvSpPr>
        <p:spPr>
          <a:xfrm>
            <a:off x="1541780" y="3924300"/>
            <a:ext cx="227584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2" name="Co 3 Net Value"/>
          <p:cNvSpPr txBox="1"/>
          <p:nvPr/>
        </p:nvSpPr>
        <p:spPr>
          <a:xfrm>
            <a:off x="932180" y="39243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−389.6</a:t>
            </a:r>
          </a:p>
        </p:txBody>
      </p:sp>
      <p:sp>
        <p:nvSpPr>
          <p:cNvPr id="1423" name="Co 4 Name"/>
          <p:cNvSpPr txBox="1"/>
          <p:nvPr/>
        </p:nvSpPr>
        <p:spPr>
          <a:xfrm>
            <a:off x="932180" y="4140200"/>
            <a:ext cx="254000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어질리티</a:t>
            </a:r>
          </a:p>
        </p:txBody>
      </p:sp>
      <p:sp>
        <p:nvSpPr>
          <p:cNvPr id="1424" name="Co 4 Revenue"/>
          <p:cNvSpPr/>
          <p:nvPr/>
        </p:nvSpPr>
        <p:spPr>
          <a:xfrm>
            <a:off x="3817620" y="4305300"/>
            <a:ext cx="10160" cy="1270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5" name="Co 4 Revenue Value"/>
          <p:cNvSpPr txBox="1"/>
          <p:nvPr/>
        </p:nvSpPr>
        <p:spPr>
          <a:xfrm>
            <a:off x="3878580" y="43053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1.8</a:t>
            </a:r>
          </a:p>
        </p:txBody>
      </p:sp>
      <p:sp>
        <p:nvSpPr>
          <p:cNvPr id="1426" name="Co 4 Net"/>
          <p:cNvSpPr/>
          <p:nvPr/>
        </p:nvSpPr>
        <p:spPr>
          <a:xfrm>
            <a:off x="3011170" y="4457700"/>
            <a:ext cx="806450" cy="127000"/>
          </a:xfrm>
          <a:prstGeom prst="rect">
            <a:avLst/>
          </a:prstGeom>
          <a:solidFill>
            <a:srgbClr val="EBF3FC"/>
          </a:solidFill>
          <a:ln w="9525">
            <a:solidFill>
              <a:srgbClr val="034EA2"/>
            </a:solidFill>
          </a:ln>
        </p:spPr>
        <p:txBody>
          <a:bodyPr rtlCol="0" anchor="ctr">
            <a:noAutofit/>
          </a:bodyPr>
          <a:lstStyle/>
          <a:p>
            <a:endParaRPr lang="ko-KR" dirty="0"/>
          </a:p>
        </p:txBody>
      </p:sp>
      <p:sp>
        <p:nvSpPr>
          <p:cNvPr id="1427" name="Co 4 Net Value"/>
          <p:cNvSpPr txBox="1"/>
          <p:nvPr/>
        </p:nvSpPr>
        <p:spPr>
          <a:xfrm>
            <a:off x="2401570" y="4457700"/>
            <a:ext cx="558800" cy="127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−138.1</a:t>
            </a:r>
          </a:p>
        </p:txBody>
      </p:sp>
      <p:sp>
        <p:nvSpPr>
          <p:cNvPr id="1428" name="Left Note"/>
          <p:cNvSpPr txBox="1"/>
          <p:nvPr/>
        </p:nvSpPr>
        <p:spPr>
          <a:xfrm>
            <a:off x="932180" y="4775200"/>
            <a:ext cx="527939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323A44"/>
                </a:solidFill>
                <a:latin typeface="Noto Sans KR"/>
                <a:ea typeface="Noto Sans KR"/>
                <a:cs typeface="Noto Sans KR"/>
              </a:rPr>
              <a:t>2026-09-25 미국 연준 H.10 환율(달러당 6.7110위안, 1,356.51원)로 환산했다. 보스턴다이나믹스는 회사 전체(100%) 기준이다.</a:t>
            </a:r>
          </a:p>
        </p:txBody>
      </p:sp>
      <p:sp>
        <p:nvSpPr>
          <p:cNvPr id="1429" name="Right Heading"/>
          <p:cNvSpPr txBox="1"/>
          <p:nvPr/>
        </p:nvSpPr>
        <p:spPr>
          <a:xfrm>
            <a:off x="6516370" y="1981200"/>
            <a:ext cx="5279390" cy="20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흑자는 일부 기업뿐이고, 적자 기업은 현금이 관건이다</a:t>
            </a:r>
          </a:p>
        </p:txBody>
      </p:sp>
      <p:cxnSp>
        <p:nvCxnSpPr>
          <p:cNvPr id="1430" name="Right Heading Rule"/>
          <p:cNvCxnSpPr/>
          <p:nvPr/>
        </p:nvCxnSpPr>
        <p:spPr>
          <a:xfrm>
            <a:off x="6516370" y="2235200"/>
            <a:ext cx="5279390" cy="0"/>
          </a:xfrm>
          <a:prstGeom prst="line">
            <a:avLst/>
          </a:prstGeom>
          <a:ln w="12700">
            <a:solidFill>
              <a:srgbClr val="001C54"/>
            </a:solidFill>
          </a:ln>
        </p:spPr>
      </p:cxnSp>
      <p:graphicFrame>
        <p:nvGraphicFramePr>
          <p:cNvPr id="1431" name="Right Table"/>
          <p:cNvGraphicFramePr>
            <a:graphicFrameLocks noGrp="1"/>
          </p:cNvGraphicFramePr>
          <p:nvPr/>
        </p:nvGraphicFramePr>
        <p:xfrm>
          <a:off x="6516370" y="2336800"/>
          <a:ext cx="5279390" cy="289560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9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7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예외: 유니트리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2024년부터 흑자였고, 2025년 매출 약 17.0억 위안에 순이익 약 2.8억 위안을 냈다. 부품을 직접 만들어 원가를 낮춘 덕이다(7장). 다만 2026년 상반기에는 일회성 요인을 뺀 이익이 전년보다 19% 줄었다.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흑자 부품사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녹적해파, Harmonic Drive, Nabtesco 모두 흑자.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다만 세 회사 모두 휴머노이드 매출을 따로 공시하지 않아, </a:t>
                      </a:r>
                      <a:br>
                        <a:rPr lang="en-US" altLang="ko-KR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</a:b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지금의 이익이 휴머노이드에서 나왔다고 볼 근거는 없다.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rgbClr val="001C5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버틸 수 있는 기간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dirty="0">
                          <a:solidFill>
                            <a:srgbClr val="323A44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어질리티는 2025년 말 현금 1.03억 달러에 연간 영업 현금 유출이 약 1억 달러로, 추가 조달 없이 약 1년을 버틸 수 있었다(우리 계산). 증권신고서에는 '계속기업 불확실성'이 적혀 있고, 상장(SPAC 합병)을 추진하고 있다.</a:t>
                      </a:r>
                    </a:p>
                  </a:txBody>
                  <a:tcPr marL="127000" marR="127000" marT="101600" marB="101600" anchor="ctr">
                    <a:lnL w="0">
                      <a:noFill/>
                    </a:lnL>
                    <a:lnR w="0">
                      <a:noFill/>
                    </a:lnR>
                    <a:lnT w="5080" cap="flat" cmpd="sng" algn="ctr">
                      <a:solidFill>
                        <a:srgbClr val="DDE1E7"/>
                      </a:solidFill>
                      <a:prstDash val="solid"/>
                    </a:lnT>
                    <a:lnB w="5080" cap="flat" cmpd="sng" algn="ctr">
                      <a:solidFill>
                        <a:srgbClr val="DDE1E7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2" name="Conclusion"/>
          <p:cNvSpPr txBox="1"/>
          <p:nvPr/>
        </p:nvSpPr>
        <p:spPr>
          <a:xfrm>
            <a:off x="932180" y="5486400"/>
            <a:ext cx="10863580" cy="177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 dirty="0">
                <a:solidFill>
                  <a:srgbClr val="001C54"/>
                </a:solidFill>
                <a:latin typeface="Noto Sans KR"/>
                <a:ea typeface="Noto Sans KR"/>
                <a:cs typeface="Noto Sans KR"/>
              </a:rPr>
              <a:t>→ 투자금이 떨어지기 전에 매출을 키우지 못하면 문을 닫거나 팔린다. 그래서 '현금으로 몇 년을 버틸 수 있나'가 첫 번째 지표다.</a:t>
            </a:r>
          </a:p>
        </p:txBody>
      </p:sp>
      <p:sp>
        <p:nvSpPr>
          <p:cNvPr id="1433" name="Source"/>
          <p:cNvSpPr txBox="1"/>
          <p:nvPr/>
        </p:nvSpPr>
        <p:spPr>
          <a:xfrm>
            <a:off x="932180" y="5918200"/>
            <a:ext cx="1086358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dirty="0">
                <a:solidFill>
                  <a:srgbClr val="4A5563"/>
                </a:solidFill>
                <a:latin typeface="Noto Sans KR"/>
                <a:ea typeface="Noto Sans KR"/>
                <a:cs typeface="Noto Sans KR"/>
              </a:rPr>
              <a:t>출처: Agility Robotics, Form S-4/A, SEC, 2026-09-30 / 宇树科技 招股说明书, 2026-08-14 · 上市公告书, 2026-08-18 / UBTech 2025 연간 실적 공고, HKEX, 2026-03-31 / 현대글로비스 2025 사업보고서 연결 주석, DART, 2026-03-18 / 苏州绿的谐波 2025 연차보고서(정정본 2026-07-09) / Harmonic Drive Systems 2026년 3월기 결산단신, 2026-05-13 / Nabtesco FY2025 결산단신, 2026-02-12 / 미국 연준 H.10, 2026-09-28</a:t>
            </a:r>
          </a:p>
        </p:txBody>
      </p:sp>
    </p:spTree>
    <p:extLst>
      <p:ext uri="{BB962C8B-B14F-4D97-AF65-F5344CB8AC3E}">
        <p14:creationId xmlns:p14="http://schemas.microsoft.com/office/powerpoint/2010/main" val="2891220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BF98-FD48-4C65-3053-DC77B301B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54293B-40A6-38E2-B227-05CA5842433A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7B21B-911F-A02E-B699-C28BDDE60590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Ⅰ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2130232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C57BB2-6C16-43D7-B834-7EF071B20F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6370C-7190-4046-9AA3-CE3E0B827446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2FB756-66E0-4864-BBE0-853EF80D43C1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5073DF-B488-448C-A46B-FC70505EFE21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BB5912-B487-4967-8FD1-ECBB6E6191A8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7986CC-AAC8-487D-B8E4-78330E2E54BE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B6C2D5-D131-4A9A-BE60-E8956E8AFDF6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767489-DEC0-495E-BA14-956A5B3C18E7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6A2C09-E457-4F6A-957A-5CE86A565B6C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6AC902-C363-4BEB-8742-D521FF77A4E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678B3B-A330-45D8-B2E8-1D7DD9A3C79F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7FF758-9FB5-482E-8B1C-17AF6EC0F62F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5C8F46-33C5-4B05-9054-F5BDB267486C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BB801D-6D98-44F9-8233-62D4E492776B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EFF588-ABDB-4CAB-965D-425706E8C0AA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46F130-F0C4-4200-B364-A4FFF18B57A3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1230409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348AE0D9-A66E-4EDA-A1B0-6DA272484799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792F49A-DE35-4948-A690-D06CD539E6CD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B8A94E-BE17-4066-B439-CABBF8A90E87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C9221F-0FE2-4976-AA5D-A62ADF124B72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6B9367-3E9A-466A-93D4-0278EB091945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20016D-F947-47EF-8556-F623D4328CA6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3가지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E200EE-A04B-470F-858C-18A75B51F285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69E60DC1-D66A-4C6D-9E13-EF5DC6D7A68E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06CD154-FA63-4444-A690-8C35087B3C56}"/>
              </a:ext>
            </a:extLst>
          </p:cNvPr>
          <p:cNvSpPr>
            <a:spLocks noGrp="1"/>
          </p:cNvSpPr>
          <p:nvPr/>
        </p:nvSpPr>
        <p:spPr>
          <a:xfrm>
            <a:off x="932688" y="1783080"/>
            <a:ext cx="3127248" cy="121615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FC4BAD-8BAF-47B3-B506-C3D2C41F7BEA}"/>
              </a:ext>
            </a:extLst>
          </p:cNvPr>
          <p:cNvSpPr>
            <a:spLocks noGrp="1"/>
          </p:cNvSpPr>
          <p:nvPr/>
        </p:nvSpPr>
        <p:spPr>
          <a:xfrm>
            <a:off x="932688" y="1783080"/>
            <a:ext cx="50292" cy="121615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0F7CF9-A6D7-4B1A-A944-8F539CDF37A9}"/>
              </a:ext>
            </a:extLst>
          </p:cNvPr>
          <p:cNvSpPr>
            <a:spLocks noGrp="1"/>
          </p:cNvSpPr>
          <p:nvPr/>
        </p:nvSpPr>
        <p:spPr>
          <a:xfrm>
            <a:off x="1088136" y="1911095"/>
            <a:ext cx="28529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FF82FB-9B02-4FDE-BB34-52864BF26C92}"/>
              </a:ext>
            </a:extLst>
          </p:cNvPr>
          <p:cNvSpPr>
            <a:spLocks noGrp="1"/>
          </p:cNvSpPr>
          <p:nvPr/>
        </p:nvSpPr>
        <p:spPr>
          <a:xfrm>
            <a:off x="1088136" y="2203704"/>
            <a:ext cx="2852928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원인과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수익구간을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3~4줄로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D6FD1C1-305A-4C02-95A8-F27A149F4266}"/>
              </a:ext>
            </a:extLst>
          </p:cNvPr>
          <p:cNvSpPr>
            <a:spLocks noGrp="1"/>
          </p:cNvSpPr>
          <p:nvPr/>
        </p:nvSpPr>
        <p:spPr>
          <a:xfrm>
            <a:off x="4389120" y="1783080"/>
            <a:ext cx="3127248" cy="1216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10ED47-7543-47E0-9722-F6EABF99DA1E}"/>
              </a:ext>
            </a:extLst>
          </p:cNvPr>
          <p:cNvSpPr>
            <a:spLocks noGrp="1"/>
          </p:cNvSpPr>
          <p:nvPr/>
        </p:nvSpPr>
        <p:spPr>
          <a:xfrm>
            <a:off x="4389120" y="1783080"/>
            <a:ext cx="50292" cy="121615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F15638-AE82-4300-AA2A-851D21CD25C3}"/>
              </a:ext>
            </a:extLst>
          </p:cNvPr>
          <p:cNvSpPr>
            <a:spLocks noGrp="1"/>
          </p:cNvSpPr>
          <p:nvPr/>
        </p:nvSpPr>
        <p:spPr>
          <a:xfrm>
            <a:off x="4544568" y="1911095"/>
            <a:ext cx="28529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24805B-F538-4A4D-9456-634952E5A9D7}"/>
              </a:ext>
            </a:extLst>
          </p:cNvPr>
          <p:cNvSpPr>
            <a:spLocks noGrp="1"/>
          </p:cNvSpPr>
          <p:nvPr/>
        </p:nvSpPr>
        <p:spPr>
          <a:xfrm>
            <a:off x="4544568" y="2203704"/>
            <a:ext cx="2852928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[4개사 중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상대적으로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유리한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그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성장·수익성·해자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관점에서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D5B7E1D-4CF4-492D-8088-8D5A7E199D4B}"/>
              </a:ext>
            </a:extLst>
          </p:cNvPr>
          <p:cNvSpPr>
            <a:spLocks noGrp="1"/>
          </p:cNvSpPr>
          <p:nvPr/>
        </p:nvSpPr>
        <p:spPr>
          <a:xfrm>
            <a:off x="7845552" y="1783080"/>
            <a:ext cx="3127248" cy="1216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CC6F605-C499-464A-9622-A39A736E5AF1}"/>
              </a:ext>
            </a:extLst>
          </p:cNvPr>
          <p:cNvSpPr>
            <a:spLocks noGrp="1"/>
          </p:cNvSpPr>
          <p:nvPr/>
        </p:nvSpPr>
        <p:spPr>
          <a:xfrm>
            <a:off x="7845552" y="1783080"/>
            <a:ext cx="50292" cy="121615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CC901F-5A23-4786-9E4D-A554146ADA66}"/>
              </a:ext>
            </a:extLst>
          </p:cNvPr>
          <p:cNvSpPr>
            <a:spLocks noGrp="1"/>
          </p:cNvSpPr>
          <p:nvPr/>
        </p:nvSpPr>
        <p:spPr>
          <a:xfrm>
            <a:off x="8001000" y="1911095"/>
            <a:ext cx="28529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D48933-74DB-4DAD-A54D-F0626E529C2D}"/>
              </a:ext>
            </a:extLst>
          </p:cNvPr>
          <p:cNvSpPr>
            <a:spLocks noGrp="1"/>
          </p:cNvSpPr>
          <p:nvPr/>
        </p:nvSpPr>
        <p:spPr>
          <a:xfrm>
            <a:off x="8001000" y="2203704"/>
            <a:ext cx="2852928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주가가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기대와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상승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하락을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2~3개를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F0E1A5-3F7B-458D-8E62-F01FF1625E5B}"/>
              </a:ext>
            </a:extLst>
          </p:cNvPr>
          <p:cNvSpPr>
            <a:spLocks noGrp="1"/>
          </p:cNvSpPr>
          <p:nvPr/>
        </p:nvSpPr>
        <p:spPr>
          <a:xfrm>
            <a:off x="932688" y="32461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ko-KR" altLang="en-US"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1E0C67-4E02-4C29-947D-B56553AB071B}"/>
              </a:ext>
            </a:extLst>
          </p:cNvPr>
          <p:cNvSpPr>
            <a:spLocks noGrp="1"/>
          </p:cNvSpPr>
          <p:nvPr/>
        </p:nvSpPr>
        <p:spPr>
          <a:xfrm>
            <a:off x="932688" y="3483863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E629E7C3-8A0B-48A3-AA7E-30EB76BB890B}"/>
              </a:ext>
            </a:extLst>
          </p:cNvPr>
          <p:cNvSpPr>
            <a:spLocks noGrp="1"/>
          </p:cNvSpPr>
          <p:nvPr/>
        </p:nvSpPr>
        <p:spPr>
          <a:xfrm>
            <a:off x="1389888" y="3495751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DC630320-9A7F-4856-93CB-1CD4E9EB380A}"/>
              </a:ext>
            </a:extLst>
          </p:cNvPr>
          <p:cNvSpPr>
            <a:spLocks noGrp="1"/>
          </p:cNvSpPr>
          <p:nvPr/>
        </p:nvSpPr>
        <p:spPr>
          <a:xfrm>
            <a:off x="932688" y="3593592"/>
            <a:ext cx="6473952" cy="22677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BF15E0-0ED2-484B-9AFE-19119674B5C9}"/>
              </a:ext>
            </a:extLst>
          </p:cNvPr>
          <p:cNvSpPr>
            <a:spLocks noGrp="1"/>
          </p:cNvSpPr>
          <p:nvPr/>
        </p:nvSpPr>
        <p:spPr>
          <a:xfrm>
            <a:off x="1133856" y="3776472"/>
            <a:ext cx="566928" cy="1677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2E54C8-E457-4BD0-A5D4-C5435DB4E8C5}"/>
              </a:ext>
            </a:extLst>
          </p:cNvPr>
          <p:cNvSpPr>
            <a:spLocks noGrp="1"/>
          </p:cNvSpPr>
          <p:nvPr/>
        </p:nvSpPr>
        <p:spPr>
          <a:xfrm>
            <a:off x="1737360" y="3721608"/>
            <a:ext cx="5330952" cy="40677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시장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성장률보다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성장의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질: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물량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믹스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중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무엇이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주도하는가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수요가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발주로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전환되는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조건과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먼저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움직이는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선행지표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밸류체인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중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협상력·진입장벽이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높은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구간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DEB5BA-C6F2-4811-8E4F-F5F73EC0CA2D}"/>
              </a:ext>
            </a:extLst>
          </p:cNvPr>
          <p:cNvSpPr>
            <a:spLocks noGrp="1"/>
          </p:cNvSpPr>
          <p:nvPr/>
        </p:nvSpPr>
        <p:spPr>
          <a:xfrm>
            <a:off x="1133856" y="4526280"/>
            <a:ext cx="566928" cy="1677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C5DC0E-422B-4F34-B5AA-CCCE934EFD27}"/>
              </a:ext>
            </a:extLst>
          </p:cNvPr>
          <p:cNvSpPr>
            <a:spLocks noGrp="1"/>
          </p:cNvSpPr>
          <p:nvPr/>
        </p:nvSpPr>
        <p:spPr>
          <a:xfrm>
            <a:off x="1737360" y="4480560"/>
            <a:ext cx="5330952" cy="40677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4개사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영위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범위는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밸류체인에서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상대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우위는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포지셔닝에서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분리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추정치와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멀티플을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같은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페이지에서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연결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최근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이슈는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어떤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숫자를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바꾸는지까지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명시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DDE0F2-31A3-49F9-A2E2-B95DFBA608E6}"/>
              </a:ext>
            </a:extLst>
          </p:cNvPr>
          <p:cNvSpPr>
            <a:spLocks noGrp="1"/>
          </p:cNvSpPr>
          <p:nvPr/>
        </p:nvSpPr>
        <p:spPr>
          <a:xfrm>
            <a:off x="1133856" y="5285232"/>
            <a:ext cx="566928" cy="1677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CC96D5-3790-47AA-B17C-621581EC4C58}"/>
              </a:ext>
            </a:extLst>
          </p:cNvPr>
          <p:cNvSpPr>
            <a:spLocks noGrp="1"/>
          </p:cNvSpPr>
          <p:nvPr/>
        </p:nvSpPr>
        <p:spPr>
          <a:xfrm>
            <a:off x="1737360" y="5230368"/>
            <a:ext cx="5330952" cy="26263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촉매와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리스크를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동일한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중요도로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배치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7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투자논리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훼손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조건을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정량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또는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명확한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사건으로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A29726E0-B963-466E-8FFF-DBF4325EC99E}"/>
              </a:ext>
            </a:extLst>
          </p:cNvPr>
          <p:cNvSpPr>
            <a:spLocks noGrp="1"/>
          </p:cNvSpPr>
          <p:nvPr/>
        </p:nvSpPr>
        <p:spPr>
          <a:xfrm>
            <a:off x="7626096" y="3593592"/>
            <a:ext cx="3456432" cy="226771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1016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6DF0BB-D41F-4864-9646-4B98A0BB4A16}"/>
              </a:ext>
            </a:extLst>
          </p:cNvPr>
          <p:cNvSpPr>
            <a:spLocks noGrp="1"/>
          </p:cNvSpPr>
          <p:nvPr/>
        </p:nvSpPr>
        <p:spPr>
          <a:xfrm>
            <a:off x="7882127" y="3822191"/>
            <a:ext cx="1417320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9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메시지</a:t>
            </a:r>
            <a:endParaRPr sz="9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3DB169-48E7-4AE8-B5AC-458841358E40}"/>
              </a:ext>
            </a:extLst>
          </p:cNvPr>
          <p:cNvSpPr>
            <a:spLocks noGrp="1"/>
          </p:cNvSpPr>
          <p:nvPr/>
        </p:nvSpPr>
        <p:spPr>
          <a:xfrm>
            <a:off x="7882127" y="4224528"/>
            <a:ext cx="2907792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“[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]의 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변화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]의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마진을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바꾸며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그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노출도가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높은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]의 [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]에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먼저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반영된다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.”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ED9306-8B3A-4B27-B53A-1CBB1A2082E2}"/>
              </a:ext>
            </a:extLst>
          </p:cNvPr>
          <p:cNvSpPr>
            <a:spLocks noGrp="1"/>
          </p:cNvSpPr>
          <p:nvPr/>
        </p:nvSpPr>
        <p:spPr>
          <a:xfrm>
            <a:off x="7882126" y="5303520"/>
            <a:ext cx="1056133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반대 근거 및 리스크</a:t>
            </a:r>
            <a:endParaRPr sz="8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AF57AC-A663-46E4-B154-25C22A1BAB07}"/>
              </a:ext>
            </a:extLst>
          </p:cNvPr>
          <p:cNvSpPr>
            <a:spLocks noGrp="1"/>
          </p:cNvSpPr>
          <p:nvPr/>
        </p:nvSpPr>
        <p:spPr>
          <a:xfrm>
            <a:off x="7870698" y="5493004"/>
            <a:ext cx="2983230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 논리를 약화시킬 수 있는 반대 근거 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 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 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 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 변수</a:t>
            </a:r>
            <a:r>
              <a:rPr lang="en-US" altLang="ko-KR"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</a:t>
            </a: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D9135B51-E30C-2C91-C4B3-EFC7178D72AB}"/>
              </a:ext>
            </a:extLst>
          </p:cNvPr>
          <p:cNvSpPr>
            <a:spLocks noGrp="1"/>
          </p:cNvSpPr>
          <p:nvPr/>
        </p:nvSpPr>
        <p:spPr>
          <a:xfrm>
            <a:off x="-9832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2714EC27-DAF0-7C71-0409-B199651739CF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4AD5FC7D-B63B-C1DD-89E1-C7450AD9224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0E35EFC1-5E58-30DA-7475-F0D921BB429E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56C42555-A514-64C9-98C3-2DDEAF4E6703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1FCA560E-C319-43A1-88FE-DECD69B4738A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F44DB527-7F00-E5A8-272E-7B3CE1382CFE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480DC29E-866D-137C-0039-1D964BF48656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28EB3412-035A-C309-ECA2-261B0941035D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D0CE8032-0DE8-7EFA-7346-DEBE2D76A59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08F768E7-0624-DE6F-69F2-977C471916D0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12208E91-5BCB-8464-FE39-3DB183954530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191EF2B4-686A-073B-B162-8710068064DD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F43F4D87-118D-49CD-0E0E-9D3A212F4B25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D15C3F-12BE-92CD-EFE2-1F30FB873B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22649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CD3BBA3-19D5-439B-8E84-28C7575C05C5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561E78-FBDE-46E2-9036-C85B151F226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B4BF33-45D8-4846-9BD4-575F84ED9111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DC156-BC06-4DA3-9175-CF2BCDCF860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B67829-55B6-4F9C-A0EE-496FBB610D2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6674F4-CF7E-4ADC-90E3-44F793461F4F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D10542-2061-4749-8441-F18F85CE1F1E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D8442E-1D0A-4253-B862-51C60B7E554F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57DEFC-4394-46F7-8E47-943A93FF5DA6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27B98-1946-47B7-AFC2-F874EBE34298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DF1A8A-F37A-40A0-9C92-E8BA612F10E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8865F5-459E-4DBE-8833-BA3DB8F2862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1B19E-642B-40F0-A511-AB50CE2E986A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6D0FDF-C9E4-4080-A4B8-463FDD669147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AE025A-8AEB-4955-A26B-59DFBE0492E9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2231136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기초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A29EC04-FAFD-4150-BB45-80030C4F9FDC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B8273805-E532-432F-941D-68AEFA0E6623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11CE14-573C-41AA-927B-779949C0ABAE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72F11CA-2924-4F12-9062-08F58BFE119A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E7FA8A-7267-4C64-BA4B-96F448FBC94E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AEEED8-F0DA-4505-9A5A-E111BA91BFAC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ECC410-6565-42D4-8D23-58AC8438CCCD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4DEA1A77-73AC-435C-A7E1-A7B9B704E632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01E8CF5-3DF2-429B-B30A-7981134514D4}"/>
              </a:ext>
            </a:extLst>
          </p:cNvPr>
          <p:cNvSpPr>
            <a:spLocks noGrp="1"/>
          </p:cNvSpPr>
          <p:nvPr/>
        </p:nvSpPr>
        <p:spPr>
          <a:xfrm>
            <a:off x="932688" y="1847088"/>
            <a:ext cx="2322576" cy="10789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F0CE96-1CAC-44DC-9F44-5C587621635C}"/>
              </a:ext>
            </a:extLst>
          </p:cNvPr>
          <p:cNvSpPr>
            <a:spLocks noGrp="1"/>
          </p:cNvSpPr>
          <p:nvPr/>
        </p:nvSpPr>
        <p:spPr>
          <a:xfrm>
            <a:off x="1078992" y="2011680"/>
            <a:ext cx="1993392" cy="1783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1.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endParaRPr sz="9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A6F16C-64EF-47D3-9B04-88C05734584C}"/>
              </a:ext>
            </a:extLst>
          </p:cNvPr>
          <p:cNvSpPr>
            <a:spLocks noGrp="1"/>
          </p:cNvSpPr>
          <p:nvPr/>
        </p:nvSpPr>
        <p:spPr>
          <a:xfrm>
            <a:off x="1078992" y="2359152"/>
            <a:ext cx="199339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산업을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문장으로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625F1E9-A771-48CD-B742-7D0524EEADCC}"/>
              </a:ext>
            </a:extLst>
          </p:cNvPr>
          <p:cNvSpPr>
            <a:spLocks noGrp="1"/>
          </p:cNvSpPr>
          <p:nvPr/>
        </p:nvSpPr>
        <p:spPr>
          <a:xfrm>
            <a:off x="3538728" y="1847088"/>
            <a:ext cx="232257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94C84C-ECD2-4D28-99AF-C738F56E8865}"/>
              </a:ext>
            </a:extLst>
          </p:cNvPr>
          <p:cNvSpPr>
            <a:spLocks noGrp="1"/>
          </p:cNvSpPr>
          <p:nvPr/>
        </p:nvSpPr>
        <p:spPr>
          <a:xfrm>
            <a:off x="3685032" y="2011680"/>
            <a:ext cx="1993392" cy="1783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2.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주요</a:t>
            </a: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수요처</a:t>
            </a:r>
            <a:endParaRPr sz="9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9F1909-E57B-47BA-B603-A70F7E43A0A8}"/>
              </a:ext>
            </a:extLst>
          </p:cNvPr>
          <p:cNvSpPr>
            <a:spLocks noGrp="1"/>
          </p:cNvSpPr>
          <p:nvPr/>
        </p:nvSpPr>
        <p:spPr>
          <a:xfrm>
            <a:off x="3685032" y="2359152"/>
            <a:ext cx="199339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[B2B / B2C / B2G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지역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고객군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8D70B6B-4F5A-45FB-8214-4BBDAF8C2D9A}"/>
              </a:ext>
            </a:extLst>
          </p:cNvPr>
          <p:cNvSpPr>
            <a:spLocks noGrp="1"/>
          </p:cNvSpPr>
          <p:nvPr/>
        </p:nvSpPr>
        <p:spPr>
          <a:xfrm>
            <a:off x="6144768" y="1847088"/>
            <a:ext cx="232257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6FFDE3-EBD2-4175-B188-37A93DF1B0C2}"/>
              </a:ext>
            </a:extLst>
          </p:cNvPr>
          <p:cNvSpPr>
            <a:spLocks noGrp="1"/>
          </p:cNvSpPr>
          <p:nvPr/>
        </p:nvSpPr>
        <p:spPr>
          <a:xfrm>
            <a:off x="6291072" y="2011680"/>
            <a:ext cx="1993392" cy="1783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3.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수익모델</a:t>
            </a:r>
            <a:endParaRPr sz="9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ADBED9-E096-450C-A166-170D732A27F2}"/>
              </a:ext>
            </a:extLst>
          </p:cNvPr>
          <p:cNvSpPr>
            <a:spLocks noGrp="1"/>
          </p:cNvSpPr>
          <p:nvPr/>
        </p:nvSpPr>
        <p:spPr>
          <a:xfrm>
            <a:off x="6291072" y="2359152"/>
            <a:ext cx="199339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구독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수수료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4F4B8DB6-5E30-4E2E-BDDF-1E22EE5FC745}"/>
              </a:ext>
            </a:extLst>
          </p:cNvPr>
          <p:cNvSpPr>
            <a:spLocks noGrp="1"/>
          </p:cNvSpPr>
          <p:nvPr/>
        </p:nvSpPr>
        <p:spPr>
          <a:xfrm>
            <a:off x="8750808" y="1847088"/>
            <a:ext cx="232257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426B68-8150-4909-8903-BB1CA9657595}"/>
              </a:ext>
            </a:extLst>
          </p:cNvPr>
          <p:cNvSpPr>
            <a:spLocks noGrp="1"/>
          </p:cNvSpPr>
          <p:nvPr/>
        </p:nvSpPr>
        <p:spPr>
          <a:xfrm>
            <a:off x="8897112" y="2011680"/>
            <a:ext cx="1993392" cy="1783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4.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endParaRPr sz="9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1E2F11-F895-473F-BC6B-AB02A3130289}"/>
              </a:ext>
            </a:extLst>
          </p:cNvPr>
          <p:cNvSpPr>
            <a:spLocks noGrp="1"/>
          </p:cNvSpPr>
          <p:nvPr/>
        </p:nvSpPr>
        <p:spPr>
          <a:xfrm>
            <a:off x="8897112" y="2359152"/>
            <a:ext cx="199339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공급능력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163B6EB-8C02-477D-A4D0-78721A267221}"/>
              </a:ext>
            </a:extLst>
          </p:cNvPr>
          <p:cNvSpPr>
            <a:spLocks noGrp="1"/>
          </p:cNvSpPr>
          <p:nvPr/>
        </p:nvSpPr>
        <p:spPr>
          <a:xfrm>
            <a:off x="932688" y="3246120"/>
            <a:ext cx="33832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A63313-3F0A-487D-A404-280BB45C84EE}"/>
              </a:ext>
            </a:extLst>
          </p:cNvPr>
          <p:cNvSpPr>
            <a:spLocks noGrp="1"/>
          </p:cNvSpPr>
          <p:nvPr/>
        </p:nvSpPr>
        <p:spPr>
          <a:xfrm>
            <a:off x="932688" y="3483863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799526BB-C482-42F7-AF2C-22BE1B5B49E0}"/>
              </a:ext>
            </a:extLst>
          </p:cNvPr>
          <p:cNvSpPr>
            <a:spLocks noGrp="1"/>
          </p:cNvSpPr>
          <p:nvPr/>
        </p:nvSpPr>
        <p:spPr>
          <a:xfrm>
            <a:off x="1389888" y="3495751"/>
            <a:ext cx="29260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449817A-EE1F-4AFC-A3BC-527D8C46AAA4}"/>
              </a:ext>
            </a:extLst>
          </p:cNvPr>
          <p:cNvSpPr>
            <a:spLocks noGrp="1"/>
          </p:cNvSpPr>
          <p:nvPr/>
        </p:nvSpPr>
        <p:spPr>
          <a:xfrm>
            <a:off x="932688" y="3611880"/>
            <a:ext cx="1371600" cy="39319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CCCEC1-BADE-45C1-A749-2FC75ADC653B}"/>
              </a:ext>
            </a:extLst>
          </p:cNvPr>
          <p:cNvSpPr>
            <a:spLocks noGrp="1"/>
          </p:cNvSpPr>
          <p:nvPr/>
        </p:nvSpPr>
        <p:spPr>
          <a:xfrm>
            <a:off x="969264" y="3729837"/>
            <a:ext cx="1298448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지표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015D241-9FB9-404D-8D23-76FC21167A7D}"/>
              </a:ext>
            </a:extLst>
          </p:cNvPr>
          <p:cNvSpPr>
            <a:spLocks noGrp="1"/>
          </p:cNvSpPr>
          <p:nvPr/>
        </p:nvSpPr>
        <p:spPr>
          <a:xfrm>
            <a:off x="2304288" y="3611880"/>
            <a:ext cx="1097280" cy="39319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8EDD30-9F7A-48B0-8C97-8F866F4F0D8A}"/>
              </a:ext>
            </a:extLst>
          </p:cNvPr>
          <p:cNvSpPr>
            <a:spLocks noGrp="1"/>
          </p:cNvSpPr>
          <p:nvPr/>
        </p:nvSpPr>
        <p:spPr>
          <a:xfrm>
            <a:off x="2340864" y="3729837"/>
            <a:ext cx="1024127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현재값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1A19EE5-0845-4117-9DB0-30608ED59B54}"/>
              </a:ext>
            </a:extLst>
          </p:cNvPr>
          <p:cNvSpPr>
            <a:spLocks noGrp="1"/>
          </p:cNvSpPr>
          <p:nvPr/>
        </p:nvSpPr>
        <p:spPr>
          <a:xfrm>
            <a:off x="3401568" y="3611880"/>
            <a:ext cx="1234440" cy="39319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59746E-A6E9-435D-8DBE-C1AD73C660F8}"/>
              </a:ext>
            </a:extLst>
          </p:cNvPr>
          <p:cNvSpPr>
            <a:spLocks noGrp="1"/>
          </p:cNvSpPr>
          <p:nvPr/>
        </p:nvSpPr>
        <p:spPr>
          <a:xfrm>
            <a:off x="3438144" y="3729837"/>
            <a:ext cx="1161288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F09B580-2DD9-48CA-B0B9-A8363231A987}"/>
              </a:ext>
            </a:extLst>
          </p:cNvPr>
          <p:cNvSpPr>
            <a:spLocks noGrp="1"/>
          </p:cNvSpPr>
          <p:nvPr/>
        </p:nvSpPr>
        <p:spPr>
          <a:xfrm>
            <a:off x="4636008" y="3611880"/>
            <a:ext cx="2825496" cy="39319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19C3AD-B312-4DE9-9247-F6834C2545D6}"/>
              </a:ext>
            </a:extLst>
          </p:cNvPr>
          <p:cNvSpPr>
            <a:spLocks noGrp="1"/>
          </p:cNvSpPr>
          <p:nvPr/>
        </p:nvSpPr>
        <p:spPr>
          <a:xfrm>
            <a:off x="4672584" y="3729837"/>
            <a:ext cx="2752344" cy="14630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2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BB16605-DE64-44FF-A319-86B5494EC82B}"/>
              </a:ext>
            </a:extLst>
          </p:cNvPr>
          <p:cNvSpPr>
            <a:spLocks noGrp="1"/>
          </p:cNvSpPr>
          <p:nvPr/>
        </p:nvSpPr>
        <p:spPr>
          <a:xfrm>
            <a:off x="932688" y="4005072"/>
            <a:ext cx="137160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1BD46C-88C8-43C1-97DA-DCE96457C321}"/>
              </a:ext>
            </a:extLst>
          </p:cNvPr>
          <p:cNvSpPr>
            <a:spLocks noGrp="1"/>
          </p:cNvSpPr>
          <p:nvPr/>
        </p:nvSpPr>
        <p:spPr>
          <a:xfrm>
            <a:off x="969264" y="4114039"/>
            <a:ext cx="129844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67A3037-4CAD-40B3-97CF-3B45A1C03CE9}"/>
              </a:ext>
            </a:extLst>
          </p:cNvPr>
          <p:cNvSpPr>
            <a:spLocks noGrp="1"/>
          </p:cNvSpPr>
          <p:nvPr/>
        </p:nvSpPr>
        <p:spPr>
          <a:xfrm>
            <a:off x="2304288" y="4005072"/>
            <a:ext cx="10972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1E785C1-87EF-4A70-99D4-7615DD8B3EEF}"/>
              </a:ext>
            </a:extLst>
          </p:cNvPr>
          <p:cNvSpPr>
            <a:spLocks noGrp="1"/>
          </p:cNvSpPr>
          <p:nvPr/>
        </p:nvSpPr>
        <p:spPr>
          <a:xfrm>
            <a:off x="2340864" y="4114039"/>
            <a:ext cx="102412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[₩00조 / $00bn]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DC77C64-027A-43BB-93FA-74442C8A77CC}"/>
              </a:ext>
            </a:extLst>
          </p:cNvPr>
          <p:cNvSpPr>
            <a:spLocks noGrp="1"/>
          </p:cNvSpPr>
          <p:nvPr/>
        </p:nvSpPr>
        <p:spPr>
          <a:xfrm>
            <a:off x="3401568" y="4005072"/>
            <a:ext cx="12344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02DD2B-BEAA-48B7-A23D-4FF424D2236C}"/>
              </a:ext>
            </a:extLst>
          </p:cNvPr>
          <p:cNvSpPr>
            <a:spLocks noGrp="1"/>
          </p:cNvSpPr>
          <p:nvPr/>
        </p:nvSpPr>
        <p:spPr>
          <a:xfrm>
            <a:off x="3438144" y="4114039"/>
            <a:ext cx="11612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기준연도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15BEE99-E840-4C5B-BBE4-0724557F0A1D}"/>
              </a:ext>
            </a:extLst>
          </p:cNvPr>
          <p:cNvSpPr>
            <a:spLocks noGrp="1"/>
          </p:cNvSpPr>
          <p:nvPr/>
        </p:nvSpPr>
        <p:spPr>
          <a:xfrm>
            <a:off x="4636008" y="4005072"/>
            <a:ext cx="2825496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775887-A732-470C-9344-BD1D6ECB5F5A}"/>
              </a:ext>
            </a:extLst>
          </p:cNvPr>
          <p:cNvSpPr>
            <a:spLocks noGrp="1"/>
          </p:cNvSpPr>
          <p:nvPr/>
        </p:nvSpPr>
        <p:spPr>
          <a:xfrm>
            <a:off x="4672584" y="4114039"/>
            <a:ext cx="2752344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32AF765-35F7-40EF-A064-3A7235B6310C}"/>
              </a:ext>
            </a:extLst>
          </p:cNvPr>
          <p:cNvSpPr>
            <a:spLocks noGrp="1"/>
          </p:cNvSpPr>
          <p:nvPr/>
        </p:nvSpPr>
        <p:spPr>
          <a:xfrm>
            <a:off x="932688" y="4398264"/>
            <a:ext cx="137160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1ADB20-B95D-4D59-AEB4-E6EDCC9A93DD}"/>
              </a:ext>
            </a:extLst>
          </p:cNvPr>
          <p:cNvSpPr>
            <a:spLocks noGrp="1"/>
          </p:cNvSpPr>
          <p:nvPr/>
        </p:nvSpPr>
        <p:spPr>
          <a:xfrm>
            <a:off x="969264" y="4507231"/>
            <a:ext cx="129844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연평균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FFFDAEC-C216-4B64-BBDB-8E700E465200}"/>
              </a:ext>
            </a:extLst>
          </p:cNvPr>
          <p:cNvSpPr>
            <a:spLocks noGrp="1"/>
          </p:cNvSpPr>
          <p:nvPr/>
        </p:nvSpPr>
        <p:spPr>
          <a:xfrm>
            <a:off x="2304288" y="4398264"/>
            <a:ext cx="109728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2B7D70-3F5A-4B8F-A03B-2D0F6A5A545B}"/>
              </a:ext>
            </a:extLst>
          </p:cNvPr>
          <p:cNvSpPr>
            <a:spLocks noGrp="1"/>
          </p:cNvSpPr>
          <p:nvPr/>
        </p:nvSpPr>
        <p:spPr>
          <a:xfrm>
            <a:off x="2340864" y="4507231"/>
            <a:ext cx="102412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8DEBCBE-D162-4DE2-8A5A-B18EBAEA7147}"/>
              </a:ext>
            </a:extLst>
          </p:cNvPr>
          <p:cNvSpPr>
            <a:spLocks noGrp="1"/>
          </p:cNvSpPr>
          <p:nvPr/>
        </p:nvSpPr>
        <p:spPr>
          <a:xfrm>
            <a:off x="3401568" y="4398264"/>
            <a:ext cx="123444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C20E31-5967-40FF-BF95-9826B162A0ED}"/>
              </a:ext>
            </a:extLst>
          </p:cNvPr>
          <p:cNvSpPr>
            <a:spLocks noGrp="1"/>
          </p:cNvSpPr>
          <p:nvPr/>
        </p:nvSpPr>
        <p:spPr>
          <a:xfrm>
            <a:off x="3438144" y="4507231"/>
            <a:ext cx="11612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[20XX~20XX]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2DA8E36-0B92-421B-890B-4151E65D7328}"/>
              </a:ext>
            </a:extLst>
          </p:cNvPr>
          <p:cNvSpPr>
            <a:spLocks noGrp="1"/>
          </p:cNvSpPr>
          <p:nvPr/>
        </p:nvSpPr>
        <p:spPr>
          <a:xfrm>
            <a:off x="4636008" y="4398264"/>
            <a:ext cx="2825496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BCE30ED-9A96-423F-95B1-1D3C5A45AC4C}"/>
              </a:ext>
            </a:extLst>
          </p:cNvPr>
          <p:cNvSpPr>
            <a:spLocks noGrp="1"/>
          </p:cNvSpPr>
          <p:nvPr/>
        </p:nvSpPr>
        <p:spPr>
          <a:xfrm>
            <a:off x="4672584" y="4507231"/>
            <a:ext cx="2752344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물량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F264D7D-719B-4485-A18B-E89585FFD978}"/>
              </a:ext>
            </a:extLst>
          </p:cNvPr>
          <p:cNvSpPr>
            <a:spLocks noGrp="1"/>
          </p:cNvSpPr>
          <p:nvPr/>
        </p:nvSpPr>
        <p:spPr>
          <a:xfrm>
            <a:off x="932688" y="4791456"/>
            <a:ext cx="137160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D74C3D-E59C-4C5B-88BA-66A42F25134B}"/>
              </a:ext>
            </a:extLst>
          </p:cNvPr>
          <p:cNvSpPr>
            <a:spLocks noGrp="1"/>
          </p:cNvSpPr>
          <p:nvPr/>
        </p:nvSpPr>
        <p:spPr>
          <a:xfrm>
            <a:off x="969264" y="4900423"/>
            <a:ext cx="129844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주요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지역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67DF5C5-EA93-4938-8E6A-637D8408064C}"/>
              </a:ext>
            </a:extLst>
          </p:cNvPr>
          <p:cNvSpPr>
            <a:spLocks noGrp="1"/>
          </p:cNvSpPr>
          <p:nvPr/>
        </p:nvSpPr>
        <p:spPr>
          <a:xfrm>
            <a:off x="2304288" y="4791456"/>
            <a:ext cx="10972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53C93F9-C941-4045-80F9-A11C27787BC9}"/>
              </a:ext>
            </a:extLst>
          </p:cNvPr>
          <p:cNvSpPr>
            <a:spLocks noGrp="1"/>
          </p:cNvSpPr>
          <p:nvPr/>
        </p:nvSpPr>
        <p:spPr>
          <a:xfrm>
            <a:off x="2340864" y="4900423"/>
            <a:ext cx="102412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한국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미국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유럽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B8C5512-235E-40C4-A83C-EB0AC751DAB1}"/>
              </a:ext>
            </a:extLst>
          </p:cNvPr>
          <p:cNvSpPr>
            <a:spLocks noGrp="1"/>
          </p:cNvSpPr>
          <p:nvPr/>
        </p:nvSpPr>
        <p:spPr>
          <a:xfrm>
            <a:off x="3401568" y="4791456"/>
            <a:ext cx="12344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CA7F6BE-4B6B-4A36-AD18-F9D8EDFAEC01}"/>
              </a:ext>
            </a:extLst>
          </p:cNvPr>
          <p:cNvSpPr>
            <a:spLocks noGrp="1"/>
          </p:cNvSpPr>
          <p:nvPr/>
        </p:nvSpPr>
        <p:spPr>
          <a:xfrm>
            <a:off x="3438144" y="4900423"/>
            <a:ext cx="11612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비중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B76FEA3-A4F7-4D02-AABD-BEA22E4707F3}"/>
              </a:ext>
            </a:extLst>
          </p:cNvPr>
          <p:cNvSpPr>
            <a:spLocks noGrp="1"/>
          </p:cNvSpPr>
          <p:nvPr/>
        </p:nvSpPr>
        <p:spPr>
          <a:xfrm>
            <a:off x="4636008" y="4791456"/>
            <a:ext cx="2825496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40E4C96-E351-4F36-96AB-BA81EF6186AD}"/>
              </a:ext>
            </a:extLst>
          </p:cNvPr>
          <p:cNvSpPr>
            <a:spLocks noGrp="1"/>
          </p:cNvSpPr>
          <p:nvPr/>
        </p:nvSpPr>
        <p:spPr>
          <a:xfrm>
            <a:off x="4672584" y="4900423"/>
            <a:ext cx="2752344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지역별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차이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D1CB60C-8935-4C55-A1E0-639349BF4E90}"/>
              </a:ext>
            </a:extLst>
          </p:cNvPr>
          <p:cNvSpPr>
            <a:spLocks noGrp="1"/>
          </p:cNvSpPr>
          <p:nvPr/>
        </p:nvSpPr>
        <p:spPr>
          <a:xfrm>
            <a:off x="932688" y="5184648"/>
            <a:ext cx="137160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1071CB-AA7A-46D9-8FB7-3C501916202B}"/>
              </a:ext>
            </a:extLst>
          </p:cNvPr>
          <p:cNvSpPr>
            <a:spLocks noGrp="1"/>
          </p:cNvSpPr>
          <p:nvPr/>
        </p:nvSpPr>
        <p:spPr>
          <a:xfrm>
            <a:off x="969264" y="5293615"/>
            <a:ext cx="129844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주요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386AA18-B85F-4E27-90F1-0EDB9EEA3301}"/>
              </a:ext>
            </a:extLst>
          </p:cNvPr>
          <p:cNvSpPr>
            <a:spLocks noGrp="1"/>
          </p:cNvSpPr>
          <p:nvPr/>
        </p:nvSpPr>
        <p:spPr>
          <a:xfrm>
            <a:off x="2304288" y="5184648"/>
            <a:ext cx="109728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A88192-7C00-4D66-B10A-7F025EA8C715}"/>
              </a:ext>
            </a:extLst>
          </p:cNvPr>
          <p:cNvSpPr>
            <a:spLocks noGrp="1"/>
          </p:cNvSpPr>
          <p:nvPr/>
        </p:nvSpPr>
        <p:spPr>
          <a:xfrm>
            <a:off x="2340864" y="5293615"/>
            <a:ext cx="102412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 / B / C]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634CE40-2B5F-420F-8B2C-B1CD248AC32B}"/>
              </a:ext>
            </a:extLst>
          </p:cNvPr>
          <p:cNvSpPr>
            <a:spLocks noGrp="1"/>
          </p:cNvSpPr>
          <p:nvPr/>
        </p:nvSpPr>
        <p:spPr>
          <a:xfrm>
            <a:off x="3401568" y="5184648"/>
            <a:ext cx="1234440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E55FE69-EEB2-4F72-8ECF-1A809BFAC179}"/>
              </a:ext>
            </a:extLst>
          </p:cNvPr>
          <p:cNvSpPr>
            <a:spLocks noGrp="1"/>
          </p:cNvSpPr>
          <p:nvPr/>
        </p:nvSpPr>
        <p:spPr>
          <a:xfrm>
            <a:off x="3438144" y="5293615"/>
            <a:ext cx="11612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[Top5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비중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5799924-AF9D-458D-9789-8DD80CF2AFB0}"/>
              </a:ext>
            </a:extLst>
          </p:cNvPr>
          <p:cNvSpPr>
            <a:spLocks noGrp="1"/>
          </p:cNvSpPr>
          <p:nvPr/>
        </p:nvSpPr>
        <p:spPr>
          <a:xfrm>
            <a:off x="4636008" y="5184648"/>
            <a:ext cx="2825496" cy="393192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EE14153-3A42-4562-AE37-1FBBC9763FC8}"/>
              </a:ext>
            </a:extLst>
          </p:cNvPr>
          <p:cNvSpPr>
            <a:spLocks noGrp="1"/>
          </p:cNvSpPr>
          <p:nvPr/>
        </p:nvSpPr>
        <p:spPr>
          <a:xfrm>
            <a:off x="4672584" y="5293615"/>
            <a:ext cx="2752344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B6D4CC5A-E453-4B96-AB05-D848A2DCE626}"/>
              </a:ext>
            </a:extLst>
          </p:cNvPr>
          <p:cNvSpPr>
            <a:spLocks noGrp="1"/>
          </p:cNvSpPr>
          <p:nvPr/>
        </p:nvSpPr>
        <p:spPr>
          <a:xfrm>
            <a:off x="7708392" y="3611880"/>
            <a:ext cx="3374136" cy="19659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72269A7-8CF0-4EF6-9AA8-4A3DE67CD451}"/>
              </a:ext>
            </a:extLst>
          </p:cNvPr>
          <p:cNvSpPr>
            <a:spLocks noGrp="1"/>
          </p:cNvSpPr>
          <p:nvPr/>
        </p:nvSpPr>
        <p:spPr>
          <a:xfrm>
            <a:off x="7955278" y="3822192"/>
            <a:ext cx="886969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9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 </a:t>
            </a:r>
            <a:r>
              <a:rPr sz="9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정리</a:t>
            </a:r>
            <a:endParaRPr sz="9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3ADC074-818C-40BE-85B3-477DAFC8C313}"/>
              </a:ext>
            </a:extLst>
          </p:cNvPr>
          <p:cNvSpPr>
            <a:spLocks noGrp="1"/>
          </p:cNvSpPr>
          <p:nvPr/>
        </p:nvSpPr>
        <p:spPr>
          <a:xfrm>
            <a:off x="7955279" y="4206240"/>
            <a:ext cx="2779776" cy="550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7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구조적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수요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: [ ]</a:t>
            </a:r>
          </a:p>
          <a:p>
            <a:pPr>
              <a:spcAft>
                <a:spcPts val="150"/>
              </a:spcAft>
              <a:buNone/>
              <a:defRPr sz="77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공급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제약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: [ ]</a:t>
            </a:r>
          </a:p>
          <a:p>
            <a:pPr>
              <a:spcAft>
                <a:spcPts val="150"/>
              </a:spcAft>
              <a:buNone/>
              <a:defRPr sz="77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이익풀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집중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: [ ]</a:t>
            </a:r>
          </a:p>
          <a:p>
            <a:pPr>
              <a:spcAft>
                <a:spcPts val="150"/>
              </a:spcAft>
              <a:buNone/>
              <a:defRPr sz="77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핵심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리스크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: [ ]</a:t>
            </a:r>
          </a:p>
        </p:txBody>
      </p:sp>
      <p:sp>
        <p:nvSpPr>
          <p:cNvPr id="101" name="Rectangle 1">
            <a:extLst>
              <a:ext uri="{FF2B5EF4-FFF2-40B4-BE49-F238E27FC236}">
                <a16:creationId xmlns:a16="http://schemas.microsoft.com/office/drawing/2014/main" id="{F2341217-6AF6-7910-F976-FE3E71FAC184}"/>
              </a:ext>
            </a:extLst>
          </p:cNvPr>
          <p:cNvSpPr>
            <a:spLocks noGrp="1"/>
          </p:cNvSpPr>
          <p:nvPr/>
        </p:nvSpPr>
        <p:spPr>
          <a:xfrm>
            <a:off x="0" y="1968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5" name="Rounded Rectangle 3">
            <a:extLst>
              <a:ext uri="{FF2B5EF4-FFF2-40B4-BE49-F238E27FC236}">
                <a16:creationId xmlns:a16="http://schemas.microsoft.com/office/drawing/2014/main" id="{9E9FF8D0-4647-BAEC-018F-2F150906E0F7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TextBox 4">
            <a:extLst>
              <a:ext uri="{FF2B5EF4-FFF2-40B4-BE49-F238E27FC236}">
                <a16:creationId xmlns:a16="http://schemas.microsoft.com/office/drawing/2014/main" id="{475F01AC-B03C-CEDF-B6F3-9F4CAE85FDB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9" name="TextBox 5">
            <a:extLst>
              <a:ext uri="{FF2B5EF4-FFF2-40B4-BE49-F238E27FC236}">
                <a16:creationId xmlns:a16="http://schemas.microsoft.com/office/drawing/2014/main" id="{44941A39-839D-6DA3-F325-DAAE26833893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1" name="TextBox 6">
            <a:extLst>
              <a:ext uri="{FF2B5EF4-FFF2-40B4-BE49-F238E27FC236}">
                <a16:creationId xmlns:a16="http://schemas.microsoft.com/office/drawing/2014/main" id="{90FD8006-27E9-C1A3-3026-EBE9FC38E605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3" name="TextBox 7">
            <a:extLst>
              <a:ext uri="{FF2B5EF4-FFF2-40B4-BE49-F238E27FC236}">
                <a16:creationId xmlns:a16="http://schemas.microsoft.com/office/drawing/2014/main" id="{48BAA7E9-30BF-9B48-4DD3-0B80F36CE09B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5" name="TextBox 8">
            <a:extLst>
              <a:ext uri="{FF2B5EF4-FFF2-40B4-BE49-F238E27FC236}">
                <a16:creationId xmlns:a16="http://schemas.microsoft.com/office/drawing/2014/main" id="{AA11E2B0-CE9F-4B26-2E2C-54150A6515E5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17" name="TextBox 9">
            <a:extLst>
              <a:ext uri="{FF2B5EF4-FFF2-40B4-BE49-F238E27FC236}">
                <a16:creationId xmlns:a16="http://schemas.microsoft.com/office/drawing/2014/main" id="{934CB708-0D30-016D-E384-C74E4D67C1CA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9" name="TextBox 10">
            <a:extLst>
              <a:ext uri="{FF2B5EF4-FFF2-40B4-BE49-F238E27FC236}">
                <a16:creationId xmlns:a16="http://schemas.microsoft.com/office/drawing/2014/main" id="{FF606AE5-500B-9B29-3893-2D560A782EFE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1" name="TextBox 11">
            <a:extLst>
              <a:ext uri="{FF2B5EF4-FFF2-40B4-BE49-F238E27FC236}">
                <a16:creationId xmlns:a16="http://schemas.microsoft.com/office/drawing/2014/main" id="{203637B0-CAA8-827D-4B7C-A47363329639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3" name="TextBox 12">
            <a:extLst>
              <a:ext uri="{FF2B5EF4-FFF2-40B4-BE49-F238E27FC236}">
                <a16:creationId xmlns:a16="http://schemas.microsoft.com/office/drawing/2014/main" id="{618E2F39-99F3-969E-67D0-7F8E32D58F5D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25" name="TextBox 13">
            <a:extLst>
              <a:ext uri="{FF2B5EF4-FFF2-40B4-BE49-F238E27FC236}">
                <a16:creationId xmlns:a16="http://schemas.microsoft.com/office/drawing/2014/main" id="{B27AEB3B-0EBE-323F-C15B-5F51BEA6F312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7" name="TextBox 14">
            <a:extLst>
              <a:ext uri="{FF2B5EF4-FFF2-40B4-BE49-F238E27FC236}">
                <a16:creationId xmlns:a16="http://schemas.microsoft.com/office/drawing/2014/main" id="{E69746A8-3878-F595-48EE-BB89656D7A30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29" name="TextBox 15">
            <a:extLst>
              <a:ext uri="{FF2B5EF4-FFF2-40B4-BE49-F238E27FC236}">
                <a16:creationId xmlns:a16="http://schemas.microsoft.com/office/drawing/2014/main" id="{E51443F7-0B06-EDB1-8A74-6BC6CFCCB3EE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15F0BF-391D-5514-4AD1-3E8D03328B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91113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22CE4D-0BEE-45FD-BC6E-4BC0D7CCA285}"/>
              </a:ext>
            </a:extLst>
          </p:cNvPr>
          <p:cNvSpPr>
            <a:spLocks noGrp="1"/>
          </p:cNvSpPr>
          <p:nvPr/>
        </p:nvSpPr>
        <p:spPr>
          <a:xfrm>
            <a:off x="0" y="1180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D64FE67-29B9-486E-8248-B4867465810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49A9C-FB2D-4C8B-ADA1-08A089127E75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F3563-95A2-49CD-BA38-B09F1E9A3B0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8706C-BC07-4754-8B2F-EC674331F952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1EF7D-4D93-4DB2-826B-66078F92490D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567789-F168-400F-A22A-5227AC0C9A6A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63EA9-241F-4686-9AAA-E1015B0A9BAF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920B38-7AF1-49C6-8B5D-3DA3AC69C11F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15BEF-671C-48F7-9A45-7D23DA47A7C3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A0BC31-BE6D-4998-8281-7B6D2D888961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5B011B-DAD2-4AFA-9020-3F29E4622C4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06630-641B-4449-92B2-05E016BB19D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CD741D-C95C-4111-B0C1-C4C677EE1141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613F71-0A0C-45E3-ADEC-716751778829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216C26-2E0C-4FD6-92C1-2E9539E74A2C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5D3203-312E-447C-AFB4-BD250C7D53B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C97AE3-51EE-4CE1-8CAE-EC0F2F29A196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87035-4DF5-4847-8915-7A253F32FCD5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E0141B-6F72-4F69-91BA-D4F79D4652D3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0EF1AE-754C-4B3F-A9F4-F0044EE2C4B2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D8C824-4D38-4768-8022-A5B400A32911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55B2FD-641F-4209-B650-757D3FDA1E2A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F79D5D-3902-4D34-9498-D16325BEEFD0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5C4C2C-114C-4417-90E2-CDA01E82922F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8AD0B0-CECE-4D7D-93F8-DD04FF8F7B48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832B76-E83F-4F2F-B4D2-42543755003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718625-F53B-473A-9702-BA81FFD4B78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BEB324-9987-4EC7-AD15-0F699792FBB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4878177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기초지식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정의와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FE913AC-725D-45F6-9C44-0BB5BB1CCDDD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4934254D-F73B-4DB2-BA41-F694DB921C7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1C3722-CA77-4113-9DEC-90D036F1ED3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2D97C0E-A190-4431-82ED-BE7534D3D59F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BEDC6A-80BE-42B5-A382-A7B89F94E222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7656E8-0753-4399-88AD-EC291CF1456B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산업의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1455B9-DF19-4CAE-901B-5C2B25E9732A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CF57E86A-754D-4DDA-A321-A602ED6BACAB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17D25AF-1DD9-4873-A818-5B70A634C805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3364992" cy="124358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81D96A-03B6-43C2-AD9A-F6D13A7DEA97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50292" cy="124358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628C71-ED43-42D4-BA6D-09ED4EC91594}"/>
              </a:ext>
            </a:extLst>
          </p:cNvPr>
          <p:cNvSpPr>
            <a:spLocks noGrp="1"/>
          </p:cNvSpPr>
          <p:nvPr/>
        </p:nvSpPr>
        <p:spPr>
          <a:xfrm>
            <a:off x="1088136" y="1883664"/>
            <a:ext cx="309067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8D98C8-4D85-44D6-888B-DCF62CDA40AF}"/>
              </a:ext>
            </a:extLst>
          </p:cNvPr>
          <p:cNvSpPr>
            <a:spLocks noGrp="1"/>
          </p:cNvSpPr>
          <p:nvPr/>
        </p:nvSpPr>
        <p:spPr>
          <a:xfrm>
            <a:off x="1088136" y="2176272"/>
            <a:ext cx="3090672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]은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]를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]를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해결하는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시장이며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원천은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이다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C126D36-77A0-4C94-A92D-1A6A4168D1BB}"/>
              </a:ext>
            </a:extLst>
          </p:cNvPr>
          <p:cNvSpPr>
            <a:spLocks noGrp="1"/>
          </p:cNvSpPr>
          <p:nvPr/>
        </p:nvSpPr>
        <p:spPr>
          <a:xfrm>
            <a:off x="4507992" y="1755648"/>
            <a:ext cx="3127248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0E37948-5C0D-4719-AE43-AB1AFE6DB755}"/>
              </a:ext>
            </a:extLst>
          </p:cNvPr>
          <p:cNvSpPr>
            <a:spLocks noGrp="1"/>
          </p:cNvSpPr>
          <p:nvPr/>
        </p:nvSpPr>
        <p:spPr>
          <a:xfrm>
            <a:off x="4507992" y="1755648"/>
            <a:ext cx="50292" cy="124358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E9370B-05CD-4EBC-9744-82802A70DC48}"/>
              </a:ext>
            </a:extLst>
          </p:cNvPr>
          <p:cNvSpPr>
            <a:spLocks noGrp="1"/>
          </p:cNvSpPr>
          <p:nvPr/>
        </p:nvSpPr>
        <p:spPr>
          <a:xfrm>
            <a:off x="4663440" y="1883664"/>
            <a:ext cx="28529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CF29BC-5FF3-42CB-A5D4-ED8302D64B5C}"/>
              </a:ext>
            </a:extLst>
          </p:cNvPr>
          <p:cNvSpPr>
            <a:spLocks noGrp="1"/>
          </p:cNvSpPr>
          <p:nvPr/>
        </p:nvSpPr>
        <p:spPr>
          <a:xfrm>
            <a:off x="4663440" y="2176272"/>
            <a:ext cx="2852928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•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
• [B]
• [C]
→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수익구조를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수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있는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영역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C1A55C24-5674-46C0-B872-FB9799931875}"/>
              </a:ext>
            </a:extLst>
          </p:cNvPr>
          <p:cNvSpPr>
            <a:spLocks noGrp="1"/>
          </p:cNvSpPr>
          <p:nvPr/>
        </p:nvSpPr>
        <p:spPr>
          <a:xfrm>
            <a:off x="7845552" y="1755648"/>
            <a:ext cx="3236976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A14B13-A180-4D1F-92BC-0271DF93F89E}"/>
              </a:ext>
            </a:extLst>
          </p:cNvPr>
          <p:cNvSpPr>
            <a:spLocks noGrp="1"/>
          </p:cNvSpPr>
          <p:nvPr/>
        </p:nvSpPr>
        <p:spPr>
          <a:xfrm>
            <a:off x="7845552" y="1755648"/>
            <a:ext cx="50292" cy="124358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88FE3D-9B3B-47DD-BEF8-2FCFCED3F656}"/>
              </a:ext>
            </a:extLst>
          </p:cNvPr>
          <p:cNvSpPr>
            <a:spLocks noGrp="1"/>
          </p:cNvSpPr>
          <p:nvPr/>
        </p:nvSpPr>
        <p:spPr>
          <a:xfrm>
            <a:off x="8001000" y="1883664"/>
            <a:ext cx="29626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0DE4E31-079A-416E-A411-8B6085AF238A}"/>
              </a:ext>
            </a:extLst>
          </p:cNvPr>
          <p:cNvSpPr>
            <a:spLocks noGrp="1"/>
          </p:cNvSpPr>
          <p:nvPr/>
        </p:nvSpPr>
        <p:spPr>
          <a:xfrm>
            <a:off x="8001000" y="2176272"/>
            <a:ext cx="2962656" cy="392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•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인접산업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
• [B]
→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문장으로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명시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3C9CCC-7295-4FDB-969B-41E8266FFB09}"/>
              </a:ext>
            </a:extLst>
          </p:cNvPr>
          <p:cNvSpPr>
            <a:spLocks noGrp="1"/>
          </p:cNvSpPr>
          <p:nvPr/>
        </p:nvSpPr>
        <p:spPr>
          <a:xfrm>
            <a:off x="932688" y="3310128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설정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83FB48-A4F4-4943-B178-95FC893DCE13}"/>
              </a:ext>
            </a:extLst>
          </p:cNvPr>
          <p:cNvSpPr>
            <a:spLocks noGrp="1"/>
          </p:cNvSpPr>
          <p:nvPr/>
        </p:nvSpPr>
        <p:spPr>
          <a:xfrm>
            <a:off x="932688" y="3547872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3CC49532-D516-4B24-898C-6E60A1876031}"/>
              </a:ext>
            </a:extLst>
          </p:cNvPr>
          <p:cNvSpPr>
            <a:spLocks noGrp="1"/>
          </p:cNvSpPr>
          <p:nvPr/>
        </p:nvSpPr>
        <p:spPr>
          <a:xfrm>
            <a:off x="1389888" y="3559759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3C3144-2583-45F9-BB8F-AB52FA2BCBBC}"/>
              </a:ext>
            </a:extLst>
          </p:cNvPr>
          <p:cNvSpPr>
            <a:spLocks noGrp="1"/>
          </p:cNvSpPr>
          <p:nvPr/>
        </p:nvSpPr>
        <p:spPr>
          <a:xfrm>
            <a:off x="932688" y="3675887"/>
            <a:ext cx="1920240" cy="4800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C25C4D-3F25-402A-8A0A-2D1E70C0400D}"/>
              </a:ext>
            </a:extLst>
          </p:cNvPr>
          <p:cNvSpPr>
            <a:spLocks noGrp="1"/>
          </p:cNvSpPr>
          <p:nvPr/>
        </p:nvSpPr>
        <p:spPr>
          <a:xfrm>
            <a:off x="969264" y="3826879"/>
            <a:ext cx="18470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질문</a:t>
            </a:r>
            <a:endParaRPr sz="73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D3F3D4D-FBDB-49A6-9BBF-9955F2C2A67E}"/>
              </a:ext>
            </a:extLst>
          </p:cNvPr>
          <p:cNvSpPr>
            <a:spLocks noGrp="1"/>
          </p:cNvSpPr>
          <p:nvPr/>
        </p:nvSpPr>
        <p:spPr>
          <a:xfrm>
            <a:off x="2852928" y="3675887"/>
            <a:ext cx="3246120" cy="4800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45ACBC-E452-4C45-B231-579ED88867AB}"/>
              </a:ext>
            </a:extLst>
          </p:cNvPr>
          <p:cNvSpPr>
            <a:spLocks noGrp="1"/>
          </p:cNvSpPr>
          <p:nvPr/>
        </p:nvSpPr>
        <p:spPr>
          <a:xfrm>
            <a:off x="2889504" y="3826879"/>
            <a:ext cx="317296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73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132F84-4D1D-4C9E-988D-EE2AFDB828D0}"/>
              </a:ext>
            </a:extLst>
          </p:cNvPr>
          <p:cNvSpPr>
            <a:spLocks noGrp="1"/>
          </p:cNvSpPr>
          <p:nvPr/>
        </p:nvSpPr>
        <p:spPr>
          <a:xfrm>
            <a:off x="6099048" y="3675887"/>
            <a:ext cx="1005840" cy="4800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E5C881-2952-4C62-AA77-EFAD40615BFA}"/>
              </a:ext>
            </a:extLst>
          </p:cNvPr>
          <p:cNvSpPr>
            <a:spLocks noGrp="1"/>
          </p:cNvSpPr>
          <p:nvPr/>
        </p:nvSpPr>
        <p:spPr>
          <a:xfrm>
            <a:off x="6135624" y="3826879"/>
            <a:ext cx="9326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73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920F7F-2998-4967-BBA6-E7FA9078C03F}"/>
              </a:ext>
            </a:extLst>
          </p:cNvPr>
          <p:cNvSpPr>
            <a:spLocks noGrp="1"/>
          </p:cNvSpPr>
          <p:nvPr/>
        </p:nvSpPr>
        <p:spPr>
          <a:xfrm>
            <a:off x="932688" y="4155948"/>
            <a:ext cx="192024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AD2D25-D0A9-48F9-B69D-F1120903A0CE}"/>
              </a:ext>
            </a:extLst>
          </p:cNvPr>
          <p:cNvSpPr>
            <a:spLocks noGrp="1"/>
          </p:cNvSpPr>
          <p:nvPr/>
        </p:nvSpPr>
        <p:spPr>
          <a:xfrm>
            <a:off x="969264" y="4304539"/>
            <a:ext cx="18470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자료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가능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?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8053842-7E83-4E8C-8562-146062661895}"/>
              </a:ext>
            </a:extLst>
          </p:cNvPr>
          <p:cNvSpPr>
            <a:spLocks noGrp="1"/>
          </p:cNvSpPr>
          <p:nvPr/>
        </p:nvSpPr>
        <p:spPr>
          <a:xfrm>
            <a:off x="2852928" y="4155948"/>
            <a:ext cx="324612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E72BD9-CB53-4232-99BD-7B03EECF2442}"/>
              </a:ext>
            </a:extLst>
          </p:cNvPr>
          <p:cNvSpPr>
            <a:spLocks noGrp="1"/>
          </p:cNvSpPr>
          <p:nvPr/>
        </p:nvSpPr>
        <p:spPr>
          <a:xfrm>
            <a:off x="2889504" y="4304539"/>
            <a:ext cx="317296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통계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고객자료로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2A8EF6D-BE4B-4934-BCCD-B752359F6A5D}"/>
              </a:ext>
            </a:extLst>
          </p:cNvPr>
          <p:cNvSpPr>
            <a:spLocks noGrp="1"/>
          </p:cNvSpPr>
          <p:nvPr/>
        </p:nvSpPr>
        <p:spPr>
          <a:xfrm>
            <a:off x="6099048" y="4155948"/>
            <a:ext cx="100584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A9DDD4-20CA-444B-A8FB-E3C0E541B421}"/>
              </a:ext>
            </a:extLst>
          </p:cNvPr>
          <p:cNvSpPr>
            <a:spLocks noGrp="1"/>
          </p:cNvSpPr>
          <p:nvPr/>
        </p:nvSpPr>
        <p:spPr>
          <a:xfrm>
            <a:off x="6135624" y="4304539"/>
            <a:ext cx="9326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54ED35E-7D9C-49D5-BDFD-D0035650416A}"/>
              </a:ext>
            </a:extLst>
          </p:cNvPr>
          <p:cNvSpPr>
            <a:spLocks noGrp="1"/>
          </p:cNvSpPr>
          <p:nvPr/>
        </p:nvSpPr>
        <p:spPr>
          <a:xfrm>
            <a:off x="932688" y="4636007"/>
            <a:ext cx="1920240" cy="48006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06DABE-FCDD-4924-80A2-B4FB06C0B3F8}"/>
              </a:ext>
            </a:extLst>
          </p:cNvPr>
          <p:cNvSpPr>
            <a:spLocks noGrp="1"/>
          </p:cNvSpPr>
          <p:nvPr/>
        </p:nvSpPr>
        <p:spPr>
          <a:xfrm>
            <a:off x="969264" y="4784599"/>
            <a:ext cx="18470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수익모델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가능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?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23F46A0-8DDE-4413-AB4A-58FCAD9DA0DB}"/>
              </a:ext>
            </a:extLst>
          </p:cNvPr>
          <p:cNvSpPr>
            <a:spLocks noGrp="1"/>
          </p:cNvSpPr>
          <p:nvPr/>
        </p:nvSpPr>
        <p:spPr>
          <a:xfrm>
            <a:off x="2852928" y="4636007"/>
            <a:ext cx="3246120" cy="48006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A5DB1A-B631-4483-9818-D946CEEA1830}"/>
              </a:ext>
            </a:extLst>
          </p:cNvPr>
          <p:cNvSpPr>
            <a:spLocks noGrp="1"/>
          </p:cNvSpPr>
          <p:nvPr/>
        </p:nvSpPr>
        <p:spPr>
          <a:xfrm>
            <a:off x="2889504" y="4784599"/>
            <a:ext cx="317296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누가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누구에게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무엇을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파는지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3BF72D8-726F-400C-B26E-3B221DA9970F}"/>
              </a:ext>
            </a:extLst>
          </p:cNvPr>
          <p:cNvSpPr>
            <a:spLocks noGrp="1"/>
          </p:cNvSpPr>
          <p:nvPr/>
        </p:nvSpPr>
        <p:spPr>
          <a:xfrm>
            <a:off x="6099048" y="4636007"/>
            <a:ext cx="1005840" cy="48006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BDD3A5-FC06-4AA0-954A-1549F8474586}"/>
              </a:ext>
            </a:extLst>
          </p:cNvPr>
          <p:cNvSpPr>
            <a:spLocks noGrp="1"/>
          </p:cNvSpPr>
          <p:nvPr/>
        </p:nvSpPr>
        <p:spPr>
          <a:xfrm>
            <a:off x="6135624" y="4784599"/>
            <a:ext cx="9326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CC49EE2-7018-4326-8BF7-A97E30529AA8}"/>
              </a:ext>
            </a:extLst>
          </p:cNvPr>
          <p:cNvSpPr>
            <a:spLocks noGrp="1"/>
          </p:cNvSpPr>
          <p:nvPr/>
        </p:nvSpPr>
        <p:spPr>
          <a:xfrm>
            <a:off x="932688" y="5116068"/>
            <a:ext cx="192024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62A004-BB4B-4A6B-B44C-A5FEFB1A5F0F}"/>
              </a:ext>
            </a:extLst>
          </p:cNvPr>
          <p:cNvSpPr>
            <a:spLocks noGrp="1"/>
          </p:cNvSpPr>
          <p:nvPr/>
        </p:nvSpPr>
        <p:spPr>
          <a:xfrm>
            <a:off x="969264" y="5264659"/>
            <a:ext cx="18470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4개사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가능</a:t>
            </a:r>
            <a:r>
              <a:rPr sz="7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?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05BBD9E-8414-47F0-A237-C4446492B7F0}"/>
              </a:ext>
            </a:extLst>
          </p:cNvPr>
          <p:cNvSpPr>
            <a:spLocks noGrp="1"/>
          </p:cNvSpPr>
          <p:nvPr/>
        </p:nvSpPr>
        <p:spPr>
          <a:xfrm>
            <a:off x="2852928" y="5116068"/>
            <a:ext cx="324612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853C06-D4D0-47E9-8D85-A4C18E3E5991}"/>
              </a:ext>
            </a:extLst>
          </p:cNvPr>
          <p:cNvSpPr>
            <a:spLocks noGrp="1"/>
          </p:cNvSpPr>
          <p:nvPr/>
        </p:nvSpPr>
        <p:spPr>
          <a:xfrm>
            <a:off x="2889504" y="5264659"/>
            <a:ext cx="317296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같은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회계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기준으로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DE540DD-CF99-423B-B515-8ADE373FD77C}"/>
              </a:ext>
            </a:extLst>
          </p:cNvPr>
          <p:cNvSpPr>
            <a:spLocks noGrp="1"/>
          </p:cNvSpPr>
          <p:nvPr/>
        </p:nvSpPr>
        <p:spPr>
          <a:xfrm>
            <a:off x="6099048" y="5116068"/>
            <a:ext cx="1005840" cy="4800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EF88B7D-C563-4462-9845-58E0627D34DA}"/>
              </a:ext>
            </a:extLst>
          </p:cNvPr>
          <p:cNvSpPr>
            <a:spLocks noGrp="1"/>
          </p:cNvSpPr>
          <p:nvPr/>
        </p:nvSpPr>
        <p:spPr>
          <a:xfrm>
            <a:off x="6135624" y="5264659"/>
            <a:ext cx="932688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3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3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</a:t>
            </a:r>
            <a:endParaRPr sz="73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D6D6DC86-9C88-4D92-B6B2-C781261228F8}"/>
              </a:ext>
            </a:extLst>
          </p:cNvPr>
          <p:cNvSpPr>
            <a:spLocks noGrp="1"/>
          </p:cNvSpPr>
          <p:nvPr/>
        </p:nvSpPr>
        <p:spPr>
          <a:xfrm>
            <a:off x="7342631" y="3675887"/>
            <a:ext cx="3739896" cy="19202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2DDA545-0BDE-4AD4-BB8A-A16E24185472}"/>
              </a:ext>
            </a:extLst>
          </p:cNvPr>
          <p:cNvSpPr>
            <a:spLocks noGrp="1"/>
          </p:cNvSpPr>
          <p:nvPr/>
        </p:nvSpPr>
        <p:spPr>
          <a:xfrm>
            <a:off x="7589520" y="3895344"/>
            <a:ext cx="1463040" cy="1769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r>
              <a:rPr sz="9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</a:t>
            </a:r>
            <a:r>
              <a:rPr sz="9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9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D180C3-0D30-46FB-8F65-1D921650A095}"/>
              </a:ext>
            </a:extLst>
          </p:cNvPr>
          <p:cNvSpPr>
            <a:spLocks noGrp="1"/>
          </p:cNvSpPr>
          <p:nvPr/>
        </p:nvSpPr>
        <p:spPr>
          <a:xfrm>
            <a:off x="7589520" y="4261104"/>
            <a:ext cx="3218688" cy="4108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“본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리포트는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제품군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까지를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범위로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정의한다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[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인접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영역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]은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수요에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영향을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주지만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4개사의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기여를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일관된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기준으로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비교하기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어려워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제외한다</a:t>
            </a:r>
            <a:r>
              <a:rPr sz="81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.”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78BEF42-9722-4E3D-A4F4-EA8CC1A88E1A}"/>
              </a:ext>
            </a:extLst>
          </p:cNvPr>
          <p:cNvSpPr>
            <a:spLocks noGrp="1"/>
          </p:cNvSpPr>
          <p:nvPr/>
        </p:nvSpPr>
        <p:spPr>
          <a:xfrm>
            <a:off x="7589520" y="5266944"/>
            <a:ext cx="7132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필수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5A955EB-E296-4C27-B141-CE009E5C728E}"/>
              </a:ext>
            </a:extLst>
          </p:cNvPr>
          <p:cNvSpPr>
            <a:spLocks noGrp="1"/>
          </p:cNvSpPr>
          <p:nvPr/>
        </p:nvSpPr>
        <p:spPr>
          <a:xfrm>
            <a:off x="8275320" y="5239512"/>
            <a:ext cx="248716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산업협회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정부통계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주요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사업보고서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98D9A14B-2543-31BA-37B1-B0BF301490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61198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F23AE4-3982-4415-AF42-2E8CF0C7B072}"/>
              </a:ext>
            </a:extLst>
          </p:cNvPr>
          <p:cNvSpPr>
            <a:spLocks noGrp="1"/>
          </p:cNvSpPr>
          <p:nvPr/>
        </p:nvSpPr>
        <p:spPr>
          <a:xfrm>
            <a:off x="109728" y="210312"/>
            <a:ext cx="484632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CNU
RESEARCH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6658F6-0E26-41B2-A236-56852D5A1BB5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28A791-E29B-46F0-9E26-626DFE0B5B6A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808412-5B5B-4236-BEBB-EAE9ABFFE7CF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47E1E-4616-4EA8-9143-F18E540889DF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2B5FFA-E300-42A4-BBA6-9CE99245C3F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8960A5-F3CD-4B3C-92D2-B16F4532C579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1AFEAC-79D6-4F56-B518-B456D45D7A2D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AC4895-28C3-4714-B19B-547031498248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8A0FB4-52FC-4C0E-89AA-94D27A29134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FD703A-8994-4895-8C3B-87BF5608DB10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CC4992-5F16-4820-9531-E8A369F9312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4DE482-7F04-4253-ACB6-FE5309BB7B27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360326-72BA-416E-AE24-B88F2992D3DC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07D1A8-2AE7-43E1-B701-06263C9A098F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18DDB6-2846-40C4-87D8-254F4EFEA82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3814572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lang="en-US" altLang="en-US"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8B90C13-10C9-42AE-81A3-4757D725FFB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AADCC895-C97B-46A9-81DA-682DB470E5F4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3A7FA5-159B-4E75-B2DC-5925C7136EAB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2AAFFBD-D9CA-4CE6-A758-19776C87ECEC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015BD0-F022-4C33-8316-4D3E5206EEC6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B4A9463-C767-45A6-ABDB-D1AA3C9FA975}"/>
              </a:ext>
            </a:extLst>
          </p:cNvPr>
          <p:cNvSpPr>
            <a:spLocks noGrp="1"/>
          </p:cNvSpPr>
          <p:nvPr/>
        </p:nvSpPr>
        <p:spPr>
          <a:xfrm>
            <a:off x="932688" y="1554480"/>
            <a:ext cx="4736592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6492B59-78F6-444C-84E6-84E9FC77200E}"/>
              </a:ext>
            </a:extLst>
          </p:cNvPr>
          <p:cNvSpPr>
            <a:spLocks noGrp="1"/>
          </p:cNvSpPr>
          <p:nvPr/>
        </p:nvSpPr>
        <p:spPr>
          <a:xfrm>
            <a:off x="1078992" y="169163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9D7EA8-530B-4A01-88F9-0E024ED174D1}"/>
              </a:ext>
            </a:extLst>
          </p:cNvPr>
          <p:cNvSpPr>
            <a:spLocks noGrp="1"/>
          </p:cNvSpPr>
          <p:nvPr/>
        </p:nvSpPr>
        <p:spPr>
          <a:xfrm>
            <a:off x="1133856" y="1726731"/>
            <a:ext cx="457200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418630-0CDD-4535-8D2A-9C6014796C10}"/>
              </a:ext>
            </a:extLst>
          </p:cNvPr>
          <p:cNvSpPr>
            <a:spLocks noGrp="1"/>
          </p:cNvSpPr>
          <p:nvPr/>
        </p:nvSpPr>
        <p:spPr>
          <a:xfrm>
            <a:off x="1792224" y="1700784"/>
            <a:ext cx="12984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r>
              <a:rPr sz="9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018C77-3AA8-43B9-9870-263D3FF1E703}"/>
              </a:ext>
            </a:extLst>
          </p:cNvPr>
          <p:cNvSpPr>
            <a:spLocks noGrp="1"/>
          </p:cNvSpPr>
          <p:nvPr/>
        </p:nvSpPr>
        <p:spPr>
          <a:xfrm>
            <a:off x="1097280" y="2066543"/>
            <a:ext cx="4334256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1~2줄]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FAFF32-735E-434B-9101-C0EE3DC3885A}"/>
              </a:ext>
            </a:extLst>
          </p:cNvPr>
          <p:cNvSpPr>
            <a:spLocks noGrp="1"/>
          </p:cNvSpPr>
          <p:nvPr/>
        </p:nvSpPr>
        <p:spPr>
          <a:xfrm>
            <a:off x="1097280" y="2450591"/>
            <a:ext cx="43342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수주와의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관계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6D5990-A966-4AC3-AEAE-FBA3F560C3D2}"/>
              </a:ext>
            </a:extLst>
          </p:cNvPr>
          <p:cNvSpPr>
            <a:spLocks noGrp="1"/>
          </p:cNvSpPr>
          <p:nvPr/>
        </p:nvSpPr>
        <p:spPr>
          <a:xfrm>
            <a:off x="1097280" y="2779776"/>
            <a:ext cx="43342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산식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단위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A9DDB23-F944-4374-ACA8-62E2ABE323EA}"/>
              </a:ext>
            </a:extLst>
          </p:cNvPr>
          <p:cNvSpPr>
            <a:spLocks noGrp="1"/>
          </p:cNvSpPr>
          <p:nvPr/>
        </p:nvSpPr>
        <p:spPr>
          <a:xfrm>
            <a:off x="6016752" y="1554480"/>
            <a:ext cx="4736592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4481020-C9BD-409C-AA1E-141855121C0E}"/>
              </a:ext>
            </a:extLst>
          </p:cNvPr>
          <p:cNvSpPr>
            <a:spLocks noGrp="1"/>
          </p:cNvSpPr>
          <p:nvPr/>
        </p:nvSpPr>
        <p:spPr>
          <a:xfrm>
            <a:off x="6163056" y="169163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FB5CE8-0084-4C4E-96FB-4D48218C965C}"/>
              </a:ext>
            </a:extLst>
          </p:cNvPr>
          <p:cNvSpPr>
            <a:spLocks noGrp="1"/>
          </p:cNvSpPr>
          <p:nvPr/>
        </p:nvSpPr>
        <p:spPr>
          <a:xfrm>
            <a:off x="6217920" y="1726731"/>
            <a:ext cx="457200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6C3E5C-3F0B-42C8-B725-7A856511FDDA}"/>
              </a:ext>
            </a:extLst>
          </p:cNvPr>
          <p:cNvSpPr>
            <a:spLocks noGrp="1"/>
          </p:cNvSpPr>
          <p:nvPr/>
        </p:nvSpPr>
        <p:spPr>
          <a:xfrm>
            <a:off x="6876288" y="1700784"/>
            <a:ext cx="12984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r>
              <a:rPr sz="9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1DE3FC-F411-4AD0-A2B1-F306B67E6FA3}"/>
              </a:ext>
            </a:extLst>
          </p:cNvPr>
          <p:cNvSpPr>
            <a:spLocks noGrp="1"/>
          </p:cNvSpPr>
          <p:nvPr/>
        </p:nvSpPr>
        <p:spPr>
          <a:xfrm>
            <a:off x="6181344" y="2066543"/>
            <a:ext cx="4334256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1~2줄]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8964F5-C7BF-47C9-9D1F-7A467F896AB6}"/>
              </a:ext>
            </a:extLst>
          </p:cNvPr>
          <p:cNvSpPr>
            <a:spLocks noGrp="1"/>
          </p:cNvSpPr>
          <p:nvPr/>
        </p:nvSpPr>
        <p:spPr>
          <a:xfrm>
            <a:off x="6181344" y="2450591"/>
            <a:ext cx="43342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후행지표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여부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E0D4FD-7807-4C84-B741-0B0AFE5D1C8D}"/>
              </a:ext>
            </a:extLst>
          </p:cNvPr>
          <p:cNvSpPr>
            <a:spLocks noGrp="1"/>
          </p:cNvSpPr>
          <p:nvPr/>
        </p:nvSpPr>
        <p:spPr>
          <a:xfrm>
            <a:off x="6181344" y="2779776"/>
            <a:ext cx="43342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산업자료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8012E4B-360F-4711-9124-4C0515450602}"/>
              </a:ext>
            </a:extLst>
          </p:cNvPr>
          <p:cNvSpPr>
            <a:spLocks noGrp="1"/>
          </p:cNvSpPr>
          <p:nvPr/>
        </p:nvSpPr>
        <p:spPr>
          <a:xfrm>
            <a:off x="932688" y="3474720"/>
            <a:ext cx="4736592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4E6EE1-28F3-4E10-911A-6DBBBE724449}"/>
              </a:ext>
            </a:extLst>
          </p:cNvPr>
          <p:cNvSpPr>
            <a:spLocks noGrp="1"/>
          </p:cNvSpPr>
          <p:nvPr/>
        </p:nvSpPr>
        <p:spPr>
          <a:xfrm>
            <a:off x="1078992" y="361187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C2E685-B653-4F17-A867-9A74EB37EFA6}"/>
              </a:ext>
            </a:extLst>
          </p:cNvPr>
          <p:cNvSpPr>
            <a:spLocks noGrp="1"/>
          </p:cNvSpPr>
          <p:nvPr/>
        </p:nvSpPr>
        <p:spPr>
          <a:xfrm>
            <a:off x="1133856" y="3646972"/>
            <a:ext cx="457200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2D9F80-A3FB-4556-9CCC-E518ED1938AD}"/>
              </a:ext>
            </a:extLst>
          </p:cNvPr>
          <p:cNvSpPr>
            <a:spLocks noGrp="1"/>
          </p:cNvSpPr>
          <p:nvPr/>
        </p:nvSpPr>
        <p:spPr>
          <a:xfrm>
            <a:off x="1792224" y="3621024"/>
            <a:ext cx="12984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r>
              <a:rPr sz="9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751F82-8EB4-4B86-BB87-A1E9DD88F5A6}"/>
              </a:ext>
            </a:extLst>
          </p:cNvPr>
          <p:cNvSpPr>
            <a:spLocks noGrp="1"/>
          </p:cNvSpPr>
          <p:nvPr/>
        </p:nvSpPr>
        <p:spPr>
          <a:xfrm>
            <a:off x="1097280" y="3986783"/>
            <a:ext cx="4334256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1~2줄]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873A17-2422-406F-B338-5809F1B1331F}"/>
              </a:ext>
            </a:extLst>
          </p:cNvPr>
          <p:cNvSpPr>
            <a:spLocks noGrp="1"/>
          </p:cNvSpPr>
          <p:nvPr/>
        </p:nvSpPr>
        <p:spPr>
          <a:xfrm>
            <a:off x="1097280" y="4370831"/>
            <a:ext cx="43342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경쟁력과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7B1221-7292-4DFB-9426-3D316F9CE1E9}"/>
              </a:ext>
            </a:extLst>
          </p:cNvPr>
          <p:cNvSpPr>
            <a:spLocks noGrp="1"/>
          </p:cNvSpPr>
          <p:nvPr/>
        </p:nvSpPr>
        <p:spPr>
          <a:xfrm>
            <a:off x="1097280" y="4700016"/>
            <a:ext cx="43342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기업별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차이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6EB0D68A-1D42-4DED-8BFA-CE1DEC5F4E6B}"/>
              </a:ext>
            </a:extLst>
          </p:cNvPr>
          <p:cNvSpPr>
            <a:spLocks noGrp="1"/>
          </p:cNvSpPr>
          <p:nvPr/>
        </p:nvSpPr>
        <p:spPr>
          <a:xfrm>
            <a:off x="6016752" y="3474720"/>
            <a:ext cx="4736592" cy="1591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EB492DD-CA4C-4E35-BBA4-11B4511E1FB7}"/>
              </a:ext>
            </a:extLst>
          </p:cNvPr>
          <p:cNvSpPr>
            <a:spLocks noGrp="1"/>
          </p:cNvSpPr>
          <p:nvPr/>
        </p:nvSpPr>
        <p:spPr>
          <a:xfrm>
            <a:off x="6163056" y="3611879"/>
            <a:ext cx="566928" cy="237744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344DCA-0BAE-4581-8E9C-B7BBD55C78F6}"/>
              </a:ext>
            </a:extLst>
          </p:cNvPr>
          <p:cNvSpPr>
            <a:spLocks noGrp="1"/>
          </p:cNvSpPr>
          <p:nvPr/>
        </p:nvSpPr>
        <p:spPr>
          <a:xfrm>
            <a:off x="6217920" y="3646972"/>
            <a:ext cx="457200" cy="1492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3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856F897-C13C-43BE-B11E-77FD8721FD7C}"/>
              </a:ext>
            </a:extLst>
          </p:cNvPr>
          <p:cNvSpPr>
            <a:spLocks noGrp="1"/>
          </p:cNvSpPr>
          <p:nvPr/>
        </p:nvSpPr>
        <p:spPr>
          <a:xfrm>
            <a:off x="6876288" y="3621024"/>
            <a:ext cx="129844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용어</a:t>
            </a:r>
            <a:r>
              <a:rPr sz="9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C52D28-9163-465A-A01F-4BF4F37A8363}"/>
              </a:ext>
            </a:extLst>
          </p:cNvPr>
          <p:cNvSpPr>
            <a:spLocks noGrp="1"/>
          </p:cNvSpPr>
          <p:nvPr/>
        </p:nvSpPr>
        <p:spPr>
          <a:xfrm>
            <a:off x="6181344" y="3986783"/>
            <a:ext cx="4334256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1~2줄]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AAF2B4-B322-48D9-AA52-E85D45EA3D75}"/>
              </a:ext>
            </a:extLst>
          </p:cNvPr>
          <p:cNvSpPr>
            <a:spLocks noGrp="1"/>
          </p:cNvSpPr>
          <p:nvPr/>
        </p:nvSpPr>
        <p:spPr>
          <a:xfrm>
            <a:off x="6181344" y="4370831"/>
            <a:ext cx="43342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4C4774-BD62-438F-95AF-3CB593A9A8B3}"/>
              </a:ext>
            </a:extLst>
          </p:cNvPr>
          <p:cNvSpPr>
            <a:spLocks noGrp="1"/>
          </p:cNvSpPr>
          <p:nvPr/>
        </p:nvSpPr>
        <p:spPr>
          <a:xfrm>
            <a:off x="6181344" y="4700016"/>
            <a:ext cx="43342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시 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주의점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FB383D-59A3-4F6E-B0AE-730EA189142F}"/>
              </a:ext>
            </a:extLst>
          </p:cNvPr>
          <p:cNvSpPr>
            <a:spLocks noGrp="1"/>
          </p:cNvSpPr>
          <p:nvPr/>
        </p:nvSpPr>
        <p:spPr>
          <a:xfrm>
            <a:off x="932688" y="5522976"/>
            <a:ext cx="9820656" cy="53035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117745-D094-4E02-86EF-74E997FBFA32}"/>
              </a:ext>
            </a:extLst>
          </p:cNvPr>
          <p:cNvSpPr>
            <a:spLocks noGrp="1"/>
          </p:cNvSpPr>
          <p:nvPr/>
        </p:nvSpPr>
        <p:spPr>
          <a:xfrm>
            <a:off x="1152144" y="5696712"/>
            <a:ext cx="9345168" cy="1630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관련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산업협회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표준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IR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계산식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3E26F49A-1028-CEB4-60AD-4D6F44346BEE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208CD056-293A-898C-7B40-A450FFA788F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B7A08C7E-0C91-E5C2-B8E7-2630C591622A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3DAB729B-490F-93C2-315D-3A681A7446D5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EE7727D3-FDAC-A86E-1EA2-FC8D15645F3E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97472697-91C3-C3F6-C91D-86BA53458EF5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464B4378-DF2A-5EF4-61D2-EEE6A5000512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47A214D9-5F6F-E85E-018D-B14D6387FC0C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71F2060E-4378-6F10-7EB0-80F09A08A4EB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C979D0D0-6E31-5405-D6B5-34C35C9E629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51CDDAD9-CDFE-F396-88E8-8A03A67C1728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663422F6-B899-1B52-1D34-34DD12CF8BAF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6BED51C2-C044-B31C-F0C9-42427AAC2B53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03EBCEE9-B41D-8733-A45B-09A0A879945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CE1212-26CA-FBBF-4288-147421DB4E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87215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701A92E-62C8-4D34-B753-CA3D24043D0C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09F0F6-5227-4E9F-90B1-D27C267751BA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D96190-C5D8-479B-9666-D89A1CF069B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905F8E-2354-4179-B511-0145BFD00F64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1A5477-AD7A-43AE-AD6A-00197D82556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1B45A4-362B-4841-AE77-78FF55EACF6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D134A1-43B4-4E5E-9E9D-BBF2DE2C37E5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9789D6-24F7-49E1-BC07-633B2B10B75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675CEA-314B-451C-8F49-E9B7D89A6D2A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8E12A6-4400-4868-8754-BCE76CE36E04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DFE24-DAAD-49AA-A606-D14C3B898D3B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06D8B2-655D-479D-83CF-C4729CABCAD3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9CA1E-E62F-47DA-A897-DD188B50264B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B04EEE-C219-4A58-AD44-70991C37F629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4DC739-AC66-4989-A5B9-4D26E72F734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2839212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3DD677DF-8592-4B81-9F13-17CEA8CEDDED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074CA4A1-DCAC-43F5-979F-CF89F750CFB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6EEC48-0362-4A99-A206-0A97F008A0A9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E66CD49-7114-442A-9FCC-11CB781001F5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9631D3-4E51-466C-9593-14F72926EBB9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A3AA98-887C-4372-B070-B250DAEE9962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3단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BCBC10-429A-4528-B4E6-EB4CC2B12B37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BD1B4820-AA17-457A-899B-05B31A0E4D01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21031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B348992-70A8-498D-A6FE-FA471359FB10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85270B-B3BB-43AE-879D-042F1D094E26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50292" cy="141732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5788C7-029F-484F-908F-686A3B8DD377}"/>
              </a:ext>
            </a:extLst>
          </p:cNvPr>
          <p:cNvSpPr>
            <a:spLocks noGrp="1"/>
          </p:cNvSpPr>
          <p:nvPr/>
        </p:nvSpPr>
        <p:spPr>
          <a:xfrm>
            <a:off x="1088136" y="1883664"/>
            <a:ext cx="283464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ADC610-6529-4305-962B-C256660B7463}"/>
              </a:ext>
            </a:extLst>
          </p:cNvPr>
          <p:cNvSpPr>
            <a:spLocks noGrp="1"/>
          </p:cNvSpPr>
          <p:nvPr/>
        </p:nvSpPr>
        <p:spPr>
          <a:xfrm>
            <a:off x="1088136" y="2176272"/>
            <a:ext cx="2834640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장기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방향을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설치대수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신규수주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D58A08A-6E60-420B-BEDD-AB2C4A19B04B}"/>
              </a:ext>
            </a:extLst>
          </p:cNvPr>
          <p:cNvSpPr>
            <a:spLocks noGrp="1"/>
          </p:cNvSpPr>
          <p:nvPr/>
        </p:nvSpPr>
        <p:spPr>
          <a:xfrm>
            <a:off x="4361688" y="1755648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7873098-AEA3-490C-8CEC-883F5B24F331}"/>
              </a:ext>
            </a:extLst>
          </p:cNvPr>
          <p:cNvSpPr>
            <a:spLocks noGrp="1"/>
          </p:cNvSpPr>
          <p:nvPr/>
        </p:nvSpPr>
        <p:spPr>
          <a:xfrm>
            <a:off x="4361688" y="1755648"/>
            <a:ext cx="50292" cy="141732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C9D465-09BA-4F56-984E-BB483752A07D}"/>
              </a:ext>
            </a:extLst>
          </p:cNvPr>
          <p:cNvSpPr>
            <a:spLocks noGrp="1"/>
          </p:cNvSpPr>
          <p:nvPr/>
        </p:nvSpPr>
        <p:spPr>
          <a:xfrm>
            <a:off x="4517136" y="1883664"/>
            <a:ext cx="283464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순환·정책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A8087C-F2E4-415D-A41A-8F8DF9A7CB9D}"/>
              </a:ext>
            </a:extLst>
          </p:cNvPr>
          <p:cNvSpPr>
            <a:spLocks noGrp="1"/>
          </p:cNvSpPr>
          <p:nvPr/>
        </p:nvSpPr>
        <p:spPr>
          <a:xfrm>
            <a:off x="4517136" y="2176272"/>
            <a:ext cx="2834640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금리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투자사이클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속도를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바꾸는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설비투자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D092DA5-EADB-4525-9A21-AEA4B36F20D1}"/>
              </a:ext>
            </a:extLst>
          </p:cNvPr>
          <p:cNvSpPr>
            <a:spLocks noGrp="1"/>
          </p:cNvSpPr>
          <p:nvPr/>
        </p:nvSpPr>
        <p:spPr>
          <a:xfrm>
            <a:off x="7790688" y="1755648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DD9A48-6A33-43A6-B281-2549029E7F72}"/>
              </a:ext>
            </a:extLst>
          </p:cNvPr>
          <p:cNvSpPr>
            <a:spLocks noGrp="1"/>
          </p:cNvSpPr>
          <p:nvPr/>
        </p:nvSpPr>
        <p:spPr>
          <a:xfrm>
            <a:off x="7790688" y="1755648"/>
            <a:ext cx="50292" cy="141732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270AD4-8239-4477-8626-39E7529FD924}"/>
              </a:ext>
            </a:extLst>
          </p:cNvPr>
          <p:cNvSpPr>
            <a:spLocks noGrp="1"/>
          </p:cNvSpPr>
          <p:nvPr/>
        </p:nvSpPr>
        <p:spPr>
          <a:xfrm>
            <a:off x="7946136" y="1883664"/>
            <a:ext cx="283464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교체·보완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972660-AA93-4A2C-A924-3FBC2A9BAFD9}"/>
              </a:ext>
            </a:extLst>
          </p:cNvPr>
          <p:cNvSpPr>
            <a:spLocks noGrp="1"/>
          </p:cNvSpPr>
          <p:nvPr/>
        </p:nvSpPr>
        <p:spPr>
          <a:xfrm>
            <a:off x="7946136" y="2176272"/>
            <a:ext cx="2834640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교체주기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노후화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사이클을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교체주기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660AFD-282D-46C1-812E-9B904707375F}"/>
              </a:ext>
            </a:extLst>
          </p:cNvPr>
          <p:cNvSpPr>
            <a:spLocks noGrp="1"/>
          </p:cNvSpPr>
          <p:nvPr/>
        </p:nvSpPr>
        <p:spPr>
          <a:xfrm>
            <a:off x="932688" y="3493008"/>
            <a:ext cx="31089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전환되는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C1F62D7-2D19-4BDC-BA9E-7FE21A24BCEB}"/>
              </a:ext>
            </a:extLst>
          </p:cNvPr>
          <p:cNvSpPr>
            <a:spLocks noGrp="1"/>
          </p:cNvSpPr>
          <p:nvPr/>
        </p:nvSpPr>
        <p:spPr>
          <a:xfrm>
            <a:off x="932688" y="3730752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B963DEDB-FFC3-4AB3-A0B7-08ABEA0B7F88}"/>
              </a:ext>
            </a:extLst>
          </p:cNvPr>
          <p:cNvSpPr>
            <a:spLocks noGrp="1"/>
          </p:cNvSpPr>
          <p:nvPr/>
        </p:nvSpPr>
        <p:spPr>
          <a:xfrm>
            <a:off x="1389888" y="3742639"/>
            <a:ext cx="26517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CC71893-2676-4952-A682-50A2C6761239}"/>
              </a:ext>
            </a:extLst>
          </p:cNvPr>
          <p:cNvSpPr>
            <a:spLocks noGrp="1"/>
          </p:cNvSpPr>
          <p:nvPr/>
        </p:nvSpPr>
        <p:spPr>
          <a:xfrm>
            <a:off x="932688" y="3840480"/>
            <a:ext cx="6565392" cy="448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7B6EC3-B416-4989-9C90-D2671A0A5687}"/>
              </a:ext>
            </a:extLst>
          </p:cNvPr>
          <p:cNvSpPr>
            <a:spLocks noGrp="1"/>
          </p:cNvSpPr>
          <p:nvPr/>
        </p:nvSpPr>
        <p:spPr>
          <a:xfrm>
            <a:off x="1097280" y="3959352"/>
            <a:ext cx="1243584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의사</a:t>
            </a:r>
            <a:endParaRPr sz="8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D3ABDC-6936-42BE-B8F9-EB17578B2B6B}"/>
              </a:ext>
            </a:extLst>
          </p:cNvPr>
          <p:cNvSpPr>
            <a:spLocks noGrp="1"/>
          </p:cNvSpPr>
          <p:nvPr/>
        </p:nvSpPr>
        <p:spPr>
          <a:xfrm>
            <a:off x="2304288" y="3941063"/>
            <a:ext cx="488289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고객에게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예산·필요성·규제상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허용이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존재하는가</a:t>
            </a:r>
            <a:endParaRPr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6BA3F1A-6D5A-468F-A9D8-2CACEE9F1463}"/>
              </a:ext>
            </a:extLst>
          </p:cNvPr>
          <p:cNvSpPr>
            <a:spLocks noGrp="1"/>
          </p:cNvSpPr>
          <p:nvPr/>
        </p:nvSpPr>
        <p:spPr>
          <a:xfrm>
            <a:off x="932688" y="4416552"/>
            <a:ext cx="6565392" cy="448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7F6D33C-AA52-4631-B365-3CC34F73C9BA}"/>
              </a:ext>
            </a:extLst>
          </p:cNvPr>
          <p:cNvSpPr>
            <a:spLocks noGrp="1"/>
          </p:cNvSpPr>
          <p:nvPr/>
        </p:nvSpPr>
        <p:spPr>
          <a:xfrm>
            <a:off x="1097280" y="4535424"/>
            <a:ext cx="1243584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제약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해소</a:t>
            </a:r>
            <a:endParaRPr sz="8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584004-B54B-40BC-864A-B6074C609927}"/>
              </a:ext>
            </a:extLst>
          </p:cNvPr>
          <p:cNvSpPr>
            <a:spLocks noGrp="1"/>
          </p:cNvSpPr>
          <p:nvPr/>
        </p:nvSpPr>
        <p:spPr>
          <a:xfrm>
            <a:off x="2304288" y="4517136"/>
            <a:ext cx="488289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생산능력·납기·가격·인허가가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전환을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막지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않는가</a:t>
            </a:r>
            <a:endParaRPr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AD5FF76-EB54-43CA-8ABC-59920399DB74}"/>
              </a:ext>
            </a:extLst>
          </p:cNvPr>
          <p:cNvSpPr>
            <a:spLocks noGrp="1"/>
          </p:cNvSpPr>
          <p:nvPr/>
        </p:nvSpPr>
        <p:spPr>
          <a:xfrm>
            <a:off x="932688" y="4992624"/>
            <a:ext cx="6565392" cy="448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DBCD71-89BF-4518-B0B1-E87DA9FDB006}"/>
              </a:ext>
            </a:extLst>
          </p:cNvPr>
          <p:cNvSpPr>
            <a:spLocks noGrp="1"/>
          </p:cNvSpPr>
          <p:nvPr/>
        </p:nvSpPr>
        <p:spPr>
          <a:xfrm>
            <a:off x="1097280" y="5111496"/>
            <a:ext cx="1243584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반복성</a:t>
            </a:r>
            <a:endParaRPr sz="8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F3EBD7-C4F3-4E82-A499-D3F227C06899}"/>
              </a:ext>
            </a:extLst>
          </p:cNvPr>
          <p:cNvSpPr>
            <a:spLocks noGrp="1"/>
          </p:cNvSpPr>
          <p:nvPr/>
        </p:nvSpPr>
        <p:spPr>
          <a:xfrm>
            <a:off x="2304288" y="5093207"/>
            <a:ext cx="488289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일회성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이벤트가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아니라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추가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주문으로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이어지는가</a:t>
            </a:r>
            <a:endParaRPr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7CA6A5EA-65BB-4FAB-988C-05E60966350D}"/>
              </a:ext>
            </a:extLst>
          </p:cNvPr>
          <p:cNvSpPr>
            <a:spLocks noGrp="1"/>
          </p:cNvSpPr>
          <p:nvPr/>
        </p:nvSpPr>
        <p:spPr>
          <a:xfrm>
            <a:off x="7754112" y="3840480"/>
            <a:ext cx="3328416" cy="16002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67AA789-59CB-4BDF-9250-D4800C7DCF0A}"/>
              </a:ext>
            </a:extLst>
          </p:cNvPr>
          <p:cNvSpPr>
            <a:spLocks noGrp="1"/>
          </p:cNvSpPr>
          <p:nvPr/>
        </p:nvSpPr>
        <p:spPr>
          <a:xfrm>
            <a:off x="7991856" y="4087368"/>
            <a:ext cx="1417320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설명형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</a:t>
            </a:r>
            <a:endParaRPr sz="8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F560EE-8440-4F7B-80B7-E89D7B455669}"/>
              </a:ext>
            </a:extLst>
          </p:cNvPr>
          <p:cNvSpPr>
            <a:spLocks noGrp="1"/>
          </p:cNvSpPr>
          <p:nvPr/>
        </p:nvSpPr>
        <p:spPr>
          <a:xfrm>
            <a:off x="7991856" y="4425696"/>
            <a:ext cx="2798064" cy="4108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“[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동인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방향을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만들고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순환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속도를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조절하며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매출은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]과 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제약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충족될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때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발생한다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.”</a:t>
            </a: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BCB46F11-C5AC-1EB9-8681-6581B74DA64A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6D0F6395-72BE-EA20-A405-1C676C03207C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B972BFB7-28A4-4B15-ABE6-594F27D671B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9AA4C0F3-C5B6-3A6C-FD4F-B623F4618AD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108FA600-9132-414C-65B2-2E1BF60FD9E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A968560F-43B3-0F3B-AA06-A4A03CBD84A0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299AE5A9-01D8-622A-6F3D-6A9A611245A4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261F9040-2360-62EB-CF54-33CE0BE44F5F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6DEDC5F1-30CC-9439-7693-AB4F6035F8A4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79E000DF-0D07-274F-D279-30A970988A8A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7492F322-D326-5CF3-8C20-BAFCB07E2A44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90A3AC83-3C5C-3089-E3F1-C6613CA7006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59907D98-A8DC-8F16-B1B1-C0048AFF93A0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06CFAA13-66D6-E962-26B3-174C74F71768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A8A891-5F12-C692-141A-0DA8D7F0D3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73505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07126FB-13A7-435A-AF37-36122F14B7DD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A58D42-5D83-4676-AA92-83A6C8DF8781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9F45D-A33F-425A-9F21-9861196A15C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F6E4AC-B926-4511-911C-4B275500C3F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CA9F1D-56A4-41FA-B627-B9CECA8659BD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2D9FF0-EB30-43BB-A3BE-96543BC05217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DE6878-C69A-4DD9-AA89-6A0987D7E428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546E39-0557-430E-8BFA-035865847565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6AF562-386D-4F08-9E45-4D9BE2F037C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80C4A2-07E5-4EBF-A0BF-43075FC5D81A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9C3137-907F-4761-AE2B-DABF9ACF6B9A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450EFD-AD6C-4970-8724-A38B41106587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22BCE5-DD18-4740-A3B9-F4B82C708C54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566DB4-B7BE-4362-B139-0E72F13B430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640113-29F7-4066-94EC-FDB045914EC2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2679192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9812594F-F943-42A3-9823-0FB454A892E3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D120D42-3B43-4F11-9799-9C04774FD913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04D52-851E-4F1C-93F5-295F6D909D81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798F5DA-7A0A-4D33-B0BD-77B540E0AEC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720E08-1796-40F6-8B2F-6F726A4B1746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4A840C-377F-492A-918A-81AC4E81C792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도식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88C3F8-52C5-48E3-A4AA-E37387AEE6BD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35CE3F39-85B9-4D07-B0C5-3B68163FA71F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E6E3BCF-6748-430D-BE29-99D2D7A90342}"/>
              </a:ext>
            </a:extLst>
          </p:cNvPr>
          <p:cNvSpPr>
            <a:spLocks noGrp="1"/>
          </p:cNvSpPr>
          <p:nvPr/>
        </p:nvSpPr>
        <p:spPr>
          <a:xfrm>
            <a:off x="932688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CD9C3A-6F4B-49BE-847B-8AC0DB8E2139}"/>
              </a:ext>
            </a:extLst>
          </p:cNvPr>
          <p:cNvSpPr>
            <a:spLocks noGrp="1"/>
          </p:cNvSpPr>
          <p:nvPr/>
        </p:nvSpPr>
        <p:spPr>
          <a:xfrm>
            <a:off x="1042416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외부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66389C-D559-4140-8DF9-B41624234D49}"/>
              </a:ext>
            </a:extLst>
          </p:cNvPr>
          <p:cNvSpPr>
            <a:spLocks noGrp="1"/>
          </p:cNvSpPr>
          <p:nvPr/>
        </p:nvSpPr>
        <p:spPr>
          <a:xfrm>
            <a:off x="1042416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정책·기술·보급률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56CF51-B40E-4033-82B5-20554B141375}"/>
              </a:ext>
            </a:extLst>
          </p:cNvPr>
          <p:cNvSpPr>
            <a:spLocks noGrp="1"/>
          </p:cNvSpPr>
          <p:nvPr/>
        </p:nvSpPr>
        <p:spPr>
          <a:xfrm>
            <a:off x="2560320" y="2148840"/>
            <a:ext cx="228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AD83232-7BE6-4C67-8AB4-3F0D4CF446AB}"/>
              </a:ext>
            </a:extLst>
          </p:cNvPr>
          <p:cNvSpPr>
            <a:spLocks noGrp="1"/>
          </p:cNvSpPr>
          <p:nvPr/>
        </p:nvSpPr>
        <p:spPr>
          <a:xfrm>
            <a:off x="2871216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D4D127-29CD-4A91-891B-1FB2778ECC3A}"/>
              </a:ext>
            </a:extLst>
          </p:cNvPr>
          <p:cNvSpPr>
            <a:spLocks noGrp="1"/>
          </p:cNvSpPr>
          <p:nvPr/>
        </p:nvSpPr>
        <p:spPr>
          <a:xfrm>
            <a:off x="2980944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475BA7-F4B0-4315-9963-1DCE3948DFF6}"/>
              </a:ext>
            </a:extLst>
          </p:cNvPr>
          <p:cNvSpPr>
            <a:spLocks noGrp="1"/>
          </p:cNvSpPr>
          <p:nvPr/>
        </p:nvSpPr>
        <p:spPr>
          <a:xfrm>
            <a:off x="2980944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생산능력·규제·인프라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FAA1E6-1E38-42D7-9CB0-A7DDAA81A474}"/>
              </a:ext>
            </a:extLst>
          </p:cNvPr>
          <p:cNvSpPr>
            <a:spLocks noGrp="1"/>
          </p:cNvSpPr>
          <p:nvPr/>
        </p:nvSpPr>
        <p:spPr>
          <a:xfrm>
            <a:off x="4498848" y="2148840"/>
            <a:ext cx="228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38E932B-D20E-4A37-9D1A-3898A8919C66}"/>
              </a:ext>
            </a:extLst>
          </p:cNvPr>
          <p:cNvSpPr>
            <a:spLocks noGrp="1"/>
          </p:cNvSpPr>
          <p:nvPr/>
        </p:nvSpPr>
        <p:spPr>
          <a:xfrm>
            <a:off x="4809744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D05311-623B-4CAF-9D4C-5FB19818930C}"/>
              </a:ext>
            </a:extLst>
          </p:cNvPr>
          <p:cNvSpPr>
            <a:spLocks noGrp="1"/>
          </p:cNvSpPr>
          <p:nvPr/>
        </p:nvSpPr>
        <p:spPr>
          <a:xfrm>
            <a:off x="4919472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행동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FCA5EF-8AFD-421F-928D-1088A41A537C}"/>
              </a:ext>
            </a:extLst>
          </p:cNvPr>
          <p:cNvSpPr>
            <a:spLocks noGrp="1"/>
          </p:cNvSpPr>
          <p:nvPr/>
        </p:nvSpPr>
        <p:spPr>
          <a:xfrm>
            <a:off x="4919472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발주·증설·재고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9389E8-997D-4334-B5CB-479CE7407A4C}"/>
              </a:ext>
            </a:extLst>
          </p:cNvPr>
          <p:cNvSpPr>
            <a:spLocks noGrp="1"/>
          </p:cNvSpPr>
          <p:nvPr/>
        </p:nvSpPr>
        <p:spPr>
          <a:xfrm>
            <a:off x="6437376" y="2148840"/>
            <a:ext cx="228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EEE51E24-725B-47B3-AAB9-762CA77F77F0}"/>
              </a:ext>
            </a:extLst>
          </p:cNvPr>
          <p:cNvSpPr>
            <a:spLocks noGrp="1"/>
          </p:cNvSpPr>
          <p:nvPr/>
        </p:nvSpPr>
        <p:spPr>
          <a:xfrm>
            <a:off x="6748272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CD9D8E-F930-4FF0-9C1D-30F61CDAF274}"/>
              </a:ext>
            </a:extLst>
          </p:cNvPr>
          <p:cNvSpPr>
            <a:spLocks noGrp="1"/>
          </p:cNvSpPr>
          <p:nvPr/>
        </p:nvSpPr>
        <p:spPr>
          <a:xfrm>
            <a:off x="6858000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BA7392-47CB-483E-9E6A-19C6E9E074D0}"/>
              </a:ext>
            </a:extLst>
          </p:cNvPr>
          <p:cNvSpPr>
            <a:spLocks noGrp="1"/>
          </p:cNvSpPr>
          <p:nvPr/>
        </p:nvSpPr>
        <p:spPr>
          <a:xfrm>
            <a:off x="6858000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1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발생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48B276-D984-4E72-A669-20755DE05496}"/>
              </a:ext>
            </a:extLst>
          </p:cNvPr>
          <p:cNvSpPr>
            <a:spLocks noGrp="1"/>
          </p:cNvSpPr>
          <p:nvPr/>
        </p:nvSpPr>
        <p:spPr>
          <a:xfrm>
            <a:off x="8375904" y="2148840"/>
            <a:ext cx="228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E213C00-6CD8-499B-91C7-A2EC13DA476B}"/>
              </a:ext>
            </a:extLst>
          </p:cNvPr>
          <p:cNvSpPr>
            <a:spLocks noGrp="1"/>
          </p:cNvSpPr>
          <p:nvPr/>
        </p:nvSpPr>
        <p:spPr>
          <a:xfrm>
            <a:off x="8686800" y="1792224"/>
            <a:ext cx="1581912" cy="106070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6E1779-4AF8-4B8D-841E-1418BFD0CC1E}"/>
              </a:ext>
            </a:extLst>
          </p:cNvPr>
          <p:cNvSpPr>
            <a:spLocks noGrp="1"/>
          </p:cNvSpPr>
          <p:nvPr/>
        </p:nvSpPr>
        <p:spPr>
          <a:xfrm>
            <a:off x="8796528" y="1984248"/>
            <a:ext cx="136245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AB8E8B-063E-4605-BA96-47E27EE6A457}"/>
              </a:ext>
            </a:extLst>
          </p:cNvPr>
          <p:cNvSpPr>
            <a:spLocks noGrp="1"/>
          </p:cNvSpPr>
          <p:nvPr/>
        </p:nvSpPr>
        <p:spPr>
          <a:xfrm>
            <a:off x="8796528" y="2350008"/>
            <a:ext cx="1362456" cy="1461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수주→매출→마진</a:t>
            </a:r>
            <a:endParaRPr sz="71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7A7E71-E63E-495C-A41F-8691F7F647C4}"/>
              </a:ext>
            </a:extLst>
          </p:cNvPr>
          <p:cNvSpPr>
            <a:spLocks noGrp="1"/>
          </p:cNvSpPr>
          <p:nvPr/>
        </p:nvSpPr>
        <p:spPr>
          <a:xfrm>
            <a:off x="932688" y="3182112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4B042A3-DE4B-4F08-80E2-7016D9820C9E}"/>
              </a:ext>
            </a:extLst>
          </p:cNvPr>
          <p:cNvSpPr>
            <a:spLocks noGrp="1"/>
          </p:cNvSpPr>
          <p:nvPr/>
        </p:nvSpPr>
        <p:spPr>
          <a:xfrm>
            <a:off x="932688" y="341985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Connector 62">
            <a:extLst>
              <a:ext uri="{FF2B5EF4-FFF2-40B4-BE49-F238E27FC236}">
                <a16:creationId xmlns:a16="http://schemas.microsoft.com/office/drawing/2014/main" id="{9DBCF1AF-7AAC-4324-A215-B0E026F82519}"/>
              </a:ext>
            </a:extLst>
          </p:cNvPr>
          <p:cNvSpPr>
            <a:spLocks noGrp="1"/>
          </p:cNvSpPr>
          <p:nvPr/>
        </p:nvSpPr>
        <p:spPr>
          <a:xfrm>
            <a:off x="1389888" y="3431743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94ACB7F-9574-44B7-8068-27BA0C74A2A0}"/>
              </a:ext>
            </a:extLst>
          </p:cNvPr>
          <p:cNvSpPr>
            <a:spLocks noGrp="1"/>
          </p:cNvSpPr>
          <p:nvPr/>
        </p:nvSpPr>
        <p:spPr>
          <a:xfrm>
            <a:off x="932688" y="3529584"/>
            <a:ext cx="610819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9E89456-21C3-43DD-B4F0-00441B1B9465}"/>
              </a:ext>
            </a:extLst>
          </p:cNvPr>
          <p:cNvSpPr>
            <a:spLocks noGrp="1"/>
          </p:cNvSpPr>
          <p:nvPr/>
        </p:nvSpPr>
        <p:spPr>
          <a:xfrm>
            <a:off x="1115568" y="3749039"/>
            <a:ext cx="822960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F7ECE5-37C5-4A36-8BE2-992ADE2DEAF3}"/>
              </a:ext>
            </a:extLst>
          </p:cNvPr>
          <p:cNvSpPr>
            <a:spLocks noGrp="1"/>
          </p:cNvSpPr>
          <p:nvPr/>
        </p:nvSpPr>
        <p:spPr>
          <a:xfrm>
            <a:off x="1170432" y="3783362"/>
            <a:ext cx="713232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WHY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D3E9A5-806F-47AD-9F94-C91750C101F4}"/>
              </a:ext>
            </a:extLst>
          </p:cNvPr>
          <p:cNvSpPr>
            <a:spLocks noGrp="1"/>
          </p:cNvSpPr>
          <p:nvPr/>
        </p:nvSpPr>
        <p:spPr>
          <a:xfrm>
            <a:off x="2048256" y="3767327"/>
            <a:ext cx="4681728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이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단계가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생기는가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입장에서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피할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수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없는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DAA31C3E-B578-4458-858F-C939F32BA0BE}"/>
              </a:ext>
            </a:extLst>
          </p:cNvPr>
          <p:cNvSpPr>
            <a:spLocks noGrp="1"/>
          </p:cNvSpPr>
          <p:nvPr/>
        </p:nvSpPr>
        <p:spPr>
          <a:xfrm>
            <a:off x="1115568" y="4270248"/>
            <a:ext cx="822960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69D030-68FB-4B66-9767-2039866EC394}"/>
              </a:ext>
            </a:extLst>
          </p:cNvPr>
          <p:cNvSpPr>
            <a:spLocks noGrp="1"/>
          </p:cNvSpPr>
          <p:nvPr/>
        </p:nvSpPr>
        <p:spPr>
          <a:xfrm>
            <a:off x="1170432" y="4304571"/>
            <a:ext cx="713232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74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D461AF-B336-4813-A061-3000BE04FE1B}"/>
              </a:ext>
            </a:extLst>
          </p:cNvPr>
          <p:cNvSpPr>
            <a:spLocks noGrp="1"/>
          </p:cNvSpPr>
          <p:nvPr/>
        </p:nvSpPr>
        <p:spPr>
          <a:xfrm>
            <a:off x="2048256" y="4288536"/>
            <a:ext cx="4681728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대표 선행지표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주문 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평균판매단가 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 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 </a:t>
            </a:r>
            <a:r>
              <a:rPr lang="ko-KR" altLang="en-US"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lang="ko-KR" altLang="en-US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실제 실적을 가장 잘 설명하는 지표</a:t>
            </a:r>
            <a:r>
              <a:rPr lang="en-US" altLang="ko-KR"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  <a:endParaRPr sz="76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33D2F05-329A-404F-A0D4-36BFC57C673B}"/>
              </a:ext>
            </a:extLst>
          </p:cNvPr>
          <p:cNvSpPr>
            <a:spLocks noGrp="1"/>
          </p:cNvSpPr>
          <p:nvPr/>
        </p:nvSpPr>
        <p:spPr>
          <a:xfrm>
            <a:off x="1115568" y="4791455"/>
            <a:ext cx="822960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996742-0A73-4CA2-80D2-F206B1EA17D1}"/>
              </a:ext>
            </a:extLst>
          </p:cNvPr>
          <p:cNvSpPr>
            <a:spLocks noGrp="1"/>
          </p:cNvSpPr>
          <p:nvPr/>
        </p:nvSpPr>
        <p:spPr>
          <a:xfrm>
            <a:off x="1170432" y="4825778"/>
            <a:ext cx="713232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4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E70046-8002-414B-B921-E2AB78C8AC22}"/>
              </a:ext>
            </a:extLst>
          </p:cNvPr>
          <p:cNvSpPr>
            <a:spLocks noGrp="1"/>
          </p:cNvSpPr>
          <p:nvPr/>
        </p:nvSpPr>
        <p:spPr>
          <a:xfrm>
            <a:off x="2048256" y="4809743"/>
            <a:ext cx="4681728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[이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깨지는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공급과잉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일정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지연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44BEB7C3-79FD-4BB9-B144-589E84151DCA}"/>
              </a:ext>
            </a:extLst>
          </p:cNvPr>
          <p:cNvSpPr>
            <a:spLocks noGrp="1"/>
          </p:cNvSpPr>
          <p:nvPr/>
        </p:nvSpPr>
        <p:spPr>
          <a:xfrm>
            <a:off x="7296912" y="3529584"/>
            <a:ext cx="3785615" cy="199339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B8FE5B-F793-4137-BF04-46875EFD17DC}"/>
              </a:ext>
            </a:extLst>
          </p:cNvPr>
          <p:cNvSpPr>
            <a:spLocks noGrp="1"/>
          </p:cNvSpPr>
          <p:nvPr/>
        </p:nvSpPr>
        <p:spPr>
          <a:xfrm>
            <a:off x="7534656" y="3767328"/>
            <a:ext cx="16002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9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9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9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F5B56C9-0A84-407E-9002-3CB64D861A67}"/>
              </a:ext>
            </a:extLst>
          </p:cNvPr>
          <p:cNvSpPr>
            <a:spLocks noGrp="1"/>
          </p:cNvSpPr>
          <p:nvPr/>
        </p:nvSpPr>
        <p:spPr>
          <a:xfrm>
            <a:off x="7534656" y="4114800"/>
            <a:ext cx="3310128" cy="2890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촉발요인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]을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만들고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고객의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행동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]이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이어지며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A/B]의 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먼저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움직인다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E02453-096F-4A26-9261-3763C3B85D7E}"/>
              </a:ext>
            </a:extLst>
          </p:cNvPr>
          <p:cNvSpPr>
            <a:spLocks noGrp="1"/>
          </p:cNvSpPr>
          <p:nvPr/>
        </p:nvSpPr>
        <p:spPr>
          <a:xfrm>
            <a:off x="7534656" y="4992624"/>
            <a:ext cx="65836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관련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D33AA2-4334-4979-B3F8-16D964B33498}"/>
              </a:ext>
            </a:extLst>
          </p:cNvPr>
          <p:cNvSpPr>
            <a:spLocks noGrp="1"/>
          </p:cNvSpPr>
          <p:nvPr/>
        </p:nvSpPr>
        <p:spPr>
          <a:xfrm>
            <a:off x="8156448" y="4965192"/>
            <a:ext cx="259689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 ·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B] ·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D]</a:t>
            </a:r>
          </a:p>
        </p:txBody>
      </p:sp>
      <p:sp>
        <p:nvSpPr>
          <p:cNvPr id="80" name="Rectangle 1">
            <a:extLst>
              <a:ext uri="{FF2B5EF4-FFF2-40B4-BE49-F238E27FC236}">
                <a16:creationId xmlns:a16="http://schemas.microsoft.com/office/drawing/2014/main" id="{F9F1CBD6-8771-8D5B-25E0-1EEC4499E909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Rounded Rectangle 3">
            <a:extLst>
              <a:ext uri="{FF2B5EF4-FFF2-40B4-BE49-F238E27FC236}">
                <a16:creationId xmlns:a16="http://schemas.microsoft.com/office/drawing/2014/main" id="{C9030BFB-F30F-C1EA-1578-4E32E7D189E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4">
            <a:extLst>
              <a:ext uri="{FF2B5EF4-FFF2-40B4-BE49-F238E27FC236}">
                <a16:creationId xmlns:a16="http://schemas.microsoft.com/office/drawing/2014/main" id="{C7F11EDB-486A-A0E3-621A-57CB5E290BF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09E86AF7-F226-DB98-C60B-A2AFC6AB60F2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6">
            <a:extLst>
              <a:ext uri="{FF2B5EF4-FFF2-40B4-BE49-F238E27FC236}">
                <a16:creationId xmlns:a16="http://schemas.microsoft.com/office/drawing/2014/main" id="{9771977F-A9EC-E327-50EE-EB08B04CBFFB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2" name="TextBox 7">
            <a:extLst>
              <a:ext uri="{FF2B5EF4-FFF2-40B4-BE49-F238E27FC236}">
                <a16:creationId xmlns:a16="http://schemas.microsoft.com/office/drawing/2014/main" id="{A1C70E37-55BB-B70E-464F-800BD11E31FB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8">
            <a:extLst>
              <a:ext uri="{FF2B5EF4-FFF2-40B4-BE49-F238E27FC236}">
                <a16:creationId xmlns:a16="http://schemas.microsoft.com/office/drawing/2014/main" id="{D338B69F-FA31-B141-A9BD-A257FBEAD56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6" name="TextBox 9">
            <a:extLst>
              <a:ext uri="{FF2B5EF4-FFF2-40B4-BE49-F238E27FC236}">
                <a16:creationId xmlns:a16="http://schemas.microsoft.com/office/drawing/2014/main" id="{D58E70F9-28BA-785B-D99B-6FEDD9B20E8C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10">
            <a:extLst>
              <a:ext uri="{FF2B5EF4-FFF2-40B4-BE49-F238E27FC236}">
                <a16:creationId xmlns:a16="http://schemas.microsoft.com/office/drawing/2014/main" id="{92CDB533-A456-265B-9EC9-01A44058753B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0" name="TextBox 11">
            <a:extLst>
              <a:ext uri="{FF2B5EF4-FFF2-40B4-BE49-F238E27FC236}">
                <a16:creationId xmlns:a16="http://schemas.microsoft.com/office/drawing/2014/main" id="{7401E304-4DFB-E4C1-F9F4-C42A6BE0EAFD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12">
            <a:extLst>
              <a:ext uri="{FF2B5EF4-FFF2-40B4-BE49-F238E27FC236}">
                <a16:creationId xmlns:a16="http://schemas.microsoft.com/office/drawing/2014/main" id="{8FB1938F-5C89-9F94-7D8D-BDF7C4C9CAD8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4" name="TextBox 13">
            <a:extLst>
              <a:ext uri="{FF2B5EF4-FFF2-40B4-BE49-F238E27FC236}">
                <a16:creationId xmlns:a16="http://schemas.microsoft.com/office/drawing/2014/main" id="{2EEE5773-26C0-C252-EA64-109E12CCBD49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4">
            <a:extLst>
              <a:ext uri="{FF2B5EF4-FFF2-40B4-BE49-F238E27FC236}">
                <a16:creationId xmlns:a16="http://schemas.microsoft.com/office/drawing/2014/main" id="{22BDD9B6-0088-6832-F894-FCE2A2CF971B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8" name="TextBox 15">
            <a:extLst>
              <a:ext uri="{FF2B5EF4-FFF2-40B4-BE49-F238E27FC236}">
                <a16:creationId xmlns:a16="http://schemas.microsoft.com/office/drawing/2014/main" id="{E8B3692A-E752-08DA-D775-4F2898F2D997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80F365-6951-C1CA-1E97-90C317B588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0254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5000C6-0643-4761-9056-F16D9EFDD5D7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D6F99-F550-45AE-B1EE-2015E369AD9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6B5D3A-FD16-4F96-8DB6-A7BC49487A1C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79DFFE-62A2-4DBA-A5F3-08A14963BDA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19BF8E-35F5-45CA-8049-60CF57C1E6F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27A1F2-6BC9-4F98-89CE-0BC8AC34BDD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3CAAF4-7D43-416F-B938-D257295A9E07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4E08A3-1038-4D7E-AB49-84F46F5B62E0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6FC37-ECDC-425D-ABFA-05AC2D9DD8D4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ECA779-9370-4DA9-8C46-EFF9E8CF0D6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AF627-EC40-496D-A83F-2475F4D5F466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5539ED-96E7-41F1-9A6E-D196622B228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3802D7-D7F7-40B8-9073-7F20ABC8B16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분기형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개요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997285-B5FC-45BF-8A80-1D65C9DAFF78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도식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137AB9-DF11-41CC-96E2-8E6021CF54E2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237276FA-9761-42AA-93E9-444BEA9F59F4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B9EAD31-60B9-498B-8522-3D7A6B38CE17}"/>
              </a:ext>
            </a:extLst>
          </p:cNvPr>
          <p:cNvSpPr>
            <a:spLocks noGrp="1"/>
          </p:cNvSpPr>
          <p:nvPr/>
        </p:nvSpPr>
        <p:spPr>
          <a:xfrm>
            <a:off x="950976" y="2377440"/>
            <a:ext cx="1417320" cy="67665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AE42E4-C7A9-4E13-A52C-4C79205F2ACA}"/>
              </a:ext>
            </a:extLst>
          </p:cNvPr>
          <p:cNvSpPr>
            <a:spLocks noGrp="1"/>
          </p:cNvSpPr>
          <p:nvPr/>
        </p:nvSpPr>
        <p:spPr>
          <a:xfrm>
            <a:off x="1115568" y="2560320"/>
            <a:ext cx="107899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증가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69CDAD-04D5-4CD7-8F84-C7B7295234F8}"/>
              </a:ext>
            </a:extLst>
          </p:cNvPr>
          <p:cNvSpPr>
            <a:spLocks noGrp="1"/>
          </p:cNvSpPr>
          <p:nvPr/>
        </p:nvSpPr>
        <p:spPr>
          <a:xfrm>
            <a:off x="2404872" y="2587752"/>
            <a:ext cx="256032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4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0FFD80E-0BAE-47CA-9D85-70E870503857}"/>
              </a:ext>
            </a:extLst>
          </p:cNvPr>
          <p:cNvSpPr>
            <a:spLocks noGrp="1"/>
          </p:cNvSpPr>
          <p:nvPr/>
        </p:nvSpPr>
        <p:spPr>
          <a:xfrm>
            <a:off x="2688336" y="2387185"/>
            <a:ext cx="1417320" cy="67665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8F7B15-A6D7-4C53-A6F1-81D5A7C3AAAE}"/>
              </a:ext>
            </a:extLst>
          </p:cNvPr>
          <p:cNvSpPr>
            <a:spLocks noGrp="1"/>
          </p:cNvSpPr>
          <p:nvPr/>
        </p:nvSpPr>
        <p:spPr>
          <a:xfrm>
            <a:off x="2834640" y="2560320"/>
            <a:ext cx="11338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/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발생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E49A75-415D-4AAE-AA78-AF7E759ACA35}"/>
              </a:ext>
            </a:extLst>
          </p:cNvPr>
          <p:cNvSpPr>
            <a:spLocks noGrp="1"/>
          </p:cNvSpPr>
          <p:nvPr/>
        </p:nvSpPr>
        <p:spPr>
          <a:xfrm>
            <a:off x="4370832" y="1600200"/>
            <a:ext cx="1371600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A.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endParaRPr sz="86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675FF22-F997-4D33-A60E-DBCDD72CFB21}"/>
              </a:ext>
            </a:extLst>
          </p:cNvPr>
          <p:cNvSpPr>
            <a:spLocks noGrp="1"/>
          </p:cNvSpPr>
          <p:nvPr/>
        </p:nvSpPr>
        <p:spPr>
          <a:xfrm>
            <a:off x="4370832" y="193852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95B210-7377-429C-8809-D257C806E336}"/>
              </a:ext>
            </a:extLst>
          </p:cNvPr>
          <p:cNvSpPr>
            <a:spLocks noGrp="1"/>
          </p:cNvSpPr>
          <p:nvPr/>
        </p:nvSpPr>
        <p:spPr>
          <a:xfrm>
            <a:off x="4462272" y="211226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E4A1B6-E7E0-4A22-BB75-EBD34D658B05}"/>
              </a:ext>
            </a:extLst>
          </p:cNvPr>
          <p:cNvSpPr>
            <a:spLocks noGrp="1"/>
          </p:cNvSpPr>
          <p:nvPr/>
        </p:nvSpPr>
        <p:spPr>
          <a:xfrm>
            <a:off x="4462272" y="240487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물리적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2F2FB0-9F71-4173-BE7F-A3A8C333BC63}"/>
              </a:ext>
            </a:extLst>
          </p:cNvPr>
          <p:cNvSpPr>
            <a:spLocks noGrp="1"/>
          </p:cNvSpPr>
          <p:nvPr/>
        </p:nvSpPr>
        <p:spPr>
          <a:xfrm>
            <a:off x="5751576" y="225856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83C68A3-A5CF-45C1-8D61-F0F1DB36F566}"/>
              </a:ext>
            </a:extLst>
          </p:cNvPr>
          <p:cNvSpPr>
            <a:spLocks noGrp="1"/>
          </p:cNvSpPr>
          <p:nvPr/>
        </p:nvSpPr>
        <p:spPr>
          <a:xfrm>
            <a:off x="5925312" y="193852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CBED6D-9312-4A93-BAB0-9ABFF90CE046}"/>
              </a:ext>
            </a:extLst>
          </p:cNvPr>
          <p:cNvSpPr>
            <a:spLocks noGrp="1"/>
          </p:cNvSpPr>
          <p:nvPr/>
        </p:nvSpPr>
        <p:spPr>
          <a:xfrm>
            <a:off x="6016752" y="211226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장비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072CAC-8C02-4B1D-8F07-D9A4092700D0}"/>
              </a:ext>
            </a:extLst>
          </p:cNvPr>
          <p:cNvSpPr>
            <a:spLocks noGrp="1"/>
          </p:cNvSpPr>
          <p:nvPr/>
        </p:nvSpPr>
        <p:spPr>
          <a:xfrm>
            <a:off x="6016752" y="240487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대형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FB2E90-A9D8-4924-BEC9-F5E37CD43BAE}"/>
              </a:ext>
            </a:extLst>
          </p:cNvPr>
          <p:cNvSpPr>
            <a:spLocks noGrp="1"/>
          </p:cNvSpPr>
          <p:nvPr/>
        </p:nvSpPr>
        <p:spPr>
          <a:xfrm>
            <a:off x="7306056" y="225856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18964FF-3F3D-4D66-9527-E6280D2AA86D}"/>
              </a:ext>
            </a:extLst>
          </p:cNvPr>
          <p:cNvSpPr>
            <a:spLocks noGrp="1"/>
          </p:cNvSpPr>
          <p:nvPr/>
        </p:nvSpPr>
        <p:spPr>
          <a:xfrm>
            <a:off x="7479792" y="193852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640C04-8217-4871-8C40-B5FCC7C138C8}"/>
              </a:ext>
            </a:extLst>
          </p:cNvPr>
          <p:cNvSpPr>
            <a:spLocks noGrp="1"/>
          </p:cNvSpPr>
          <p:nvPr/>
        </p:nvSpPr>
        <p:spPr>
          <a:xfrm>
            <a:off x="7571231" y="211226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접속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80C816-1E51-4661-9A0E-649488B4EA8F}"/>
              </a:ext>
            </a:extLst>
          </p:cNvPr>
          <p:cNvSpPr>
            <a:spLocks noGrp="1"/>
          </p:cNvSpPr>
          <p:nvPr/>
        </p:nvSpPr>
        <p:spPr>
          <a:xfrm>
            <a:off x="7571231" y="240487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8E5100-A99B-4D2A-B526-3CE755843982}"/>
              </a:ext>
            </a:extLst>
          </p:cNvPr>
          <p:cNvSpPr>
            <a:spLocks noGrp="1"/>
          </p:cNvSpPr>
          <p:nvPr/>
        </p:nvSpPr>
        <p:spPr>
          <a:xfrm>
            <a:off x="8860536" y="225856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1A75C708-5CB6-4BF8-A583-7B9420D1E2D4}"/>
              </a:ext>
            </a:extLst>
          </p:cNvPr>
          <p:cNvSpPr>
            <a:spLocks noGrp="1"/>
          </p:cNvSpPr>
          <p:nvPr/>
        </p:nvSpPr>
        <p:spPr>
          <a:xfrm>
            <a:off x="9034272" y="193852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2AB3E0-0971-4AC7-B51B-DBA4127AC1BA}"/>
              </a:ext>
            </a:extLst>
          </p:cNvPr>
          <p:cNvSpPr>
            <a:spLocks noGrp="1"/>
          </p:cNvSpPr>
          <p:nvPr/>
        </p:nvSpPr>
        <p:spPr>
          <a:xfrm>
            <a:off x="9125712" y="211226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후속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87FEFF8-B335-4C4E-80F9-2AC0794C9577}"/>
              </a:ext>
            </a:extLst>
          </p:cNvPr>
          <p:cNvSpPr>
            <a:spLocks noGrp="1"/>
          </p:cNvSpPr>
          <p:nvPr/>
        </p:nvSpPr>
        <p:spPr>
          <a:xfrm>
            <a:off x="9125712" y="240487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운영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13CA9E-183A-4E45-BAFC-ADEE4AF5DD9B}"/>
              </a:ext>
            </a:extLst>
          </p:cNvPr>
          <p:cNvSpPr>
            <a:spLocks noGrp="1"/>
          </p:cNvSpPr>
          <p:nvPr/>
        </p:nvSpPr>
        <p:spPr>
          <a:xfrm>
            <a:off x="4370832" y="3383280"/>
            <a:ext cx="1920240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B.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endParaRPr sz="86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E74F34EC-6C7D-481E-8AE5-479B3C26455E}"/>
              </a:ext>
            </a:extLst>
          </p:cNvPr>
          <p:cNvSpPr>
            <a:spLocks noGrp="1"/>
          </p:cNvSpPr>
          <p:nvPr/>
        </p:nvSpPr>
        <p:spPr>
          <a:xfrm>
            <a:off x="4370832" y="372160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37170B-197C-4701-ABDF-0BAD994A50A6}"/>
              </a:ext>
            </a:extLst>
          </p:cNvPr>
          <p:cNvSpPr>
            <a:spLocks noGrp="1"/>
          </p:cNvSpPr>
          <p:nvPr/>
        </p:nvSpPr>
        <p:spPr>
          <a:xfrm>
            <a:off x="4462272" y="389534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913CAF-772D-4097-A498-614F9F8C55AF}"/>
              </a:ext>
            </a:extLst>
          </p:cNvPr>
          <p:cNvSpPr>
            <a:spLocks noGrp="1"/>
          </p:cNvSpPr>
          <p:nvPr/>
        </p:nvSpPr>
        <p:spPr>
          <a:xfrm>
            <a:off x="4462272" y="418795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A1DD58-44CE-4F58-AFDE-CB1BC1A96B6D}"/>
              </a:ext>
            </a:extLst>
          </p:cNvPr>
          <p:cNvSpPr>
            <a:spLocks noGrp="1"/>
          </p:cNvSpPr>
          <p:nvPr/>
        </p:nvSpPr>
        <p:spPr>
          <a:xfrm>
            <a:off x="5722080" y="404164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B522D6E-7DD2-4DC1-8DBC-721E7FC8EFE7}"/>
              </a:ext>
            </a:extLst>
          </p:cNvPr>
          <p:cNvSpPr>
            <a:spLocks noGrp="1"/>
          </p:cNvSpPr>
          <p:nvPr/>
        </p:nvSpPr>
        <p:spPr>
          <a:xfrm>
            <a:off x="5925312" y="372160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04CAAF-1E48-4D60-9967-B506F5AA4FD8}"/>
              </a:ext>
            </a:extLst>
          </p:cNvPr>
          <p:cNvSpPr>
            <a:spLocks noGrp="1"/>
          </p:cNvSpPr>
          <p:nvPr/>
        </p:nvSpPr>
        <p:spPr>
          <a:xfrm>
            <a:off x="6016752" y="389534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현장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327F4DB-13BA-464B-9C18-722156E5686B}"/>
              </a:ext>
            </a:extLst>
          </p:cNvPr>
          <p:cNvSpPr>
            <a:spLocks noGrp="1"/>
          </p:cNvSpPr>
          <p:nvPr/>
        </p:nvSpPr>
        <p:spPr>
          <a:xfrm>
            <a:off x="6016752" y="418795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3FDABF-1C2F-4C92-8775-F2BB9453802D}"/>
              </a:ext>
            </a:extLst>
          </p:cNvPr>
          <p:cNvSpPr>
            <a:spLocks noGrp="1"/>
          </p:cNvSpPr>
          <p:nvPr/>
        </p:nvSpPr>
        <p:spPr>
          <a:xfrm>
            <a:off x="7276560" y="404164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438B0E00-D485-43B6-BDEA-56A7AD8C2B28}"/>
              </a:ext>
            </a:extLst>
          </p:cNvPr>
          <p:cNvSpPr>
            <a:spLocks noGrp="1"/>
          </p:cNvSpPr>
          <p:nvPr/>
        </p:nvSpPr>
        <p:spPr>
          <a:xfrm>
            <a:off x="7479792" y="3721608"/>
            <a:ext cx="1353312" cy="87782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6944D4-9ACC-43B7-9924-57E6C227EE6B}"/>
              </a:ext>
            </a:extLst>
          </p:cNvPr>
          <p:cNvSpPr>
            <a:spLocks noGrp="1"/>
          </p:cNvSpPr>
          <p:nvPr/>
        </p:nvSpPr>
        <p:spPr>
          <a:xfrm>
            <a:off x="7571231" y="3895344"/>
            <a:ext cx="117043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76A819-139F-462C-8FA1-E5C37EB62029}"/>
              </a:ext>
            </a:extLst>
          </p:cNvPr>
          <p:cNvSpPr>
            <a:spLocks noGrp="1"/>
          </p:cNvSpPr>
          <p:nvPr/>
        </p:nvSpPr>
        <p:spPr>
          <a:xfrm>
            <a:off x="7571231" y="4187952"/>
            <a:ext cx="117043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9C9D3A6-4A8F-494F-84E4-42395046F710}"/>
              </a:ext>
            </a:extLst>
          </p:cNvPr>
          <p:cNvSpPr>
            <a:spLocks noGrp="1"/>
          </p:cNvSpPr>
          <p:nvPr/>
        </p:nvSpPr>
        <p:spPr>
          <a:xfrm>
            <a:off x="8837234" y="4041648"/>
            <a:ext cx="201168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5A9A4982-BA77-4192-98A0-92A0A2BD4467}"/>
              </a:ext>
            </a:extLst>
          </p:cNvPr>
          <p:cNvSpPr>
            <a:spLocks noGrp="1"/>
          </p:cNvSpPr>
          <p:nvPr/>
        </p:nvSpPr>
        <p:spPr>
          <a:xfrm>
            <a:off x="9042532" y="3407914"/>
            <a:ext cx="1444752" cy="1207008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C6DF29-4302-4EC8-B058-9846E68FE283}"/>
              </a:ext>
            </a:extLst>
          </p:cNvPr>
          <p:cNvSpPr>
            <a:spLocks noGrp="1"/>
          </p:cNvSpPr>
          <p:nvPr/>
        </p:nvSpPr>
        <p:spPr>
          <a:xfrm>
            <a:off x="9197980" y="3627370"/>
            <a:ext cx="1115568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공통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후행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단계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C16CDD-5928-4827-9849-8A6340A8E407}"/>
              </a:ext>
            </a:extLst>
          </p:cNvPr>
          <p:cNvSpPr>
            <a:spLocks noGrp="1"/>
          </p:cNvSpPr>
          <p:nvPr/>
        </p:nvSpPr>
        <p:spPr>
          <a:xfrm>
            <a:off x="9170548" y="3974842"/>
            <a:ext cx="118872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1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전선</a:t>
            </a:r>
            <a:r>
              <a:rPr sz="7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1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케이블</a:t>
            </a:r>
            <a:r>
              <a:rPr sz="7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1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/MRO 등]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A933BC0E-A8CA-49E7-B178-97B1C91BB733}"/>
              </a:ext>
            </a:extLst>
          </p:cNvPr>
          <p:cNvSpPr>
            <a:spLocks noGrp="1"/>
          </p:cNvSpPr>
          <p:nvPr/>
        </p:nvSpPr>
        <p:spPr>
          <a:xfrm>
            <a:off x="932688" y="4983480"/>
            <a:ext cx="10003536" cy="8046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EAE60D4-8262-46E3-9D3F-6CAD1D822DFF}"/>
              </a:ext>
            </a:extLst>
          </p:cNvPr>
          <p:cNvSpPr>
            <a:spLocks noGrp="1"/>
          </p:cNvSpPr>
          <p:nvPr/>
        </p:nvSpPr>
        <p:spPr>
          <a:xfrm>
            <a:off x="1152144" y="5184648"/>
            <a:ext cx="1133856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경로별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7167E0-5E49-4468-9664-36278831A548}"/>
              </a:ext>
            </a:extLst>
          </p:cNvPr>
          <p:cNvSpPr>
            <a:spLocks noGrp="1"/>
          </p:cNvSpPr>
          <p:nvPr/>
        </p:nvSpPr>
        <p:spPr>
          <a:xfrm>
            <a:off x="1974121" y="5190803"/>
            <a:ext cx="8732520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설비투자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  ·   B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CAPEX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주문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등록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  ·  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공통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후행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설치기반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MRO]</a:t>
            </a:r>
          </a:p>
        </p:txBody>
      </p:sp>
      <p:sp>
        <p:nvSpPr>
          <p:cNvPr id="83" name="Rectangle 1">
            <a:extLst>
              <a:ext uri="{FF2B5EF4-FFF2-40B4-BE49-F238E27FC236}">
                <a16:creationId xmlns:a16="http://schemas.microsoft.com/office/drawing/2014/main" id="{AC33D55F-34FD-B2A3-1F33-42E7A28F5B87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Rounded Rectangle 3">
            <a:extLst>
              <a:ext uri="{FF2B5EF4-FFF2-40B4-BE49-F238E27FC236}">
                <a16:creationId xmlns:a16="http://schemas.microsoft.com/office/drawing/2014/main" id="{A3CF1D6B-A889-35B9-7008-A75F2EDD044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9" name="TextBox 4">
            <a:extLst>
              <a:ext uri="{FF2B5EF4-FFF2-40B4-BE49-F238E27FC236}">
                <a16:creationId xmlns:a16="http://schemas.microsoft.com/office/drawing/2014/main" id="{A4A548EA-9807-CA04-3538-7B312869945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91" name="TextBox 5">
            <a:extLst>
              <a:ext uri="{FF2B5EF4-FFF2-40B4-BE49-F238E27FC236}">
                <a16:creationId xmlns:a16="http://schemas.microsoft.com/office/drawing/2014/main" id="{6B3B7BF7-4B5C-54FA-58C7-F80C92A707D1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3" name="TextBox 6">
            <a:extLst>
              <a:ext uri="{FF2B5EF4-FFF2-40B4-BE49-F238E27FC236}">
                <a16:creationId xmlns:a16="http://schemas.microsoft.com/office/drawing/2014/main" id="{09F9D3F0-6C9A-2064-0F13-8AFBCC17012F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5" name="TextBox 7">
            <a:extLst>
              <a:ext uri="{FF2B5EF4-FFF2-40B4-BE49-F238E27FC236}">
                <a16:creationId xmlns:a16="http://schemas.microsoft.com/office/drawing/2014/main" id="{3F607776-528F-132F-A126-B2AC72BFF5C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7" name="TextBox 8">
            <a:extLst>
              <a:ext uri="{FF2B5EF4-FFF2-40B4-BE49-F238E27FC236}">
                <a16:creationId xmlns:a16="http://schemas.microsoft.com/office/drawing/2014/main" id="{63756ADF-22E0-DCDB-CFCD-D17F305FC013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9" name="TextBox 9">
            <a:extLst>
              <a:ext uri="{FF2B5EF4-FFF2-40B4-BE49-F238E27FC236}">
                <a16:creationId xmlns:a16="http://schemas.microsoft.com/office/drawing/2014/main" id="{4625A34B-9FFD-418D-6296-04584FF02076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1" name="TextBox 10">
            <a:extLst>
              <a:ext uri="{FF2B5EF4-FFF2-40B4-BE49-F238E27FC236}">
                <a16:creationId xmlns:a16="http://schemas.microsoft.com/office/drawing/2014/main" id="{0A512E5F-84F0-6A57-514B-B5C0E5A64CC9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3" name="TextBox 11">
            <a:extLst>
              <a:ext uri="{FF2B5EF4-FFF2-40B4-BE49-F238E27FC236}">
                <a16:creationId xmlns:a16="http://schemas.microsoft.com/office/drawing/2014/main" id="{80FBC63D-4A04-2446-9EFD-57A417C7F025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TextBox 12">
            <a:extLst>
              <a:ext uri="{FF2B5EF4-FFF2-40B4-BE49-F238E27FC236}">
                <a16:creationId xmlns:a16="http://schemas.microsoft.com/office/drawing/2014/main" id="{2CA039B3-47D2-CBF5-3FE7-7082DB313AA9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7" name="TextBox 13">
            <a:extLst>
              <a:ext uri="{FF2B5EF4-FFF2-40B4-BE49-F238E27FC236}">
                <a16:creationId xmlns:a16="http://schemas.microsoft.com/office/drawing/2014/main" id="{74824007-BA30-DC8C-00C4-2AF47374D3DE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9" name="TextBox 14">
            <a:extLst>
              <a:ext uri="{FF2B5EF4-FFF2-40B4-BE49-F238E27FC236}">
                <a16:creationId xmlns:a16="http://schemas.microsoft.com/office/drawing/2014/main" id="{F2CC2FEF-F7C1-7026-4F52-7D03E1F0BE41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11" name="TextBox 15">
            <a:extLst>
              <a:ext uri="{FF2B5EF4-FFF2-40B4-BE49-F238E27FC236}">
                <a16:creationId xmlns:a16="http://schemas.microsoft.com/office/drawing/2014/main" id="{951D17B6-E610-5B1D-81DF-6867859285C4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ACFA03-8B93-4872-486B-2B73554E29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23826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C17E70-1929-46C9-88A2-FE0C72F7CA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B3AF1C-D83A-4BD5-9EF4-09E679F1EBAF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334A3F-09FD-48CF-B278-ABD546BF131B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E1019-0DC6-44BF-A8BF-FCA18AEC4427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3D1A1E-8C15-48FD-A109-692BD196AB9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976753-8BA5-442B-8189-067E259019A6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6B3E8C-C8CF-4175-B1D8-A5EEA3C3841F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28B25B-4E9F-4B83-9157-B0A6CCE8C1CA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5FF7D5-31B7-4539-8B27-AD252BCC8E29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92EF4F-9874-4B5D-BFBA-BD335B822146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BC8394-AF17-40DC-9AB3-7AD6BBAEC70E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7D60D1-3A36-432C-9F13-7B2DFBFA37B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452127-660F-4CC2-874C-EA87E496B1A7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C1A98E-7416-4A4E-9147-D008DDD95D0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55F79A-BC36-4AD0-B398-FB0966E02035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6DE4D1-CD25-4A55-9413-C026C56A96EB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62CAB484-5715-4395-90A2-927F83102DE0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ABEF9249-6C63-4196-AAFC-6F171668706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48E6F2-FB92-456D-BD71-9F63DF043BED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CEB0454-A9E1-40AC-8C16-ED21261E9AF2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E4E5AE-3B19-4222-8978-2DBFEBF0FA65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B428BF-1259-483C-A29A-C2BDDAE2E15E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1920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BA2AD0-8948-40E1-9884-2EED1D79323A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62EC5DFB-4068-42FD-9998-ADAE94ED6061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46304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DAF2DDA-F837-4D20-93D5-B7DA7512E9BE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2D97EB-5122-4B31-80B1-A8157FD9F78D}"/>
              </a:ext>
            </a:extLst>
          </p:cNvPr>
          <p:cNvSpPr>
            <a:spLocks noGrp="1"/>
          </p:cNvSpPr>
          <p:nvPr/>
        </p:nvSpPr>
        <p:spPr>
          <a:xfrm>
            <a:off x="1097280" y="19293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증가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7D8F87-9FBD-43FA-AB69-39E0E350F863}"/>
              </a:ext>
            </a:extLst>
          </p:cNvPr>
          <p:cNvSpPr>
            <a:spLocks noGrp="1"/>
          </p:cNvSpPr>
          <p:nvPr/>
        </p:nvSpPr>
        <p:spPr>
          <a:xfrm>
            <a:off x="1719072" y="2414015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379A33B-752C-48CF-A8A7-8F6838145A4F}"/>
              </a:ext>
            </a:extLst>
          </p:cNvPr>
          <p:cNvSpPr>
            <a:spLocks noGrp="1"/>
          </p:cNvSpPr>
          <p:nvPr/>
        </p:nvSpPr>
        <p:spPr>
          <a:xfrm>
            <a:off x="932688" y="26700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DED88F-EBE9-4E10-A5EF-87D2304AAFDD}"/>
              </a:ext>
            </a:extLst>
          </p:cNvPr>
          <p:cNvSpPr>
            <a:spLocks noGrp="1"/>
          </p:cNvSpPr>
          <p:nvPr/>
        </p:nvSpPr>
        <p:spPr>
          <a:xfrm>
            <a:off x="1097280" y="28437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/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병목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759B83-55A6-4DC3-BFA6-5F1FAEF82D05}"/>
              </a:ext>
            </a:extLst>
          </p:cNvPr>
          <p:cNvSpPr>
            <a:spLocks noGrp="1"/>
          </p:cNvSpPr>
          <p:nvPr/>
        </p:nvSpPr>
        <p:spPr>
          <a:xfrm>
            <a:off x="1719072" y="3328415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0322A10-765D-4FCA-8B0A-25C70075533B}"/>
              </a:ext>
            </a:extLst>
          </p:cNvPr>
          <p:cNvSpPr>
            <a:spLocks noGrp="1"/>
          </p:cNvSpPr>
          <p:nvPr/>
        </p:nvSpPr>
        <p:spPr>
          <a:xfrm>
            <a:off x="932688" y="35844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24C9A0-7C3D-4FAB-BE9C-F233F033B7A0}"/>
              </a:ext>
            </a:extLst>
          </p:cNvPr>
          <p:cNvSpPr>
            <a:spLocks noGrp="1"/>
          </p:cNvSpPr>
          <p:nvPr/>
        </p:nvSpPr>
        <p:spPr>
          <a:xfrm>
            <a:off x="1097280" y="37581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08C293-52E6-433B-85CD-E0B1E3A1C7C0}"/>
              </a:ext>
            </a:extLst>
          </p:cNvPr>
          <p:cNvSpPr>
            <a:spLocks noGrp="1"/>
          </p:cNvSpPr>
          <p:nvPr/>
        </p:nvSpPr>
        <p:spPr>
          <a:xfrm>
            <a:off x="1719072" y="4242816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53B9597-5E44-4D40-8D4E-30A1DE8502AF}"/>
              </a:ext>
            </a:extLst>
          </p:cNvPr>
          <p:cNvSpPr>
            <a:spLocks noGrp="1"/>
          </p:cNvSpPr>
          <p:nvPr/>
        </p:nvSpPr>
        <p:spPr>
          <a:xfrm>
            <a:off x="932688" y="44988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FD55DF-0EBF-4759-8C1E-C63F4311772B}"/>
              </a:ext>
            </a:extLst>
          </p:cNvPr>
          <p:cNvSpPr>
            <a:spLocks noGrp="1"/>
          </p:cNvSpPr>
          <p:nvPr/>
        </p:nvSpPr>
        <p:spPr>
          <a:xfrm>
            <a:off x="1097280" y="46725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접속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466F64-0C51-4AB2-9F7A-740949F1B6BE}"/>
              </a:ext>
            </a:extLst>
          </p:cNvPr>
          <p:cNvSpPr>
            <a:spLocks noGrp="1"/>
          </p:cNvSpPr>
          <p:nvPr/>
        </p:nvSpPr>
        <p:spPr>
          <a:xfrm>
            <a:off x="3218688" y="1417320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231EB5-CCE5-44A8-828B-43D497AC1334}"/>
              </a:ext>
            </a:extLst>
          </p:cNvPr>
          <p:cNvSpPr>
            <a:spLocks noGrp="1"/>
          </p:cNvSpPr>
          <p:nvPr/>
        </p:nvSpPr>
        <p:spPr>
          <a:xfrm>
            <a:off x="3218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Connector 54">
            <a:extLst>
              <a:ext uri="{FF2B5EF4-FFF2-40B4-BE49-F238E27FC236}">
                <a16:creationId xmlns:a16="http://schemas.microsoft.com/office/drawing/2014/main" id="{871281DB-05B4-484E-9517-C114F6247D73}"/>
              </a:ext>
            </a:extLst>
          </p:cNvPr>
          <p:cNvSpPr>
            <a:spLocks noGrp="1"/>
          </p:cNvSpPr>
          <p:nvPr/>
        </p:nvSpPr>
        <p:spPr>
          <a:xfrm>
            <a:off x="3675887" y="1666951"/>
            <a:ext cx="137160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F378B8-6D32-4907-9776-A373613B258A}"/>
              </a:ext>
            </a:extLst>
          </p:cNvPr>
          <p:cNvSpPr>
            <a:spLocks noGrp="1"/>
          </p:cNvSpPr>
          <p:nvPr/>
        </p:nvSpPr>
        <p:spPr>
          <a:xfrm>
            <a:off x="3218688" y="1755648"/>
            <a:ext cx="7479792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A가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성립하는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이유를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결론형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문장으로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146BDDD5-3AD3-4663-BC83-8296CC7941BB}"/>
              </a:ext>
            </a:extLst>
          </p:cNvPr>
          <p:cNvSpPr>
            <a:spLocks noGrp="1"/>
          </p:cNvSpPr>
          <p:nvPr/>
        </p:nvSpPr>
        <p:spPr>
          <a:xfrm>
            <a:off x="3236976" y="2194560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14666B-BF22-45BA-A3B4-603829634358}"/>
              </a:ext>
            </a:extLst>
          </p:cNvPr>
          <p:cNvSpPr>
            <a:spLocks noGrp="1"/>
          </p:cNvSpPr>
          <p:nvPr/>
        </p:nvSpPr>
        <p:spPr>
          <a:xfrm>
            <a:off x="3291840" y="2232730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9C412E2-6605-4266-9B36-0909C27B5223}"/>
              </a:ext>
            </a:extLst>
          </p:cNvPr>
          <p:cNvSpPr>
            <a:spLocks noGrp="1"/>
          </p:cNvSpPr>
          <p:nvPr/>
        </p:nvSpPr>
        <p:spPr>
          <a:xfrm>
            <a:off x="3639312" y="2167128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물리적·경제적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한계를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넘는다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C10D3018-1C88-4FC2-ADBE-7F236BBDF2C0}"/>
              </a:ext>
            </a:extLst>
          </p:cNvPr>
          <p:cNvSpPr>
            <a:spLocks noGrp="1"/>
          </p:cNvSpPr>
          <p:nvPr/>
        </p:nvSpPr>
        <p:spPr>
          <a:xfrm>
            <a:off x="3236976" y="2596896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245715-ABAC-4199-8B8A-F6E0CCB130CC}"/>
              </a:ext>
            </a:extLst>
          </p:cNvPr>
          <p:cNvSpPr>
            <a:spLocks noGrp="1"/>
          </p:cNvSpPr>
          <p:nvPr/>
        </p:nvSpPr>
        <p:spPr>
          <a:xfrm>
            <a:off x="3291840" y="2635066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7A54FB-B1BD-46BB-9DDF-1A5B0820F7C5}"/>
              </a:ext>
            </a:extLst>
          </p:cNvPr>
          <p:cNvSpPr>
            <a:spLocks noGrp="1"/>
          </p:cNvSpPr>
          <p:nvPr/>
        </p:nvSpPr>
        <p:spPr>
          <a:xfrm>
            <a:off x="3639312" y="2569464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방식만으로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대응하기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어려워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규격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필요해진다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C09792B0-7EAC-42EC-9A98-8C28F309000E}"/>
              </a:ext>
            </a:extLst>
          </p:cNvPr>
          <p:cNvSpPr>
            <a:spLocks noGrp="1"/>
          </p:cNvSpPr>
          <p:nvPr/>
        </p:nvSpPr>
        <p:spPr>
          <a:xfrm>
            <a:off x="3236976" y="2999232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4026A0-87C5-4BB8-ACC5-C72CB401485D}"/>
              </a:ext>
            </a:extLst>
          </p:cNvPr>
          <p:cNvSpPr>
            <a:spLocks noGrp="1"/>
          </p:cNvSpPr>
          <p:nvPr/>
        </p:nvSpPr>
        <p:spPr>
          <a:xfrm>
            <a:off x="3291840" y="3037402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9EB832-ABF7-45EC-B271-8CDC2D7673CC}"/>
              </a:ext>
            </a:extLst>
          </p:cNvPr>
          <p:cNvSpPr>
            <a:spLocks noGrp="1"/>
          </p:cNvSpPr>
          <p:nvPr/>
        </p:nvSpPr>
        <p:spPr>
          <a:xfrm>
            <a:off x="3639312" y="2971800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그래서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제품·서비스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]의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먼저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발생한다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681FCF6-88F4-4E86-AAB8-5F53E0FA1699}"/>
              </a:ext>
            </a:extLst>
          </p:cNvPr>
          <p:cNvSpPr>
            <a:spLocks noGrp="1"/>
          </p:cNvSpPr>
          <p:nvPr/>
        </p:nvSpPr>
        <p:spPr>
          <a:xfrm>
            <a:off x="3236976" y="3401568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976C68-7F21-489D-AF3E-24854A1C742C}"/>
              </a:ext>
            </a:extLst>
          </p:cNvPr>
          <p:cNvSpPr>
            <a:spLocks noGrp="1"/>
          </p:cNvSpPr>
          <p:nvPr/>
        </p:nvSpPr>
        <p:spPr>
          <a:xfrm>
            <a:off x="3291840" y="3439738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FC231B-F719-4868-B2C0-2E21E716FE92}"/>
              </a:ext>
            </a:extLst>
          </p:cNvPr>
          <p:cNvSpPr>
            <a:spLocks noGrp="1"/>
          </p:cNvSpPr>
          <p:nvPr/>
        </p:nvSpPr>
        <p:spPr>
          <a:xfrm>
            <a:off x="3639312" y="3374136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계약용량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승인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설비투자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]가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실적보다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먼저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움직인다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70A9DDD6-2EF0-408D-8A18-09050F067053}"/>
              </a:ext>
            </a:extLst>
          </p:cNvPr>
          <p:cNvSpPr>
            <a:spLocks noGrp="1"/>
          </p:cNvSpPr>
          <p:nvPr/>
        </p:nvSpPr>
        <p:spPr>
          <a:xfrm>
            <a:off x="3236976" y="3803904"/>
            <a:ext cx="310896" cy="23774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060554-8490-46EA-9215-D06B85DE00CE}"/>
              </a:ext>
            </a:extLst>
          </p:cNvPr>
          <p:cNvSpPr>
            <a:spLocks noGrp="1"/>
          </p:cNvSpPr>
          <p:nvPr/>
        </p:nvSpPr>
        <p:spPr>
          <a:xfrm>
            <a:off x="3291840" y="3842074"/>
            <a:ext cx="201168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9F0144-A66F-4583-AEF1-24E44B01C7CC}"/>
              </a:ext>
            </a:extLst>
          </p:cNvPr>
          <p:cNvSpPr>
            <a:spLocks noGrp="1"/>
          </p:cNvSpPr>
          <p:nvPr/>
        </p:nvSpPr>
        <p:spPr>
          <a:xfrm>
            <a:off x="3639312" y="3776472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계획만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있고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집행이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늦어지거나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꺾이는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경우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3A7097A1-34FD-4B74-9935-0A5BF8EDE967}"/>
              </a:ext>
            </a:extLst>
          </p:cNvPr>
          <p:cNvSpPr>
            <a:spLocks noGrp="1"/>
          </p:cNvSpPr>
          <p:nvPr/>
        </p:nvSpPr>
        <p:spPr>
          <a:xfrm>
            <a:off x="3218688" y="4325112"/>
            <a:ext cx="7498079" cy="4754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EBF3FC"/>
              </a:solidFill>
              <a:latin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87D1EC-C709-4BD8-9275-CF074E59CD3E}"/>
              </a:ext>
            </a:extLst>
          </p:cNvPr>
          <p:cNvSpPr>
            <a:spLocks noGrp="1"/>
          </p:cNvSpPr>
          <p:nvPr/>
        </p:nvSpPr>
        <p:spPr>
          <a:xfrm>
            <a:off x="3456432" y="4480560"/>
            <a:ext cx="7004304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관련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수혜주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 ·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B] —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폭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레퍼런스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관계를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74D694-6B6D-4F7C-BADE-A0C85D2AF84E}"/>
              </a:ext>
            </a:extLst>
          </p:cNvPr>
          <p:cNvSpPr>
            <a:spLocks noGrp="1"/>
          </p:cNvSpPr>
          <p:nvPr/>
        </p:nvSpPr>
        <p:spPr>
          <a:xfrm>
            <a:off x="3218688" y="5010912"/>
            <a:ext cx="2286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FC4C2D9-AF18-4458-9CDB-32EE80562897}"/>
              </a:ext>
            </a:extLst>
          </p:cNvPr>
          <p:cNvSpPr>
            <a:spLocks noGrp="1"/>
          </p:cNvSpPr>
          <p:nvPr/>
        </p:nvSpPr>
        <p:spPr>
          <a:xfrm>
            <a:off x="3218688" y="524865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Connector 75">
            <a:extLst>
              <a:ext uri="{FF2B5EF4-FFF2-40B4-BE49-F238E27FC236}">
                <a16:creationId xmlns:a16="http://schemas.microsoft.com/office/drawing/2014/main" id="{8E679979-34AA-46B3-8D55-598D25EE6D7A}"/>
              </a:ext>
            </a:extLst>
          </p:cNvPr>
          <p:cNvSpPr>
            <a:spLocks noGrp="1"/>
          </p:cNvSpPr>
          <p:nvPr/>
        </p:nvSpPr>
        <p:spPr>
          <a:xfrm>
            <a:off x="3675887" y="5260543"/>
            <a:ext cx="182880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70BEB2-629D-4437-963F-2469A4A64738}"/>
              </a:ext>
            </a:extLst>
          </p:cNvPr>
          <p:cNvSpPr>
            <a:spLocks noGrp="1"/>
          </p:cNvSpPr>
          <p:nvPr/>
        </p:nvSpPr>
        <p:spPr>
          <a:xfrm>
            <a:off x="3218688" y="5340096"/>
            <a:ext cx="566928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이후에도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마지막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운영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필요하다는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678975-9728-4BA4-B152-2070FC84BA13}"/>
              </a:ext>
            </a:extLst>
          </p:cNvPr>
          <p:cNvSpPr>
            <a:spLocks noGrp="1"/>
          </p:cNvSpPr>
          <p:nvPr/>
        </p:nvSpPr>
        <p:spPr>
          <a:xfrm>
            <a:off x="3218688" y="5669280"/>
            <a:ext cx="726948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건의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크기보다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얼마나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반복되는지가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건수·수주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빈도·리드타임·설치기반을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확인하고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착공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지연·경쟁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심화를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리스크로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관리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80" name="Rectangle 1">
            <a:extLst>
              <a:ext uri="{FF2B5EF4-FFF2-40B4-BE49-F238E27FC236}">
                <a16:creationId xmlns:a16="http://schemas.microsoft.com/office/drawing/2014/main" id="{7FC08EBD-27CA-3A19-4974-BC184135EDEF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Rounded Rectangle 3">
            <a:extLst>
              <a:ext uri="{FF2B5EF4-FFF2-40B4-BE49-F238E27FC236}">
                <a16:creationId xmlns:a16="http://schemas.microsoft.com/office/drawing/2014/main" id="{74F38162-2079-FF2E-F002-BDA7F050E918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4">
            <a:extLst>
              <a:ext uri="{FF2B5EF4-FFF2-40B4-BE49-F238E27FC236}">
                <a16:creationId xmlns:a16="http://schemas.microsoft.com/office/drawing/2014/main" id="{392B08CF-4A88-FD21-7D29-5AAC89B5D4E0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8B5ADFBA-6951-0BDF-6252-BE438F9AF9CF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6">
            <a:extLst>
              <a:ext uri="{FF2B5EF4-FFF2-40B4-BE49-F238E27FC236}">
                <a16:creationId xmlns:a16="http://schemas.microsoft.com/office/drawing/2014/main" id="{997D9C6B-7052-50F6-63E6-5BF9472A1BDC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2" name="TextBox 7">
            <a:extLst>
              <a:ext uri="{FF2B5EF4-FFF2-40B4-BE49-F238E27FC236}">
                <a16:creationId xmlns:a16="http://schemas.microsoft.com/office/drawing/2014/main" id="{962D3C3C-9E07-4D72-CE80-863DD205B19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8">
            <a:extLst>
              <a:ext uri="{FF2B5EF4-FFF2-40B4-BE49-F238E27FC236}">
                <a16:creationId xmlns:a16="http://schemas.microsoft.com/office/drawing/2014/main" id="{C1468260-A75F-BFEC-4F02-76557B0BACFA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6" name="TextBox 9">
            <a:extLst>
              <a:ext uri="{FF2B5EF4-FFF2-40B4-BE49-F238E27FC236}">
                <a16:creationId xmlns:a16="http://schemas.microsoft.com/office/drawing/2014/main" id="{E44C9E68-0483-8894-58CB-ED1FCAA48668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10">
            <a:extLst>
              <a:ext uri="{FF2B5EF4-FFF2-40B4-BE49-F238E27FC236}">
                <a16:creationId xmlns:a16="http://schemas.microsoft.com/office/drawing/2014/main" id="{5E7EA897-08BF-1468-69D9-CB9D99D93CA8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0" name="TextBox 11">
            <a:extLst>
              <a:ext uri="{FF2B5EF4-FFF2-40B4-BE49-F238E27FC236}">
                <a16:creationId xmlns:a16="http://schemas.microsoft.com/office/drawing/2014/main" id="{9F146DDF-DB34-5402-DADA-BE0AD6CC7284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12">
            <a:extLst>
              <a:ext uri="{FF2B5EF4-FFF2-40B4-BE49-F238E27FC236}">
                <a16:creationId xmlns:a16="http://schemas.microsoft.com/office/drawing/2014/main" id="{9168110E-636C-60F0-2D82-0D496183AB53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4" name="TextBox 13">
            <a:extLst>
              <a:ext uri="{FF2B5EF4-FFF2-40B4-BE49-F238E27FC236}">
                <a16:creationId xmlns:a16="http://schemas.microsoft.com/office/drawing/2014/main" id="{4C22E0FA-8F18-BA0F-2C62-BF6B0925A348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4">
            <a:extLst>
              <a:ext uri="{FF2B5EF4-FFF2-40B4-BE49-F238E27FC236}">
                <a16:creationId xmlns:a16="http://schemas.microsoft.com/office/drawing/2014/main" id="{CCF64090-C355-AA52-33F4-0CB0B358BA7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8" name="TextBox 15">
            <a:extLst>
              <a:ext uri="{FF2B5EF4-FFF2-40B4-BE49-F238E27FC236}">
                <a16:creationId xmlns:a16="http://schemas.microsoft.com/office/drawing/2014/main" id="{1F242106-D403-98A7-02C4-E8D7C01741A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274CC6C-F4DC-D33B-BF5D-419BE0E737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15475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772538-4C42-48D9-A6A4-860042CF91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4B84A-5322-45B9-847E-24173413A240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505BA9-EB6C-42C9-B41F-AA6C3C53B871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FBACF0-57DA-4D75-B570-7B07CB683D69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D31F36-2127-4730-A281-259D141960BA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121983-9FDB-4960-AE17-D32964EAF64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44718E-A8C4-478F-B129-66F58BB7CE8E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072C70-5848-40F2-AA1B-0A6D8A12F708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00DA6-444A-4DC7-AB5F-DECA854B86FC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605E88-2009-4903-84E2-0E81026C5B3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E64E28-510A-4D3D-A087-F90F6B9C6627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A135D6-A123-464D-A7EB-902B2FE7A9F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14EFA8-B706-4D91-98C6-313D3A6285E1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0B17D5-5F60-4D02-AE32-CB6C17D5BC51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7DB066-025A-47B0-9ADB-F59FEC5D0A17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A974BD-E4A7-47B9-9137-035CBC7BDF7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F810A74F-96AD-4BA4-A6DA-C426BA1C5A6B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4A2F064-DBE1-4F86-8E48-8242328764C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14FEA3-BA61-4D55-95FE-DA241AFBE435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3366580-969D-4E66-8943-1B7A29C4DD36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3F32A2-4D71-4C1B-ACA2-348C5F75B596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F29336-6B8C-4714-A79D-556331646E2E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1920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404B02-F828-4BA0-ADD1-2546A5B9B23A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0AC51612-27A3-482D-9BB7-D8E85D9E6B91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46304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D0D403B-B8C0-48E3-B300-B6DAF801B8A5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217301-2309-4FEE-BF35-2B482EC32B3A}"/>
              </a:ext>
            </a:extLst>
          </p:cNvPr>
          <p:cNvSpPr>
            <a:spLocks noGrp="1"/>
          </p:cNvSpPr>
          <p:nvPr/>
        </p:nvSpPr>
        <p:spPr>
          <a:xfrm>
            <a:off x="1097280" y="19293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증가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90CAB4-8EBC-4404-9AD1-35224F030559}"/>
              </a:ext>
            </a:extLst>
          </p:cNvPr>
          <p:cNvSpPr>
            <a:spLocks noGrp="1"/>
          </p:cNvSpPr>
          <p:nvPr/>
        </p:nvSpPr>
        <p:spPr>
          <a:xfrm>
            <a:off x="1719072" y="2414015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317E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DA5DEE3-8528-4EF2-8397-8D4F14945589}"/>
              </a:ext>
            </a:extLst>
          </p:cNvPr>
          <p:cNvSpPr>
            <a:spLocks noGrp="1"/>
          </p:cNvSpPr>
          <p:nvPr/>
        </p:nvSpPr>
        <p:spPr>
          <a:xfrm>
            <a:off x="932688" y="26700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FBA9EC-3B9D-45AB-9398-461F759E912A}"/>
              </a:ext>
            </a:extLst>
          </p:cNvPr>
          <p:cNvSpPr>
            <a:spLocks noGrp="1"/>
          </p:cNvSpPr>
          <p:nvPr/>
        </p:nvSpPr>
        <p:spPr>
          <a:xfrm>
            <a:off x="1097280" y="28437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지연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제약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1C5C63-C2D9-4A82-97F0-C364C4DA9937}"/>
              </a:ext>
            </a:extLst>
          </p:cNvPr>
          <p:cNvSpPr>
            <a:spLocks noGrp="1"/>
          </p:cNvSpPr>
          <p:nvPr/>
        </p:nvSpPr>
        <p:spPr>
          <a:xfrm>
            <a:off x="1719072" y="3328415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317E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FD6842D-5ED1-4BAA-ADD0-8A61031760FC}"/>
              </a:ext>
            </a:extLst>
          </p:cNvPr>
          <p:cNvSpPr>
            <a:spLocks noGrp="1"/>
          </p:cNvSpPr>
          <p:nvPr/>
        </p:nvSpPr>
        <p:spPr>
          <a:xfrm>
            <a:off x="932688" y="35844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27C20A-CE54-48C1-BC5D-36C12D2D4044}"/>
              </a:ext>
            </a:extLst>
          </p:cNvPr>
          <p:cNvSpPr>
            <a:spLocks noGrp="1"/>
          </p:cNvSpPr>
          <p:nvPr/>
        </p:nvSpPr>
        <p:spPr>
          <a:xfrm>
            <a:off x="1097280" y="37581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대체·보완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7DD0EE-ECAB-419C-BB63-CAD83F8E3BD7}"/>
              </a:ext>
            </a:extLst>
          </p:cNvPr>
          <p:cNvSpPr>
            <a:spLocks noGrp="1"/>
          </p:cNvSpPr>
          <p:nvPr/>
        </p:nvSpPr>
        <p:spPr>
          <a:xfrm>
            <a:off x="1719072" y="4242816"/>
            <a:ext cx="31089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100" b="1" dirty="0">
                <a:solidFill>
                  <a:srgbClr val="317E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ECEED51-B58C-41CF-9257-998CD197F038}"/>
              </a:ext>
            </a:extLst>
          </p:cNvPr>
          <p:cNvSpPr>
            <a:spLocks noGrp="1"/>
          </p:cNvSpPr>
          <p:nvPr/>
        </p:nvSpPr>
        <p:spPr>
          <a:xfrm>
            <a:off x="932688" y="4498848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7C367F-9866-4D3D-B7B2-5B04B7882D2A}"/>
              </a:ext>
            </a:extLst>
          </p:cNvPr>
          <p:cNvSpPr>
            <a:spLocks noGrp="1"/>
          </p:cNvSpPr>
          <p:nvPr/>
        </p:nvSpPr>
        <p:spPr>
          <a:xfrm>
            <a:off x="1097280" y="4672584"/>
            <a:ext cx="15544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endParaRPr sz="84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62DECA-073D-4250-85EB-C18EDD25F796}"/>
              </a:ext>
            </a:extLst>
          </p:cNvPr>
          <p:cNvSpPr>
            <a:spLocks noGrp="1"/>
          </p:cNvSpPr>
          <p:nvPr/>
        </p:nvSpPr>
        <p:spPr>
          <a:xfrm>
            <a:off x="3218688" y="1417320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76D9D81-942C-41D6-A657-C06195E5BF70}"/>
              </a:ext>
            </a:extLst>
          </p:cNvPr>
          <p:cNvSpPr>
            <a:spLocks noGrp="1"/>
          </p:cNvSpPr>
          <p:nvPr/>
        </p:nvSpPr>
        <p:spPr>
          <a:xfrm>
            <a:off x="3218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Connector 54">
            <a:extLst>
              <a:ext uri="{FF2B5EF4-FFF2-40B4-BE49-F238E27FC236}">
                <a16:creationId xmlns:a16="http://schemas.microsoft.com/office/drawing/2014/main" id="{086F865F-3B65-4C22-83F8-ABDEA8D9BFC2}"/>
              </a:ext>
            </a:extLst>
          </p:cNvPr>
          <p:cNvSpPr>
            <a:spLocks noGrp="1"/>
          </p:cNvSpPr>
          <p:nvPr/>
        </p:nvSpPr>
        <p:spPr>
          <a:xfrm>
            <a:off x="3675887" y="1666951"/>
            <a:ext cx="164592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41DE2D-A0C8-448A-804B-5A7E8BF96EA0}"/>
              </a:ext>
            </a:extLst>
          </p:cNvPr>
          <p:cNvSpPr>
            <a:spLocks noGrp="1"/>
          </p:cNvSpPr>
          <p:nvPr/>
        </p:nvSpPr>
        <p:spPr>
          <a:xfrm>
            <a:off x="3218688" y="1755648"/>
            <a:ext cx="7479792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B가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성립하는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이유를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결론형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11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문장으로</a:t>
            </a:r>
            <a:r>
              <a:rPr sz="11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3D4D7B2-BBBC-4208-A053-FBA372D86714}"/>
              </a:ext>
            </a:extLst>
          </p:cNvPr>
          <p:cNvSpPr>
            <a:spLocks noGrp="1"/>
          </p:cNvSpPr>
          <p:nvPr/>
        </p:nvSpPr>
        <p:spPr>
          <a:xfrm>
            <a:off x="3236976" y="2194560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9EE5DD-019E-4FCA-9B5D-13C34B60D900}"/>
              </a:ext>
            </a:extLst>
          </p:cNvPr>
          <p:cNvSpPr>
            <a:spLocks noGrp="1"/>
          </p:cNvSpPr>
          <p:nvPr/>
        </p:nvSpPr>
        <p:spPr>
          <a:xfrm>
            <a:off x="3291840" y="2232730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5F13D6-FD54-46DB-9977-A2EFB234EC6C}"/>
              </a:ext>
            </a:extLst>
          </p:cNvPr>
          <p:cNvSpPr>
            <a:spLocks noGrp="1"/>
          </p:cNvSpPr>
          <p:nvPr/>
        </p:nvSpPr>
        <p:spPr>
          <a:xfrm>
            <a:off x="3639312" y="2167128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공급망이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늦어지면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기회비용을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부담한다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D9B9D43-B2E7-4516-82EB-F47631934DA2}"/>
              </a:ext>
            </a:extLst>
          </p:cNvPr>
          <p:cNvSpPr>
            <a:spLocks noGrp="1"/>
          </p:cNvSpPr>
          <p:nvPr/>
        </p:nvSpPr>
        <p:spPr>
          <a:xfrm>
            <a:off x="3236976" y="2596896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574592-E351-4D5E-9612-61B06FEDD6D0}"/>
              </a:ext>
            </a:extLst>
          </p:cNvPr>
          <p:cNvSpPr>
            <a:spLocks noGrp="1"/>
          </p:cNvSpPr>
          <p:nvPr/>
        </p:nvSpPr>
        <p:spPr>
          <a:xfrm>
            <a:off x="3291840" y="2635066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AE0969-5767-4CFB-944E-809E6411AB72}"/>
              </a:ext>
            </a:extLst>
          </p:cNvPr>
          <p:cNvSpPr>
            <a:spLocks noGrp="1"/>
          </p:cNvSpPr>
          <p:nvPr/>
        </p:nvSpPr>
        <p:spPr>
          <a:xfrm>
            <a:off x="3639312" y="2569464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그래서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장비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]을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선택해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즉시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대응한다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A832EE2-A835-49C9-B480-28D3832AE5E6}"/>
              </a:ext>
            </a:extLst>
          </p:cNvPr>
          <p:cNvSpPr>
            <a:spLocks noGrp="1"/>
          </p:cNvSpPr>
          <p:nvPr/>
        </p:nvSpPr>
        <p:spPr>
          <a:xfrm>
            <a:off x="3236976" y="2999232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26D1EED-E84A-4570-8226-2FA8BDF9ABF3}"/>
              </a:ext>
            </a:extLst>
          </p:cNvPr>
          <p:cNvSpPr>
            <a:spLocks noGrp="1"/>
          </p:cNvSpPr>
          <p:nvPr/>
        </p:nvSpPr>
        <p:spPr>
          <a:xfrm>
            <a:off x="3291840" y="3037402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295714-8138-4E56-A021-8D279B9680CE}"/>
              </a:ext>
            </a:extLst>
          </p:cNvPr>
          <p:cNvSpPr>
            <a:spLocks noGrp="1"/>
          </p:cNvSpPr>
          <p:nvPr/>
        </p:nvSpPr>
        <p:spPr>
          <a:xfrm>
            <a:off x="3639312" y="2971800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경로를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없애기보다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“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전까지의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다리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”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또는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보완재가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된다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8B9EC55A-9E69-4EB6-82DC-9922560BF250}"/>
              </a:ext>
            </a:extLst>
          </p:cNvPr>
          <p:cNvSpPr>
            <a:spLocks noGrp="1"/>
          </p:cNvSpPr>
          <p:nvPr/>
        </p:nvSpPr>
        <p:spPr>
          <a:xfrm>
            <a:off x="3236976" y="3401568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C9B7A3-EF7F-4AFE-8C01-DBCE0E74E24F}"/>
              </a:ext>
            </a:extLst>
          </p:cNvPr>
          <p:cNvSpPr>
            <a:spLocks noGrp="1"/>
          </p:cNvSpPr>
          <p:nvPr/>
        </p:nvSpPr>
        <p:spPr>
          <a:xfrm>
            <a:off x="3291840" y="3439738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3476BD-3D86-40FF-8345-913E6C8E9FD0}"/>
              </a:ext>
            </a:extLst>
          </p:cNvPr>
          <p:cNvSpPr>
            <a:spLocks noGrp="1"/>
          </p:cNvSpPr>
          <p:nvPr/>
        </p:nvSpPr>
        <p:spPr>
          <a:xfrm>
            <a:off x="3639312" y="3374136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설비투자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등록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]를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본다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CA806E27-1F3B-4938-BBF1-4C200EF0607E}"/>
              </a:ext>
            </a:extLst>
          </p:cNvPr>
          <p:cNvSpPr>
            <a:spLocks noGrp="1"/>
          </p:cNvSpPr>
          <p:nvPr/>
        </p:nvSpPr>
        <p:spPr>
          <a:xfrm>
            <a:off x="3236976" y="3803904"/>
            <a:ext cx="310896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6CB7D6-7AC6-49CF-92CA-03D5C55BA53B}"/>
              </a:ext>
            </a:extLst>
          </p:cNvPr>
          <p:cNvSpPr>
            <a:spLocks noGrp="1"/>
          </p:cNvSpPr>
          <p:nvPr/>
        </p:nvSpPr>
        <p:spPr>
          <a:xfrm>
            <a:off x="3291840" y="3842074"/>
            <a:ext cx="201168" cy="143116"/>
          </a:xfrm>
          <a:prstGeom prst="rect">
            <a:avLst/>
          </a:prstGeom>
          <a:solidFill>
            <a:srgbClr val="F7F9FC"/>
          </a:solidFill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D46B5A3-3817-4E4B-AA83-CCA61B184FD3}"/>
              </a:ext>
            </a:extLst>
          </p:cNvPr>
          <p:cNvSpPr>
            <a:spLocks noGrp="1"/>
          </p:cNvSpPr>
          <p:nvPr/>
        </p:nvSpPr>
        <p:spPr>
          <a:xfrm>
            <a:off x="3639312" y="3776472"/>
            <a:ext cx="6912864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—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특정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의존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정상화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후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축소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6977FC75-EB2C-4CB6-9EF6-B2815C59CDD3}"/>
              </a:ext>
            </a:extLst>
          </p:cNvPr>
          <p:cNvSpPr>
            <a:spLocks noGrp="1"/>
          </p:cNvSpPr>
          <p:nvPr/>
        </p:nvSpPr>
        <p:spPr>
          <a:xfrm>
            <a:off x="3218688" y="4325112"/>
            <a:ext cx="7498079" cy="4754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286817B-EBB9-470D-951F-F5CD1810F62D}"/>
              </a:ext>
            </a:extLst>
          </p:cNvPr>
          <p:cNvSpPr>
            <a:spLocks noGrp="1"/>
          </p:cNvSpPr>
          <p:nvPr/>
        </p:nvSpPr>
        <p:spPr>
          <a:xfrm>
            <a:off x="3456432" y="4480560"/>
            <a:ext cx="7004304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관련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수혜주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B] · [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C] —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직접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노출도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지위를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0A4EE8E-9A9C-43CF-A4A4-CE8F135CCF73}"/>
              </a:ext>
            </a:extLst>
          </p:cNvPr>
          <p:cNvSpPr>
            <a:spLocks noGrp="1"/>
          </p:cNvSpPr>
          <p:nvPr/>
        </p:nvSpPr>
        <p:spPr>
          <a:xfrm>
            <a:off x="3218688" y="5010912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④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DEA665-B7B4-4877-8EB1-24AE5C6A5FA5}"/>
              </a:ext>
            </a:extLst>
          </p:cNvPr>
          <p:cNvSpPr>
            <a:spLocks noGrp="1"/>
          </p:cNvSpPr>
          <p:nvPr/>
        </p:nvSpPr>
        <p:spPr>
          <a:xfrm>
            <a:off x="3218688" y="524865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Connector 75">
            <a:extLst>
              <a:ext uri="{FF2B5EF4-FFF2-40B4-BE49-F238E27FC236}">
                <a16:creationId xmlns:a16="http://schemas.microsoft.com/office/drawing/2014/main" id="{61B2CF55-A6B9-4312-8BD2-300F9A039B9B}"/>
              </a:ext>
            </a:extLst>
          </p:cNvPr>
          <p:cNvSpPr>
            <a:spLocks noGrp="1"/>
          </p:cNvSpPr>
          <p:nvPr/>
        </p:nvSpPr>
        <p:spPr>
          <a:xfrm>
            <a:off x="3675887" y="5260543"/>
            <a:ext cx="137160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908573-13BC-481E-9091-D478FDF3DFD0}"/>
              </a:ext>
            </a:extLst>
          </p:cNvPr>
          <p:cNvSpPr>
            <a:spLocks noGrp="1"/>
          </p:cNvSpPr>
          <p:nvPr/>
        </p:nvSpPr>
        <p:spPr>
          <a:xfrm>
            <a:off x="3218688" y="5340096"/>
            <a:ext cx="676656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어떤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공급되든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현장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내부에서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다시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나눠줘야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하는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존재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0B3DC7-91C3-4B20-BBA4-574035B5CB3A}"/>
              </a:ext>
            </a:extLst>
          </p:cNvPr>
          <p:cNvSpPr>
            <a:spLocks noGrp="1"/>
          </p:cNvSpPr>
          <p:nvPr/>
        </p:nvSpPr>
        <p:spPr>
          <a:xfrm>
            <a:off x="3218688" y="5669280"/>
            <a:ext cx="726948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번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벤더로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등록되면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단위가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늘어날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때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재주문이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이어지는지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벤더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지위를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잃으면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수요가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끊기는지를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함께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본다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80" name="Rectangle 1">
            <a:extLst>
              <a:ext uri="{FF2B5EF4-FFF2-40B4-BE49-F238E27FC236}">
                <a16:creationId xmlns:a16="http://schemas.microsoft.com/office/drawing/2014/main" id="{02349BBD-5361-1DD1-11D1-87928B83DF56}"/>
              </a:ext>
            </a:extLst>
          </p:cNvPr>
          <p:cNvSpPr>
            <a:spLocks noGrp="1"/>
          </p:cNvSpPr>
          <p:nvPr/>
        </p:nvSpPr>
        <p:spPr>
          <a:xfrm>
            <a:off x="0" y="-565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Rounded Rectangle 3">
            <a:extLst>
              <a:ext uri="{FF2B5EF4-FFF2-40B4-BE49-F238E27FC236}">
                <a16:creationId xmlns:a16="http://schemas.microsoft.com/office/drawing/2014/main" id="{6B2FDCCA-E36C-9C2F-4D60-50AF6231F18F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4">
            <a:extLst>
              <a:ext uri="{FF2B5EF4-FFF2-40B4-BE49-F238E27FC236}">
                <a16:creationId xmlns:a16="http://schemas.microsoft.com/office/drawing/2014/main" id="{DFD62077-9273-6265-9720-BE5657DBE23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19D0EEFF-6A4F-8FA8-F612-27BC3449829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6">
            <a:extLst>
              <a:ext uri="{FF2B5EF4-FFF2-40B4-BE49-F238E27FC236}">
                <a16:creationId xmlns:a16="http://schemas.microsoft.com/office/drawing/2014/main" id="{446264C1-7B43-4E5E-CD1B-B76BF3EEC841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2" name="TextBox 7">
            <a:extLst>
              <a:ext uri="{FF2B5EF4-FFF2-40B4-BE49-F238E27FC236}">
                <a16:creationId xmlns:a16="http://schemas.microsoft.com/office/drawing/2014/main" id="{0DB570C1-A671-F419-4EB1-744195B3A080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8">
            <a:extLst>
              <a:ext uri="{FF2B5EF4-FFF2-40B4-BE49-F238E27FC236}">
                <a16:creationId xmlns:a16="http://schemas.microsoft.com/office/drawing/2014/main" id="{43D1974E-942E-8608-3DA1-5CEA718136E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6" name="TextBox 9">
            <a:extLst>
              <a:ext uri="{FF2B5EF4-FFF2-40B4-BE49-F238E27FC236}">
                <a16:creationId xmlns:a16="http://schemas.microsoft.com/office/drawing/2014/main" id="{F7DD5B65-D87C-B004-FA2D-47F0A32B31E9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10">
            <a:extLst>
              <a:ext uri="{FF2B5EF4-FFF2-40B4-BE49-F238E27FC236}">
                <a16:creationId xmlns:a16="http://schemas.microsoft.com/office/drawing/2014/main" id="{4887E1B1-F36C-99BB-AF76-79C0B490FAD8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0" name="TextBox 11">
            <a:extLst>
              <a:ext uri="{FF2B5EF4-FFF2-40B4-BE49-F238E27FC236}">
                <a16:creationId xmlns:a16="http://schemas.microsoft.com/office/drawing/2014/main" id="{7FD51C7F-B494-E5B1-1613-4491E4C0A30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12">
            <a:extLst>
              <a:ext uri="{FF2B5EF4-FFF2-40B4-BE49-F238E27FC236}">
                <a16:creationId xmlns:a16="http://schemas.microsoft.com/office/drawing/2014/main" id="{31D5CADE-1C69-8D7C-A7D3-79EAFB6D5A68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4" name="TextBox 13">
            <a:extLst>
              <a:ext uri="{FF2B5EF4-FFF2-40B4-BE49-F238E27FC236}">
                <a16:creationId xmlns:a16="http://schemas.microsoft.com/office/drawing/2014/main" id="{282FD64D-8819-A844-EE33-89CE229FC96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4">
            <a:extLst>
              <a:ext uri="{FF2B5EF4-FFF2-40B4-BE49-F238E27FC236}">
                <a16:creationId xmlns:a16="http://schemas.microsoft.com/office/drawing/2014/main" id="{3174C1AD-BA3F-7776-4EEE-11368C54A9D1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8" name="TextBox 15">
            <a:extLst>
              <a:ext uri="{FF2B5EF4-FFF2-40B4-BE49-F238E27FC236}">
                <a16:creationId xmlns:a16="http://schemas.microsoft.com/office/drawing/2014/main" id="{CCC04E6A-3640-31D0-D7C3-BFF60707E8F3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29ACD6-35B9-3617-89A1-2806A7DEDB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94880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8E29B0-D295-45A8-9FBB-A629333ABE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791E5-8709-4647-BED2-2D45C2A2AF53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5CB69D-6DD1-4F72-97D4-6812EBF04B3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5216D6-6492-4E35-B4EC-B18C78589A69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5ADD9B-89E4-4401-8BC9-5192ACA6B5E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58868C-37EE-4FDD-910E-469FBB63B9AD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E0BF07-F68C-4947-BB4C-14963FA91AB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339B9E-D398-42FE-B966-6CFE7C8A4EE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A5EC2A-85F2-434F-A6D1-D245A293F16D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731DA9-0B84-4F6E-88ED-CB23FB45D76C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56987B-4D71-4C64-B2F4-5FC911CE50BB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18746B-1779-4E4C-8B08-0948D21AA350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DC19FD-BD73-490B-83B9-6FF045319F0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E8633D-E301-4909-BE28-350D7FEA2F9B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098AE7-7400-4FA0-8898-57713978135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B07DFA-2282-477E-8F50-AE751FEBE6D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70CADA1-C0F9-4D5C-8726-4B7493726D55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0A629F54-4A61-4452-BF3B-FB2C0F91ADFB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AF97B5-0BDA-4242-8954-C4D0265D70C8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5255C4F-43E2-4585-84CF-594A0D66E327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06097E-4B80-4708-94AC-C0E82A1AD290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07B8B1-0235-4E96-AD6B-62D87CED547A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377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흐름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5868AF-F042-484B-B212-ADDE72A44C18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D91DD19C-374E-4770-A201-91A4E4957827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92024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D2330D4-2799-4962-99B6-853E73FD1402}"/>
              </a:ext>
            </a:extLst>
          </p:cNvPr>
          <p:cNvSpPr>
            <a:spLocks noGrp="1"/>
          </p:cNvSpPr>
          <p:nvPr/>
        </p:nvSpPr>
        <p:spPr>
          <a:xfrm>
            <a:off x="932688" y="178308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6C9964-42FB-44F1-A5A9-BEC704420105}"/>
              </a:ext>
            </a:extLst>
          </p:cNvPr>
          <p:cNvSpPr>
            <a:spLocks noGrp="1"/>
          </p:cNvSpPr>
          <p:nvPr/>
        </p:nvSpPr>
        <p:spPr>
          <a:xfrm>
            <a:off x="1078992" y="1874519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D39B27-0EAB-4FAA-8DA2-557C26E5577E}"/>
              </a:ext>
            </a:extLst>
          </p:cNvPr>
          <p:cNvSpPr>
            <a:spLocks noGrp="1"/>
          </p:cNvSpPr>
          <p:nvPr/>
        </p:nvSpPr>
        <p:spPr>
          <a:xfrm>
            <a:off x="2194560" y="1874519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트래픽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68049F-98DB-4D2D-B775-97BEE0A33F2E}"/>
              </a:ext>
            </a:extLst>
          </p:cNvPr>
          <p:cNvSpPr>
            <a:spLocks noGrp="1"/>
          </p:cNvSpPr>
          <p:nvPr/>
        </p:nvSpPr>
        <p:spPr>
          <a:xfrm>
            <a:off x="2194560" y="216712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E347370-C6D9-49CC-9B02-6C6A4A890C5C}"/>
              </a:ext>
            </a:extLst>
          </p:cNvPr>
          <p:cNvSpPr>
            <a:spLocks noGrp="1"/>
          </p:cNvSpPr>
          <p:nvPr/>
        </p:nvSpPr>
        <p:spPr>
          <a:xfrm>
            <a:off x="932688" y="233172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766FC1-D99E-45D3-806C-140C13B42D9A}"/>
              </a:ext>
            </a:extLst>
          </p:cNvPr>
          <p:cNvSpPr>
            <a:spLocks noGrp="1"/>
          </p:cNvSpPr>
          <p:nvPr/>
        </p:nvSpPr>
        <p:spPr>
          <a:xfrm>
            <a:off x="1078992" y="2423160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47C144-C0A6-4B9D-84F7-9D2F7B9F3963}"/>
              </a:ext>
            </a:extLst>
          </p:cNvPr>
          <p:cNvSpPr>
            <a:spLocks noGrp="1"/>
          </p:cNvSpPr>
          <p:nvPr/>
        </p:nvSpPr>
        <p:spPr>
          <a:xfrm>
            <a:off x="2194560" y="2423160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수량×가격×믹스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9EE8B0-19FC-4B55-9F21-E158FE9AC393}"/>
              </a:ext>
            </a:extLst>
          </p:cNvPr>
          <p:cNvSpPr>
            <a:spLocks noGrp="1"/>
          </p:cNvSpPr>
          <p:nvPr/>
        </p:nvSpPr>
        <p:spPr>
          <a:xfrm>
            <a:off x="2194560" y="271576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60E7F8B-9601-47AE-B65E-DA9CBFCAA9FD}"/>
              </a:ext>
            </a:extLst>
          </p:cNvPr>
          <p:cNvSpPr>
            <a:spLocks noGrp="1"/>
          </p:cNvSpPr>
          <p:nvPr/>
        </p:nvSpPr>
        <p:spPr>
          <a:xfrm>
            <a:off x="932688" y="288036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784A72-5956-4F41-B24F-F916FEDCE935}"/>
              </a:ext>
            </a:extLst>
          </p:cNvPr>
          <p:cNvSpPr>
            <a:spLocks noGrp="1"/>
          </p:cNvSpPr>
          <p:nvPr/>
        </p:nvSpPr>
        <p:spPr>
          <a:xfrm>
            <a:off x="1078992" y="2971800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매출총이익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EADF86-F01D-4CDA-901E-7546F53C5389}"/>
              </a:ext>
            </a:extLst>
          </p:cNvPr>
          <p:cNvSpPr>
            <a:spLocks noGrp="1"/>
          </p:cNvSpPr>
          <p:nvPr/>
        </p:nvSpPr>
        <p:spPr>
          <a:xfrm>
            <a:off x="2194560" y="2971800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가격·믹스·원가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B35721-C689-4E7C-AAD2-5FA1E25C5685}"/>
              </a:ext>
            </a:extLst>
          </p:cNvPr>
          <p:cNvSpPr>
            <a:spLocks noGrp="1"/>
          </p:cNvSpPr>
          <p:nvPr/>
        </p:nvSpPr>
        <p:spPr>
          <a:xfrm>
            <a:off x="2194560" y="326440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3CB65EF3-2E32-495F-AC84-82A6E4AFAB88}"/>
              </a:ext>
            </a:extLst>
          </p:cNvPr>
          <p:cNvSpPr>
            <a:spLocks noGrp="1"/>
          </p:cNvSpPr>
          <p:nvPr/>
        </p:nvSpPr>
        <p:spPr>
          <a:xfrm>
            <a:off x="932688" y="342900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561B4C-E68C-4011-8763-ECE08C08AEBE}"/>
              </a:ext>
            </a:extLst>
          </p:cNvPr>
          <p:cNvSpPr>
            <a:spLocks noGrp="1"/>
          </p:cNvSpPr>
          <p:nvPr/>
        </p:nvSpPr>
        <p:spPr>
          <a:xfrm>
            <a:off x="1078992" y="3520440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영업이익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A942ED-A196-43B9-A567-141587678B53}"/>
              </a:ext>
            </a:extLst>
          </p:cNvPr>
          <p:cNvSpPr>
            <a:spLocks noGrp="1"/>
          </p:cNvSpPr>
          <p:nvPr/>
        </p:nvSpPr>
        <p:spPr>
          <a:xfrm>
            <a:off x="2194560" y="3520440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고정비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레버리지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F28F4B-F1B0-43D4-B490-9383D94007DD}"/>
              </a:ext>
            </a:extLst>
          </p:cNvPr>
          <p:cNvSpPr>
            <a:spLocks noGrp="1"/>
          </p:cNvSpPr>
          <p:nvPr/>
        </p:nvSpPr>
        <p:spPr>
          <a:xfrm>
            <a:off x="2194560" y="381304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C80CDA97-FED5-4343-AFCD-3D52C6FA338A}"/>
              </a:ext>
            </a:extLst>
          </p:cNvPr>
          <p:cNvSpPr>
            <a:spLocks noGrp="1"/>
          </p:cNvSpPr>
          <p:nvPr/>
        </p:nvSpPr>
        <p:spPr>
          <a:xfrm>
            <a:off x="932688" y="3977639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C8EF84-E60B-474F-8C08-179E1748E83D}"/>
              </a:ext>
            </a:extLst>
          </p:cNvPr>
          <p:cNvSpPr>
            <a:spLocks noGrp="1"/>
          </p:cNvSpPr>
          <p:nvPr/>
        </p:nvSpPr>
        <p:spPr>
          <a:xfrm>
            <a:off x="1078992" y="4069079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잉여현금흐름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34C06C-4D20-469C-996E-1A3E28C6E044}"/>
              </a:ext>
            </a:extLst>
          </p:cNvPr>
          <p:cNvSpPr>
            <a:spLocks noGrp="1"/>
          </p:cNvSpPr>
          <p:nvPr/>
        </p:nvSpPr>
        <p:spPr>
          <a:xfrm>
            <a:off x="2194560" y="4069079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재고·매출채권·CAPEX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051EF9-2B26-436B-9923-24C5579F25AF}"/>
              </a:ext>
            </a:extLst>
          </p:cNvPr>
          <p:cNvSpPr>
            <a:spLocks noGrp="1"/>
          </p:cNvSpPr>
          <p:nvPr/>
        </p:nvSpPr>
        <p:spPr>
          <a:xfrm>
            <a:off x="2194560" y="4361688"/>
            <a:ext cx="36576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↓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A502C50-CA54-49BB-9335-127EADDD5BB0}"/>
              </a:ext>
            </a:extLst>
          </p:cNvPr>
          <p:cNvSpPr>
            <a:spLocks noGrp="1"/>
          </p:cNvSpPr>
          <p:nvPr/>
        </p:nvSpPr>
        <p:spPr>
          <a:xfrm>
            <a:off x="932688" y="4526280"/>
            <a:ext cx="2880360" cy="39319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6985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71D5FB-CC50-44EC-ABA8-EC41DFA150E1}"/>
              </a:ext>
            </a:extLst>
          </p:cNvPr>
          <p:cNvSpPr>
            <a:spLocks noGrp="1"/>
          </p:cNvSpPr>
          <p:nvPr/>
        </p:nvSpPr>
        <p:spPr>
          <a:xfrm>
            <a:off x="1078992" y="4617720"/>
            <a:ext cx="117043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C0E55C0-29EE-41E7-A987-84DA4C9E51A0}"/>
              </a:ext>
            </a:extLst>
          </p:cNvPr>
          <p:cNvSpPr>
            <a:spLocks noGrp="1"/>
          </p:cNvSpPr>
          <p:nvPr/>
        </p:nvSpPr>
        <p:spPr>
          <a:xfrm>
            <a:off x="2194560" y="4617720"/>
            <a:ext cx="1389888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[EPS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상향·재평가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DD188A-DB4B-4221-ABD9-04A9C6B03BF1}"/>
              </a:ext>
            </a:extLst>
          </p:cNvPr>
          <p:cNvSpPr>
            <a:spLocks noGrp="1"/>
          </p:cNvSpPr>
          <p:nvPr/>
        </p:nvSpPr>
        <p:spPr>
          <a:xfrm>
            <a:off x="4133087" y="1417320"/>
            <a:ext cx="25603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봐야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하나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7D67DA3-6216-4057-AEDC-672404B6C9A4}"/>
              </a:ext>
            </a:extLst>
          </p:cNvPr>
          <p:cNvSpPr>
            <a:spLocks noGrp="1"/>
          </p:cNvSpPr>
          <p:nvPr/>
        </p:nvSpPr>
        <p:spPr>
          <a:xfrm>
            <a:off x="4133087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Connector 66">
            <a:extLst>
              <a:ext uri="{FF2B5EF4-FFF2-40B4-BE49-F238E27FC236}">
                <a16:creationId xmlns:a16="http://schemas.microsoft.com/office/drawing/2014/main" id="{5D2986DD-E67B-4F8A-BD1A-E9EBE07F6707}"/>
              </a:ext>
            </a:extLst>
          </p:cNvPr>
          <p:cNvSpPr>
            <a:spLocks noGrp="1"/>
          </p:cNvSpPr>
          <p:nvPr/>
        </p:nvSpPr>
        <p:spPr>
          <a:xfrm>
            <a:off x="4590288" y="1666951"/>
            <a:ext cx="2103119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5A36386-AE56-4468-8395-9C533B317B24}"/>
              </a:ext>
            </a:extLst>
          </p:cNvPr>
          <p:cNvSpPr>
            <a:spLocks noGrp="1"/>
          </p:cNvSpPr>
          <p:nvPr/>
        </p:nvSpPr>
        <p:spPr>
          <a:xfrm>
            <a:off x="4133087" y="1783080"/>
            <a:ext cx="258775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CA95580-6983-410C-94A3-0BE980994E68}"/>
              </a:ext>
            </a:extLst>
          </p:cNvPr>
          <p:cNvSpPr>
            <a:spLocks noGrp="1"/>
          </p:cNvSpPr>
          <p:nvPr/>
        </p:nvSpPr>
        <p:spPr>
          <a:xfrm>
            <a:off x="4133087" y="1783080"/>
            <a:ext cx="50292" cy="10058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DDA339-F2B2-41B5-A26A-68814E795BB8}"/>
              </a:ext>
            </a:extLst>
          </p:cNvPr>
          <p:cNvSpPr>
            <a:spLocks noGrp="1"/>
          </p:cNvSpPr>
          <p:nvPr/>
        </p:nvSpPr>
        <p:spPr>
          <a:xfrm>
            <a:off x="4288536" y="1911095"/>
            <a:ext cx="231343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5488DF-6503-467C-ADA4-6779357063F7}"/>
              </a:ext>
            </a:extLst>
          </p:cNvPr>
          <p:cNvSpPr>
            <a:spLocks noGrp="1"/>
          </p:cNvSpPr>
          <p:nvPr/>
        </p:nvSpPr>
        <p:spPr>
          <a:xfrm>
            <a:off x="4288536" y="2203704"/>
            <a:ext cx="23134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수량·ASP·제품믹스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핵심인지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0EF04169-AAF3-487E-9015-39377CF2A738}"/>
              </a:ext>
            </a:extLst>
          </p:cNvPr>
          <p:cNvSpPr>
            <a:spLocks noGrp="1"/>
          </p:cNvSpPr>
          <p:nvPr/>
        </p:nvSpPr>
        <p:spPr>
          <a:xfrm>
            <a:off x="6949440" y="1783080"/>
            <a:ext cx="258775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59537B2-0C52-4294-B739-0DB72426E950}"/>
              </a:ext>
            </a:extLst>
          </p:cNvPr>
          <p:cNvSpPr>
            <a:spLocks noGrp="1"/>
          </p:cNvSpPr>
          <p:nvPr/>
        </p:nvSpPr>
        <p:spPr>
          <a:xfrm>
            <a:off x="6949440" y="1783080"/>
            <a:ext cx="50292" cy="10058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528F199-410B-472F-97A9-D8F70F57C51B}"/>
              </a:ext>
            </a:extLst>
          </p:cNvPr>
          <p:cNvSpPr>
            <a:spLocks noGrp="1"/>
          </p:cNvSpPr>
          <p:nvPr/>
        </p:nvSpPr>
        <p:spPr>
          <a:xfrm>
            <a:off x="7104888" y="1911095"/>
            <a:ext cx="231343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83E5E2-9133-4DB0-A717-D5A46C58AC5C}"/>
              </a:ext>
            </a:extLst>
          </p:cNvPr>
          <p:cNvSpPr>
            <a:spLocks noGrp="1"/>
          </p:cNvSpPr>
          <p:nvPr/>
        </p:nvSpPr>
        <p:spPr>
          <a:xfrm>
            <a:off x="7104888" y="2203704"/>
            <a:ext cx="23134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가격결정력·원가·가동률·신규라인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비용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E25E9A64-3580-4B5F-9BDA-D1C67AAC4A02}"/>
              </a:ext>
            </a:extLst>
          </p:cNvPr>
          <p:cNvSpPr>
            <a:spLocks noGrp="1"/>
          </p:cNvSpPr>
          <p:nvPr/>
        </p:nvSpPr>
        <p:spPr>
          <a:xfrm>
            <a:off x="4133087" y="3017520"/>
            <a:ext cx="258775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33E7E4C-79AD-4F51-88B9-636108245E30}"/>
              </a:ext>
            </a:extLst>
          </p:cNvPr>
          <p:cNvSpPr>
            <a:spLocks noGrp="1"/>
          </p:cNvSpPr>
          <p:nvPr/>
        </p:nvSpPr>
        <p:spPr>
          <a:xfrm>
            <a:off x="4133087" y="3017520"/>
            <a:ext cx="50292" cy="10058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862A8B-80FE-4A77-B463-E5B543254E74}"/>
              </a:ext>
            </a:extLst>
          </p:cNvPr>
          <p:cNvSpPr>
            <a:spLocks noGrp="1"/>
          </p:cNvSpPr>
          <p:nvPr/>
        </p:nvSpPr>
        <p:spPr>
          <a:xfrm>
            <a:off x="4288536" y="3145536"/>
            <a:ext cx="231343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현금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4E9B9C9-4CE6-412C-BC7D-239C949298A9}"/>
              </a:ext>
            </a:extLst>
          </p:cNvPr>
          <p:cNvSpPr>
            <a:spLocks noGrp="1"/>
          </p:cNvSpPr>
          <p:nvPr/>
        </p:nvSpPr>
        <p:spPr>
          <a:xfrm>
            <a:off x="4288536" y="3438144"/>
            <a:ext cx="23134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재고·매출채권·계약자산·설비투자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BD2F5CE9-279D-4805-AE67-87A9D0AEC85F}"/>
              </a:ext>
            </a:extLst>
          </p:cNvPr>
          <p:cNvSpPr>
            <a:spLocks noGrp="1"/>
          </p:cNvSpPr>
          <p:nvPr/>
        </p:nvSpPr>
        <p:spPr>
          <a:xfrm>
            <a:off x="6949440" y="3017520"/>
            <a:ext cx="258775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02EA589-8486-4A04-B237-CCEDCFF6CCF8}"/>
              </a:ext>
            </a:extLst>
          </p:cNvPr>
          <p:cNvSpPr>
            <a:spLocks noGrp="1"/>
          </p:cNvSpPr>
          <p:nvPr/>
        </p:nvSpPr>
        <p:spPr>
          <a:xfrm>
            <a:off x="6949440" y="3017520"/>
            <a:ext cx="50292" cy="10058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CE86F29-1847-491F-9960-8EF888A3B542}"/>
              </a:ext>
            </a:extLst>
          </p:cNvPr>
          <p:cNvSpPr>
            <a:spLocks noGrp="1"/>
          </p:cNvSpPr>
          <p:nvPr/>
        </p:nvSpPr>
        <p:spPr>
          <a:xfrm>
            <a:off x="7104888" y="3145536"/>
            <a:ext cx="231343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B5882D-7D7B-43E9-9303-2F3AC9EAB283}"/>
              </a:ext>
            </a:extLst>
          </p:cNvPr>
          <p:cNvSpPr>
            <a:spLocks noGrp="1"/>
          </p:cNvSpPr>
          <p:nvPr/>
        </p:nvSpPr>
        <p:spPr>
          <a:xfrm>
            <a:off x="7104888" y="3438144"/>
            <a:ext cx="231343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경제성에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맞는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ROA/ROE/ROIC/FCF 및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3811F9-20A0-4DF0-8DD2-F55C4C94C54E}"/>
              </a:ext>
            </a:extLst>
          </p:cNvPr>
          <p:cNvSpPr>
            <a:spLocks noGrp="1"/>
          </p:cNvSpPr>
          <p:nvPr/>
        </p:nvSpPr>
        <p:spPr>
          <a:xfrm>
            <a:off x="4133087" y="4480560"/>
            <a:ext cx="2468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4D63CC6-50D6-45C4-B5D3-1FDE0ABC58D1}"/>
              </a:ext>
            </a:extLst>
          </p:cNvPr>
          <p:cNvSpPr>
            <a:spLocks noGrp="1"/>
          </p:cNvSpPr>
          <p:nvPr/>
        </p:nvSpPr>
        <p:spPr>
          <a:xfrm>
            <a:off x="4133087" y="471830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Connector 85">
            <a:extLst>
              <a:ext uri="{FF2B5EF4-FFF2-40B4-BE49-F238E27FC236}">
                <a16:creationId xmlns:a16="http://schemas.microsoft.com/office/drawing/2014/main" id="{F923148C-8C3F-4A9E-8874-5463CA3640D2}"/>
              </a:ext>
            </a:extLst>
          </p:cNvPr>
          <p:cNvSpPr>
            <a:spLocks noGrp="1"/>
          </p:cNvSpPr>
          <p:nvPr/>
        </p:nvSpPr>
        <p:spPr>
          <a:xfrm>
            <a:off x="4590288" y="4730191"/>
            <a:ext cx="20116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0E70929-79DF-4914-8257-9280DAE7E1E0}"/>
              </a:ext>
            </a:extLst>
          </p:cNvPr>
          <p:cNvSpPr>
            <a:spLocks noGrp="1"/>
          </p:cNvSpPr>
          <p:nvPr/>
        </p:nvSpPr>
        <p:spPr>
          <a:xfrm>
            <a:off x="4133087" y="4800600"/>
            <a:ext cx="2331720" cy="33832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8C53536-1589-46C6-9B17-40817CE91E83}"/>
              </a:ext>
            </a:extLst>
          </p:cNvPr>
          <p:cNvSpPr>
            <a:spLocks noGrp="1"/>
          </p:cNvSpPr>
          <p:nvPr/>
        </p:nvSpPr>
        <p:spPr>
          <a:xfrm>
            <a:off x="4169663" y="4887286"/>
            <a:ext cx="22585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특성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3C9350C-D6EE-442B-8E81-9A6B36EC642A}"/>
              </a:ext>
            </a:extLst>
          </p:cNvPr>
          <p:cNvSpPr>
            <a:spLocks noGrp="1"/>
          </p:cNvSpPr>
          <p:nvPr/>
        </p:nvSpPr>
        <p:spPr>
          <a:xfrm>
            <a:off x="6464807" y="4800600"/>
            <a:ext cx="2148840" cy="33832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43BEAC-58CF-4489-88F3-88E60F90F953}"/>
              </a:ext>
            </a:extLst>
          </p:cNvPr>
          <p:cNvSpPr>
            <a:spLocks noGrp="1"/>
          </p:cNvSpPr>
          <p:nvPr/>
        </p:nvSpPr>
        <p:spPr>
          <a:xfrm>
            <a:off x="6501383" y="4887286"/>
            <a:ext cx="20756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지표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2D58FE2-8F30-4853-A572-CE7B97781C8A}"/>
              </a:ext>
            </a:extLst>
          </p:cNvPr>
          <p:cNvSpPr>
            <a:spLocks noGrp="1"/>
          </p:cNvSpPr>
          <p:nvPr/>
        </p:nvSpPr>
        <p:spPr>
          <a:xfrm>
            <a:off x="8613648" y="4800600"/>
            <a:ext cx="2468880" cy="33832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D00591E-902C-4610-8332-354ECC9C52B3}"/>
              </a:ext>
            </a:extLst>
          </p:cNvPr>
          <p:cNvSpPr>
            <a:spLocks noGrp="1"/>
          </p:cNvSpPr>
          <p:nvPr/>
        </p:nvSpPr>
        <p:spPr>
          <a:xfrm>
            <a:off x="8650224" y="4887286"/>
            <a:ext cx="2395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04AAC0D-72FA-470F-87C9-BB39BE0D2BC7}"/>
              </a:ext>
            </a:extLst>
          </p:cNvPr>
          <p:cNvSpPr>
            <a:spLocks noGrp="1"/>
          </p:cNvSpPr>
          <p:nvPr/>
        </p:nvSpPr>
        <p:spPr>
          <a:xfrm>
            <a:off x="4133087" y="5138928"/>
            <a:ext cx="233172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B26F8B8-5A60-4735-91FE-B6A36C9EA185}"/>
              </a:ext>
            </a:extLst>
          </p:cNvPr>
          <p:cNvSpPr>
            <a:spLocks noGrp="1"/>
          </p:cNvSpPr>
          <p:nvPr/>
        </p:nvSpPr>
        <p:spPr>
          <a:xfrm>
            <a:off x="4169663" y="5223922"/>
            <a:ext cx="22585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자산집약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A0F326-4786-467A-8802-80098C545C86}"/>
              </a:ext>
            </a:extLst>
          </p:cNvPr>
          <p:cNvSpPr>
            <a:spLocks noGrp="1"/>
          </p:cNvSpPr>
          <p:nvPr/>
        </p:nvSpPr>
        <p:spPr>
          <a:xfrm>
            <a:off x="6464807" y="5138928"/>
            <a:ext cx="21488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10F6A06-3F95-4936-A8DC-EB82F69C1A91}"/>
              </a:ext>
            </a:extLst>
          </p:cNvPr>
          <p:cNvSpPr>
            <a:spLocks noGrp="1"/>
          </p:cNvSpPr>
          <p:nvPr/>
        </p:nvSpPr>
        <p:spPr>
          <a:xfrm>
            <a:off x="6501383" y="5223922"/>
            <a:ext cx="20756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ROA · ROIC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EB09DE0-100A-46FD-BCFB-7E8B0B5B5681}"/>
              </a:ext>
            </a:extLst>
          </p:cNvPr>
          <p:cNvSpPr>
            <a:spLocks noGrp="1"/>
          </p:cNvSpPr>
          <p:nvPr/>
        </p:nvSpPr>
        <p:spPr>
          <a:xfrm>
            <a:off x="8613648" y="5138928"/>
            <a:ext cx="24688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60C76D0-5DF1-41D2-B6D6-578B1CA289E3}"/>
              </a:ext>
            </a:extLst>
          </p:cNvPr>
          <p:cNvSpPr>
            <a:spLocks noGrp="1"/>
          </p:cNvSpPr>
          <p:nvPr/>
        </p:nvSpPr>
        <p:spPr>
          <a:xfrm>
            <a:off x="8650224" y="5223922"/>
            <a:ext cx="2395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 · PER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E16BD34-BE13-45B0-9D53-F86D2B2B0249}"/>
              </a:ext>
            </a:extLst>
          </p:cNvPr>
          <p:cNvSpPr>
            <a:spLocks noGrp="1"/>
          </p:cNvSpPr>
          <p:nvPr/>
        </p:nvSpPr>
        <p:spPr>
          <a:xfrm>
            <a:off x="4133087" y="5477256"/>
            <a:ext cx="2331720" cy="33832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A61CB1D-5B96-486B-A664-AB73523ACAF3}"/>
              </a:ext>
            </a:extLst>
          </p:cNvPr>
          <p:cNvSpPr>
            <a:spLocks noGrp="1"/>
          </p:cNvSpPr>
          <p:nvPr/>
        </p:nvSpPr>
        <p:spPr>
          <a:xfrm>
            <a:off x="4169663" y="5562250"/>
            <a:ext cx="22585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초기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1EA8D46-6BD6-4D4F-A7A0-E30485CCF740}"/>
              </a:ext>
            </a:extLst>
          </p:cNvPr>
          <p:cNvSpPr>
            <a:spLocks noGrp="1"/>
          </p:cNvSpPr>
          <p:nvPr/>
        </p:nvSpPr>
        <p:spPr>
          <a:xfrm>
            <a:off x="6464807" y="5477256"/>
            <a:ext cx="2148840" cy="33832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2FB48AF-B3C6-4004-AEA9-986034963C3B}"/>
              </a:ext>
            </a:extLst>
          </p:cNvPr>
          <p:cNvSpPr>
            <a:spLocks noGrp="1"/>
          </p:cNvSpPr>
          <p:nvPr/>
        </p:nvSpPr>
        <p:spPr>
          <a:xfrm>
            <a:off x="6501383" y="5562250"/>
            <a:ext cx="20756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단위경제성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558C4BA-D3CA-460C-B29D-97326D17CE3E}"/>
              </a:ext>
            </a:extLst>
          </p:cNvPr>
          <p:cNvSpPr>
            <a:spLocks noGrp="1"/>
          </p:cNvSpPr>
          <p:nvPr/>
        </p:nvSpPr>
        <p:spPr>
          <a:xfrm>
            <a:off x="8613648" y="5477256"/>
            <a:ext cx="2468880" cy="33832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B0C03E9-7CA7-42D0-8753-A4FB586E2C56}"/>
              </a:ext>
            </a:extLst>
          </p:cNvPr>
          <p:cNvSpPr>
            <a:spLocks noGrp="1"/>
          </p:cNvSpPr>
          <p:nvPr/>
        </p:nvSpPr>
        <p:spPr>
          <a:xfrm>
            <a:off x="8650224" y="5562250"/>
            <a:ext cx="2395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PEG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D6BB068-BD08-47D6-A04B-6BDFF2CF25D3}"/>
              </a:ext>
            </a:extLst>
          </p:cNvPr>
          <p:cNvSpPr>
            <a:spLocks noGrp="1"/>
          </p:cNvSpPr>
          <p:nvPr/>
        </p:nvSpPr>
        <p:spPr>
          <a:xfrm>
            <a:off x="4133087" y="5815583"/>
            <a:ext cx="233172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31CB8A7-FF98-4183-B672-C349E1CB8046}"/>
              </a:ext>
            </a:extLst>
          </p:cNvPr>
          <p:cNvSpPr>
            <a:spLocks noGrp="1"/>
          </p:cNvSpPr>
          <p:nvPr/>
        </p:nvSpPr>
        <p:spPr>
          <a:xfrm>
            <a:off x="4169663" y="5900578"/>
            <a:ext cx="22585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현금창출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961F176-DAF8-463B-81E6-76A81E9CF164}"/>
              </a:ext>
            </a:extLst>
          </p:cNvPr>
          <p:cNvSpPr>
            <a:spLocks noGrp="1"/>
          </p:cNvSpPr>
          <p:nvPr/>
        </p:nvSpPr>
        <p:spPr>
          <a:xfrm>
            <a:off x="6464807" y="5815583"/>
            <a:ext cx="214884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0D4C05D-7B48-4D7A-867F-E09FCAE2F447}"/>
              </a:ext>
            </a:extLst>
          </p:cNvPr>
          <p:cNvSpPr>
            <a:spLocks noGrp="1"/>
          </p:cNvSpPr>
          <p:nvPr/>
        </p:nvSpPr>
        <p:spPr>
          <a:xfrm>
            <a:off x="6501383" y="5900578"/>
            <a:ext cx="207568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FCF · FCF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A10BC76-516C-4A46-91D7-5199F99896F4}"/>
              </a:ext>
            </a:extLst>
          </p:cNvPr>
          <p:cNvSpPr>
            <a:spLocks noGrp="1"/>
          </p:cNvSpPr>
          <p:nvPr/>
        </p:nvSpPr>
        <p:spPr>
          <a:xfrm>
            <a:off x="8613648" y="5815583"/>
            <a:ext cx="2468880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82D38BA-B3EE-468B-BF8F-3B595CCFD8AD}"/>
              </a:ext>
            </a:extLst>
          </p:cNvPr>
          <p:cNvSpPr>
            <a:spLocks noGrp="1"/>
          </p:cNvSpPr>
          <p:nvPr/>
        </p:nvSpPr>
        <p:spPr>
          <a:xfrm>
            <a:off x="8650224" y="5900578"/>
            <a:ext cx="2395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FCF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PER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1F7D0645-1366-0B64-1E51-F7AF7D7DE42A}"/>
              </a:ext>
            </a:extLst>
          </p:cNvPr>
          <p:cNvSpPr>
            <a:spLocks noGrp="1"/>
          </p:cNvSpPr>
          <p:nvPr/>
        </p:nvSpPr>
        <p:spPr>
          <a:xfrm>
            <a:off x="0" y="-1327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Rounded Rectangle 3">
            <a:extLst>
              <a:ext uri="{FF2B5EF4-FFF2-40B4-BE49-F238E27FC236}">
                <a16:creationId xmlns:a16="http://schemas.microsoft.com/office/drawing/2014/main" id="{AC3ECDF8-DE17-922D-D5D8-B2DEB0C064F4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4">
            <a:extLst>
              <a:ext uri="{FF2B5EF4-FFF2-40B4-BE49-F238E27FC236}">
                <a16:creationId xmlns:a16="http://schemas.microsoft.com/office/drawing/2014/main" id="{A5574AED-F981-801F-EF85-9DDD4654DEE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20" name="TextBox 5">
            <a:extLst>
              <a:ext uri="{FF2B5EF4-FFF2-40B4-BE49-F238E27FC236}">
                <a16:creationId xmlns:a16="http://schemas.microsoft.com/office/drawing/2014/main" id="{6F10CD99-F42F-7935-D9F0-C265C5697B60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2" name="TextBox 6">
            <a:extLst>
              <a:ext uri="{FF2B5EF4-FFF2-40B4-BE49-F238E27FC236}">
                <a16:creationId xmlns:a16="http://schemas.microsoft.com/office/drawing/2014/main" id="{F8052EE4-BF8F-0AB1-92BA-BF62226A41B2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4" name="TextBox 7">
            <a:extLst>
              <a:ext uri="{FF2B5EF4-FFF2-40B4-BE49-F238E27FC236}">
                <a16:creationId xmlns:a16="http://schemas.microsoft.com/office/drawing/2014/main" id="{36CD7E7C-35AC-E3FC-4CE8-B43593ED427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8">
            <a:extLst>
              <a:ext uri="{FF2B5EF4-FFF2-40B4-BE49-F238E27FC236}">
                <a16:creationId xmlns:a16="http://schemas.microsoft.com/office/drawing/2014/main" id="{F369C4BD-19C6-2CED-48A5-CD5DD94194E2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8" name="TextBox 9">
            <a:extLst>
              <a:ext uri="{FF2B5EF4-FFF2-40B4-BE49-F238E27FC236}">
                <a16:creationId xmlns:a16="http://schemas.microsoft.com/office/drawing/2014/main" id="{AA308EB6-C670-D4A4-65A4-9158D63F549D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0" name="TextBox 10">
            <a:extLst>
              <a:ext uri="{FF2B5EF4-FFF2-40B4-BE49-F238E27FC236}">
                <a16:creationId xmlns:a16="http://schemas.microsoft.com/office/drawing/2014/main" id="{AE8BE276-2972-AC26-9C29-14585B727193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32" name="TextBox 11">
            <a:extLst>
              <a:ext uri="{FF2B5EF4-FFF2-40B4-BE49-F238E27FC236}">
                <a16:creationId xmlns:a16="http://schemas.microsoft.com/office/drawing/2014/main" id="{546B66DF-B226-9F6D-EFC7-DAFE468A57C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5FB6F183-561C-75F5-63BB-F791E0AD0936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9EAA19C3-C7FD-078E-7DEF-99D62674CB72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C3C57211-702B-7699-ED0F-E5A00A64C199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F6FCC812-8DFB-B013-5BC7-3D5E9110D49C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CED240-1DB1-1E13-415E-4139FD308F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4157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D558DDE-8F73-4056-BE21-4C532548002D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DC5CE6-D654-4BC8-BB46-74A6F5366CD3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BE41CA-50B3-4CF9-8D11-368B7394F595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CAF0DC-8CB0-46CA-B194-38755047E30F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C02176-E45F-4E16-9F1F-5EA21506DB8B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69F30-71DB-4D82-B014-D95DF1084B8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F916A4-78AE-48F2-AEA4-E750B1A094E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91BA1F-7464-4C8E-BEED-7917FF5BA2DA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69D1EA-656D-4EBB-A798-BB788FFECCDC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88288E-778B-4040-AD6C-DFF4A1A7AD0C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606438-FB2B-4E9C-801F-EFBBF5B445A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6AE798-2E64-4BD8-B5D5-F8010D42E7AA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124B98-C5F9-4588-B06C-3A84CAD57A9C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E8409B-21B8-4D4D-A732-0A75756145C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3A48D0-9EDF-40D0-A235-ABE6790A229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규모와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1F2E3F45-1D82-47FE-9FC2-4F6F2210F932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3F2D984C-294C-4703-9E49-414D676F5C5C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221F72-A4A2-4031-B403-336FA7B7EBEE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7BCD50C-9647-47B5-85EA-96D37F3E19B0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FF5C34-3617-4460-B3FA-53DF66CDA704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3BB2FD6D-3620-4CE2-8C03-C3F306B01D28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6446520" cy="4462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99D9B-7887-4BBD-8844-D5DC4290E232}"/>
              </a:ext>
            </a:extLst>
          </p:cNvPr>
          <p:cNvSpPr>
            <a:spLocks noGrp="1"/>
          </p:cNvSpPr>
          <p:nvPr/>
        </p:nvSpPr>
        <p:spPr>
          <a:xfrm>
            <a:off x="1225296" y="1810512"/>
            <a:ext cx="583387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A55EB366-AE5D-45CF-9396-9D1C40468CB5}"/>
              </a:ext>
            </a:extLst>
          </p:cNvPr>
          <p:cNvSpPr>
            <a:spLocks noGrp="1"/>
          </p:cNvSpPr>
          <p:nvPr/>
        </p:nvSpPr>
        <p:spPr>
          <a:xfrm>
            <a:off x="1545336" y="5102351"/>
            <a:ext cx="5404104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FC7C14-AD82-44B9-9F96-067D536C047B}"/>
              </a:ext>
            </a:extLst>
          </p:cNvPr>
          <p:cNvSpPr>
            <a:spLocks noGrp="1"/>
          </p:cNvSpPr>
          <p:nvPr/>
        </p:nvSpPr>
        <p:spPr>
          <a:xfrm>
            <a:off x="1636776" y="3774122"/>
            <a:ext cx="463326" cy="1328229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0BD7B6-C98B-40BE-AC64-B868F3F21B5C}"/>
              </a:ext>
            </a:extLst>
          </p:cNvPr>
          <p:cNvSpPr>
            <a:spLocks noGrp="1"/>
          </p:cNvSpPr>
          <p:nvPr/>
        </p:nvSpPr>
        <p:spPr>
          <a:xfrm>
            <a:off x="1563624" y="3591242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1747D3-1F1F-4D99-BC98-D73597E16E87}"/>
              </a:ext>
            </a:extLst>
          </p:cNvPr>
          <p:cNvSpPr>
            <a:spLocks noGrp="1"/>
          </p:cNvSpPr>
          <p:nvPr/>
        </p:nvSpPr>
        <p:spPr>
          <a:xfrm>
            <a:off x="1545336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217F32C-5795-4B3A-94A3-3DA35C0EB626}"/>
              </a:ext>
            </a:extLst>
          </p:cNvPr>
          <p:cNvSpPr>
            <a:spLocks noGrp="1"/>
          </p:cNvSpPr>
          <p:nvPr/>
        </p:nvSpPr>
        <p:spPr>
          <a:xfrm>
            <a:off x="2666390" y="3614735"/>
            <a:ext cx="463326" cy="1487616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CE6B92-08C7-4396-A45E-67177EC67302}"/>
              </a:ext>
            </a:extLst>
          </p:cNvPr>
          <p:cNvSpPr>
            <a:spLocks noGrp="1"/>
          </p:cNvSpPr>
          <p:nvPr/>
        </p:nvSpPr>
        <p:spPr>
          <a:xfrm>
            <a:off x="2593238" y="3431855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08B1AE-76BA-43C6-BCB2-65CD2BC0905D}"/>
              </a:ext>
            </a:extLst>
          </p:cNvPr>
          <p:cNvSpPr>
            <a:spLocks noGrp="1"/>
          </p:cNvSpPr>
          <p:nvPr/>
        </p:nvSpPr>
        <p:spPr>
          <a:xfrm>
            <a:off x="2574950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2AAB2DE-636F-47F6-84CF-464B0DEC7B68}"/>
              </a:ext>
            </a:extLst>
          </p:cNvPr>
          <p:cNvSpPr>
            <a:spLocks noGrp="1"/>
          </p:cNvSpPr>
          <p:nvPr/>
        </p:nvSpPr>
        <p:spPr>
          <a:xfrm>
            <a:off x="3696004" y="3402218"/>
            <a:ext cx="463326" cy="1700133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118429-18D0-4439-811A-FC5A892E5B3C}"/>
              </a:ext>
            </a:extLst>
          </p:cNvPr>
          <p:cNvSpPr>
            <a:spLocks noGrp="1"/>
          </p:cNvSpPr>
          <p:nvPr/>
        </p:nvSpPr>
        <p:spPr>
          <a:xfrm>
            <a:off x="3622852" y="3219338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13AA0B-EA51-4E12-99D9-31D9236DB973}"/>
              </a:ext>
            </a:extLst>
          </p:cNvPr>
          <p:cNvSpPr>
            <a:spLocks noGrp="1"/>
          </p:cNvSpPr>
          <p:nvPr/>
        </p:nvSpPr>
        <p:spPr>
          <a:xfrm>
            <a:off x="3604564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CD5004-69DB-47E3-8753-B336E90CD5BB}"/>
              </a:ext>
            </a:extLst>
          </p:cNvPr>
          <p:cNvSpPr>
            <a:spLocks noGrp="1"/>
          </p:cNvSpPr>
          <p:nvPr/>
        </p:nvSpPr>
        <p:spPr>
          <a:xfrm>
            <a:off x="4725619" y="3123290"/>
            <a:ext cx="463326" cy="1979061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391A99-0003-48C6-9EBC-3AAEB39787AE}"/>
              </a:ext>
            </a:extLst>
          </p:cNvPr>
          <p:cNvSpPr>
            <a:spLocks noGrp="1"/>
          </p:cNvSpPr>
          <p:nvPr/>
        </p:nvSpPr>
        <p:spPr>
          <a:xfrm>
            <a:off x="4652467" y="2940410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149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489333-C590-4C80-8B07-71F483D26B14}"/>
              </a:ext>
            </a:extLst>
          </p:cNvPr>
          <p:cNvSpPr>
            <a:spLocks noGrp="1"/>
          </p:cNvSpPr>
          <p:nvPr/>
        </p:nvSpPr>
        <p:spPr>
          <a:xfrm>
            <a:off x="4634179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12E132-B065-4605-A557-C29A5A46D3F5}"/>
              </a:ext>
            </a:extLst>
          </p:cNvPr>
          <p:cNvSpPr>
            <a:spLocks noGrp="1"/>
          </p:cNvSpPr>
          <p:nvPr/>
        </p:nvSpPr>
        <p:spPr>
          <a:xfrm>
            <a:off x="5755233" y="2764668"/>
            <a:ext cx="463326" cy="2337683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C33A10-E2CD-4E08-A17E-4C22B3E500D5}"/>
              </a:ext>
            </a:extLst>
          </p:cNvPr>
          <p:cNvSpPr>
            <a:spLocks noGrp="1"/>
          </p:cNvSpPr>
          <p:nvPr/>
        </p:nvSpPr>
        <p:spPr>
          <a:xfrm>
            <a:off x="5682081" y="2581788"/>
            <a:ext cx="60963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176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743777-6A8E-40D9-A537-97C2B7FAE5A6}"/>
              </a:ext>
            </a:extLst>
          </p:cNvPr>
          <p:cNvSpPr>
            <a:spLocks noGrp="1"/>
          </p:cNvSpPr>
          <p:nvPr/>
        </p:nvSpPr>
        <p:spPr>
          <a:xfrm>
            <a:off x="5663793" y="5193792"/>
            <a:ext cx="64620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73D1B94-28AF-4E8E-A956-3BCD8FB975C9}"/>
              </a:ext>
            </a:extLst>
          </p:cNvPr>
          <p:cNvSpPr>
            <a:spLocks noGrp="1"/>
          </p:cNvSpPr>
          <p:nvPr/>
        </p:nvSpPr>
        <p:spPr>
          <a:xfrm>
            <a:off x="5340096" y="1810512"/>
            <a:ext cx="146304" cy="91440"/>
          </a:xfrm>
          <a:prstGeom prst="rect">
            <a:avLst/>
          </a:prstGeom>
          <a:solidFill>
            <a:srgbClr val="AEC4D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B56B03-D324-45D6-84CF-17E247075C42}"/>
              </a:ext>
            </a:extLst>
          </p:cNvPr>
          <p:cNvSpPr>
            <a:spLocks noGrp="1"/>
          </p:cNvSpPr>
          <p:nvPr/>
        </p:nvSpPr>
        <p:spPr>
          <a:xfrm>
            <a:off x="5541264" y="1773936"/>
            <a:ext cx="34747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64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1D011C7-B7BE-447C-A178-34159FFF7F44}"/>
              </a:ext>
            </a:extLst>
          </p:cNvPr>
          <p:cNvSpPr>
            <a:spLocks noGrp="1"/>
          </p:cNvSpPr>
          <p:nvPr/>
        </p:nvSpPr>
        <p:spPr>
          <a:xfrm>
            <a:off x="6108192" y="1810512"/>
            <a:ext cx="146304" cy="9144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B02AB4-303F-4CD1-8AAB-75A1F0E871C7}"/>
              </a:ext>
            </a:extLst>
          </p:cNvPr>
          <p:cNvSpPr>
            <a:spLocks noGrp="1"/>
          </p:cNvSpPr>
          <p:nvPr/>
        </p:nvSpPr>
        <p:spPr>
          <a:xfrm>
            <a:off x="6309360" y="1773936"/>
            <a:ext cx="34747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endParaRPr sz="64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3B23AB3-30A3-4F5A-97A8-82C41D8F778E}"/>
              </a:ext>
            </a:extLst>
          </p:cNvPr>
          <p:cNvSpPr>
            <a:spLocks noGrp="1"/>
          </p:cNvSpPr>
          <p:nvPr/>
        </p:nvSpPr>
        <p:spPr>
          <a:xfrm>
            <a:off x="7626096" y="1463040"/>
            <a:ext cx="3456432" cy="446227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65B34D-8A6E-4545-BB7B-ECCB356FD765}"/>
              </a:ext>
            </a:extLst>
          </p:cNvPr>
          <p:cNvSpPr>
            <a:spLocks noGrp="1"/>
          </p:cNvSpPr>
          <p:nvPr/>
        </p:nvSpPr>
        <p:spPr>
          <a:xfrm>
            <a:off x="7863840" y="1737360"/>
            <a:ext cx="124358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9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95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7DD574-9DEC-464F-83D8-9FFFFB6B81E6}"/>
              </a:ext>
            </a:extLst>
          </p:cNvPr>
          <p:cNvSpPr>
            <a:spLocks noGrp="1"/>
          </p:cNvSpPr>
          <p:nvPr/>
        </p:nvSpPr>
        <p:spPr>
          <a:xfrm>
            <a:off x="7863840" y="2121408"/>
            <a:ext cx="263347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성장의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질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28016A-E818-4107-A9ED-3B3904AB3012}"/>
              </a:ext>
            </a:extLst>
          </p:cNvPr>
          <p:cNvSpPr>
            <a:spLocks noGrp="1"/>
          </p:cNvSpPr>
          <p:nvPr/>
        </p:nvSpPr>
        <p:spPr>
          <a:xfrm>
            <a:off x="7863840" y="2350008"/>
            <a:ext cx="268833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물량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주도하는가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9F7F17-5B77-488A-875C-302591CBB9D9}"/>
              </a:ext>
            </a:extLst>
          </p:cNvPr>
          <p:cNvSpPr>
            <a:spLocks noGrp="1"/>
          </p:cNvSpPr>
          <p:nvPr/>
        </p:nvSpPr>
        <p:spPr>
          <a:xfrm>
            <a:off x="7863840" y="2852928"/>
            <a:ext cx="263347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지속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기간</a:t>
            </a:r>
            <a:endParaRPr sz="8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2B29F7-37FF-4736-B387-1517CC1E6FFF}"/>
              </a:ext>
            </a:extLst>
          </p:cNvPr>
          <p:cNvSpPr>
            <a:spLocks noGrp="1"/>
          </p:cNvSpPr>
          <p:nvPr/>
        </p:nvSpPr>
        <p:spPr>
          <a:xfrm>
            <a:off x="7863840" y="3081528"/>
            <a:ext cx="268833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교체주기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일회성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사이클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여부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B6C5EA-6862-4158-A7E9-8B1B542156AF}"/>
              </a:ext>
            </a:extLst>
          </p:cNvPr>
          <p:cNvSpPr>
            <a:spLocks noGrp="1"/>
          </p:cNvSpPr>
          <p:nvPr/>
        </p:nvSpPr>
        <p:spPr>
          <a:xfrm>
            <a:off x="7863840" y="3584448"/>
            <a:ext cx="263347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추정치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변화</a:t>
            </a:r>
            <a:endParaRPr sz="8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419184-C797-42E3-8CD9-5AAC5C53368B}"/>
              </a:ext>
            </a:extLst>
          </p:cNvPr>
          <p:cNvSpPr>
            <a:spLocks noGrp="1"/>
          </p:cNvSpPr>
          <p:nvPr/>
        </p:nvSpPr>
        <p:spPr>
          <a:xfrm>
            <a:off x="7863840" y="3813048"/>
            <a:ext cx="268833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지역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ASP/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생산능력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B0F892-AF1E-4CE3-AA9B-EBE8EA3552C4}"/>
              </a:ext>
            </a:extLst>
          </p:cNvPr>
          <p:cNvSpPr>
            <a:spLocks noGrp="1"/>
          </p:cNvSpPr>
          <p:nvPr/>
        </p:nvSpPr>
        <p:spPr>
          <a:xfrm>
            <a:off x="7863840" y="4315968"/>
            <a:ext cx="2633472" cy="1615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④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endParaRPr sz="81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FBB467-8FDC-4153-ADE8-49580608B88E}"/>
              </a:ext>
            </a:extLst>
          </p:cNvPr>
          <p:cNvSpPr>
            <a:spLocks noGrp="1"/>
          </p:cNvSpPr>
          <p:nvPr/>
        </p:nvSpPr>
        <p:spPr>
          <a:xfrm>
            <a:off x="7863840" y="4544568"/>
            <a:ext cx="268833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4개사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연결되는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2AED438-A161-4E4F-ADB3-64B07C9F58F6}"/>
              </a:ext>
            </a:extLst>
          </p:cNvPr>
          <p:cNvSpPr>
            <a:spLocks noGrp="1"/>
          </p:cNvSpPr>
          <p:nvPr/>
        </p:nvSpPr>
        <p:spPr>
          <a:xfrm>
            <a:off x="7827264" y="5212080"/>
            <a:ext cx="2962656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71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E5F6B5B-228D-46BC-AAAA-05273568AF24}"/>
              </a:ext>
            </a:extLst>
          </p:cNvPr>
          <p:cNvSpPr>
            <a:spLocks noGrp="1"/>
          </p:cNvSpPr>
          <p:nvPr/>
        </p:nvSpPr>
        <p:spPr>
          <a:xfrm>
            <a:off x="7991856" y="5367528"/>
            <a:ext cx="263347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[FY26E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성장률이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둔화되는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4" name="Rectangle 1">
            <a:extLst>
              <a:ext uri="{FF2B5EF4-FFF2-40B4-BE49-F238E27FC236}">
                <a16:creationId xmlns:a16="http://schemas.microsoft.com/office/drawing/2014/main" id="{173D2346-FBDE-51CB-C5F0-F3835CB1E36E}"/>
              </a:ext>
            </a:extLst>
          </p:cNvPr>
          <p:cNvSpPr>
            <a:spLocks noGrp="1"/>
          </p:cNvSpPr>
          <p:nvPr/>
        </p:nvSpPr>
        <p:spPr>
          <a:xfrm>
            <a:off x="0" y="-565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Rounded Rectangle 3">
            <a:extLst>
              <a:ext uri="{FF2B5EF4-FFF2-40B4-BE49-F238E27FC236}">
                <a16:creationId xmlns:a16="http://schemas.microsoft.com/office/drawing/2014/main" id="{475E3C2B-281D-4166-7A3E-FC5CA7B3F86D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4">
            <a:extLst>
              <a:ext uri="{FF2B5EF4-FFF2-40B4-BE49-F238E27FC236}">
                <a16:creationId xmlns:a16="http://schemas.microsoft.com/office/drawing/2014/main" id="{08E690DD-6897-4927-46DE-918CF88CCB1E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2" name="TextBox 5">
            <a:extLst>
              <a:ext uri="{FF2B5EF4-FFF2-40B4-BE49-F238E27FC236}">
                <a16:creationId xmlns:a16="http://schemas.microsoft.com/office/drawing/2014/main" id="{5AB524DF-ADE6-6580-A0F9-C1020F1A9C1C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6">
            <a:extLst>
              <a:ext uri="{FF2B5EF4-FFF2-40B4-BE49-F238E27FC236}">
                <a16:creationId xmlns:a16="http://schemas.microsoft.com/office/drawing/2014/main" id="{3159DD3C-4445-F78E-96EE-B89EBDEA4380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6" name="TextBox 7">
            <a:extLst>
              <a:ext uri="{FF2B5EF4-FFF2-40B4-BE49-F238E27FC236}">
                <a16:creationId xmlns:a16="http://schemas.microsoft.com/office/drawing/2014/main" id="{47DD034E-AAAD-E100-F980-F4C4A5894138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8">
            <a:extLst>
              <a:ext uri="{FF2B5EF4-FFF2-40B4-BE49-F238E27FC236}">
                <a16:creationId xmlns:a16="http://schemas.microsoft.com/office/drawing/2014/main" id="{783A6C90-0AB4-0291-BD7F-684DABB7505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0" name="TextBox 9">
            <a:extLst>
              <a:ext uri="{FF2B5EF4-FFF2-40B4-BE49-F238E27FC236}">
                <a16:creationId xmlns:a16="http://schemas.microsoft.com/office/drawing/2014/main" id="{99E90032-684B-15C3-E49F-503CB9E5ED44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0">
            <a:extLst>
              <a:ext uri="{FF2B5EF4-FFF2-40B4-BE49-F238E27FC236}">
                <a16:creationId xmlns:a16="http://schemas.microsoft.com/office/drawing/2014/main" id="{EA2DD56F-F6E6-A224-4BFB-8FD977B9B392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4" name="TextBox 11">
            <a:extLst>
              <a:ext uri="{FF2B5EF4-FFF2-40B4-BE49-F238E27FC236}">
                <a16:creationId xmlns:a16="http://schemas.microsoft.com/office/drawing/2014/main" id="{34F86D78-4E6B-19F5-EBE1-3F578A4329F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2">
            <a:extLst>
              <a:ext uri="{FF2B5EF4-FFF2-40B4-BE49-F238E27FC236}">
                <a16:creationId xmlns:a16="http://schemas.microsoft.com/office/drawing/2014/main" id="{971E1E51-0F1E-4AE6-E57C-05509E1ECECD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8" name="TextBox 13">
            <a:extLst>
              <a:ext uri="{FF2B5EF4-FFF2-40B4-BE49-F238E27FC236}">
                <a16:creationId xmlns:a16="http://schemas.microsoft.com/office/drawing/2014/main" id="{5450638B-D514-6D2C-3A60-5A37D7CFCD85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0" name="TextBox 14">
            <a:extLst>
              <a:ext uri="{FF2B5EF4-FFF2-40B4-BE49-F238E27FC236}">
                <a16:creationId xmlns:a16="http://schemas.microsoft.com/office/drawing/2014/main" id="{07FEA440-28DD-AA34-0559-562563CBB07D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2" name="TextBox 15">
            <a:extLst>
              <a:ext uri="{FF2B5EF4-FFF2-40B4-BE49-F238E27FC236}">
                <a16:creationId xmlns:a16="http://schemas.microsoft.com/office/drawing/2014/main" id="{55EC58CA-F4CA-7792-AA8E-5E63D4161FB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69DF46-2E3E-9B54-88E0-7297E48B48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40833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0BA55F6-BD80-48C3-9BFE-9A2269E9F677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BBBE28-8DE4-4E05-95E1-D7862F4F2139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E382E7-F860-4D42-8E47-CACD2990321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69A6D-BA90-4156-9CF7-2CED716D5F5E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3E41F5-697A-4DD8-98C5-4BE28CB2DCBD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EFADF8-7A2C-43FA-9C51-72BABBFBBFB5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4903EC-3121-4FA8-8E35-974FBE92861B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961062-E9A4-4D19-9A85-3D2ACA4A3F7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2A099D-7A73-4B34-AE57-E220A58B103F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B92B8D-7C93-4AC7-B445-7800275AA751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663BAB-4A2F-43C4-8BE6-F645850A9B02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8F91E9-C4C8-46B6-88C8-1C2A2D39F8F2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5D8C1B-77D8-4F77-8290-AEDF60A300B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FCB827-5E81-4F2D-917B-1E62A91185FA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E16E44-6851-4CAC-8CCE-E4674B76D1C0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422F283F-DDF3-4484-8743-EA9C82BBF36C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B1516C89-D8E3-4DD4-82EA-A09609328B79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6F839F-97FF-46B1-AC51-C643C18FDF94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9F0288B-7A29-4B5C-9B00-9903FF2432D2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8FA908-FCF1-477A-8AAE-0BFA6C82DCEE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7032F5-9B47-4C2B-855B-43591D9F32A6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검증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표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9978AED-CDE3-4D1C-A0AE-50CCE0FFCA73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7FD572EF-44BE-4F55-A09A-34101BE45392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674EF7-DE6A-4FAF-A161-A33B497B2AB3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1325880" cy="50683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42C5F1-4074-4509-8A0B-9847DB0A7D64}"/>
              </a:ext>
            </a:extLst>
          </p:cNvPr>
          <p:cNvSpPr>
            <a:spLocks noGrp="1"/>
          </p:cNvSpPr>
          <p:nvPr/>
        </p:nvSpPr>
        <p:spPr>
          <a:xfrm>
            <a:off x="969264" y="1921534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단계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9687A97-4E8B-489F-B8D7-CFE0C1A3FFE7}"/>
              </a:ext>
            </a:extLst>
          </p:cNvPr>
          <p:cNvSpPr>
            <a:spLocks noGrp="1"/>
          </p:cNvSpPr>
          <p:nvPr/>
        </p:nvSpPr>
        <p:spPr>
          <a:xfrm>
            <a:off x="2258568" y="1755648"/>
            <a:ext cx="2423160" cy="50683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8D3E49-DEDC-479E-A716-79EA65A11B05}"/>
              </a:ext>
            </a:extLst>
          </p:cNvPr>
          <p:cNvSpPr>
            <a:spLocks noGrp="1"/>
          </p:cNvSpPr>
          <p:nvPr/>
        </p:nvSpPr>
        <p:spPr>
          <a:xfrm>
            <a:off x="2295144" y="1921534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0526580-DC8D-4CEC-B750-64925D8FF179}"/>
              </a:ext>
            </a:extLst>
          </p:cNvPr>
          <p:cNvSpPr>
            <a:spLocks noGrp="1"/>
          </p:cNvSpPr>
          <p:nvPr/>
        </p:nvSpPr>
        <p:spPr>
          <a:xfrm>
            <a:off x="4681727" y="1755648"/>
            <a:ext cx="1417320" cy="50683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E129BB-A220-44C7-AE68-04642C589557}"/>
              </a:ext>
            </a:extLst>
          </p:cNvPr>
          <p:cNvSpPr>
            <a:spLocks noGrp="1"/>
          </p:cNvSpPr>
          <p:nvPr/>
        </p:nvSpPr>
        <p:spPr>
          <a:xfrm>
            <a:off x="4718303" y="1921534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상태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25AD76-AD5D-49D6-9F8B-D74AB615E2E4}"/>
              </a:ext>
            </a:extLst>
          </p:cNvPr>
          <p:cNvSpPr>
            <a:spLocks noGrp="1"/>
          </p:cNvSpPr>
          <p:nvPr/>
        </p:nvSpPr>
        <p:spPr>
          <a:xfrm>
            <a:off x="6099047" y="1755648"/>
            <a:ext cx="1618488" cy="50683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BAEC18-1A57-49A3-8CC8-29717E263651}"/>
              </a:ext>
            </a:extLst>
          </p:cNvPr>
          <p:cNvSpPr>
            <a:spLocks noGrp="1"/>
          </p:cNvSpPr>
          <p:nvPr/>
        </p:nvSpPr>
        <p:spPr>
          <a:xfrm>
            <a:off x="6135623" y="1921534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8BD3F3A-82A1-4CD2-98DE-D32B730C2899}"/>
              </a:ext>
            </a:extLst>
          </p:cNvPr>
          <p:cNvSpPr>
            <a:spLocks noGrp="1"/>
          </p:cNvSpPr>
          <p:nvPr/>
        </p:nvSpPr>
        <p:spPr>
          <a:xfrm>
            <a:off x="932688" y="2262486"/>
            <a:ext cx="132588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B2255D-7F03-43FD-B127-54526BB24ED5}"/>
              </a:ext>
            </a:extLst>
          </p:cNvPr>
          <p:cNvSpPr>
            <a:spLocks noGrp="1"/>
          </p:cNvSpPr>
          <p:nvPr/>
        </p:nvSpPr>
        <p:spPr>
          <a:xfrm>
            <a:off x="969264" y="2425839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C81344-3245-4130-8447-37AC0BFDEC02}"/>
              </a:ext>
            </a:extLst>
          </p:cNvPr>
          <p:cNvSpPr>
            <a:spLocks noGrp="1"/>
          </p:cNvSpPr>
          <p:nvPr/>
        </p:nvSpPr>
        <p:spPr>
          <a:xfrm>
            <a:off x="2258568" y="2262486"/>
            <a:ext cx="242316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A14290-E34B-43D4-8708-85E727256844}"/>
              </a:ext>
            </a:extLst>
          </p:cNvPr>
          <p:cNvSpPr>
            <a:spLocks noGrp="1"/>
          </p:cNvSpPr>
          <p:nvPr/>
        </p:nvSpPr>
        <p:spPr>
          <a:xfrm>
            <a:off x="2295144" y="2425839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CapEx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침투율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8645452-1FA9-485C-9408-3D3E162D21FF}"/>
              </a:ext>
            </a:extLst>
          </p:cNvPr>
          <p:cNvSpPr>
            <a:spLocks noGrp="1"/>
          </p:cNvSpPr>
          <p:nvPr/>
        </p:nvSpPr>
        <p:spPr>
          <a:xfrm>
            <a:off x="4681727" y="2262486"/>
            <a:ext cx="141732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87878D-C73D-47BA-9B57-6D617DCADAEC}"/>
              </a:ext>
            </a:extLst>
          </p:cNvPr>
          <p:cNvSpPr>
            <a:spLocks noGrp="1"/>
          </p:cNvSpPr>
          <p:nvPr/>
        </p:nvSpPr>
        <p:spPr>
          <a:xfrm>
            <a:off x="4718303" y="2425839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1A69D42-443B-4A61-A2D6-DBB55435D902}"/>
              </a:ext>
            </a:extLst>
          </p:cNvPr>
          <p:cNvSpPr>
            <a:spLocks noGrp="1"/>
          </p:cNvSpPr>
          <p:nvPr/>
        </p:nvSpPr>
        <p:spPr>
          <a:xfrm>
            <a:off x="6099047" y="2262486"/>
            <a:ext cx="1618488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E9D40B-27C5-45C5-A7F4-8742615A0B2D}"/>
              </a:ext>
            </a:extLst>
          </p:cNvPr>
          <p:cNvSpPr>
            <a:spLocks noGrp="1"/>
          </p:cNvSpPr>
          <p:nvPr/>
        </p:nvSpPr>
        <p:spPr>
          <a:xfrm>
            <a:off x="6135623" y="2425839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E38ED5B-22C0-4426-9731-41385BDDF0B7}"/>
              </a:ext>
            </a:extLst>
          </p:cNvPr>
          <p:cNvSpPr>
            <a:spLocks noGrp="1"/>
          </p:cNvSpPr>
          <p:nvPr/>
        </p:nvSpPr>
        <p:spPr>
          <a:xfrm>
            <a:off x="932688" y="2769325"/>
            <a:ext cx="132588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7FA6F3-18F3-4A82-B79A-103C843F35E6}"/>
              </a:ext>
            </a:extLst>
          </p:cNvPr>
          <p:cNvSpPr>
            <a:spLocks noGrp="1"/>
          </p:cNvSpPr>
          <p:nvPr/>
        </p:nvSpPr>
        <p:spPr>
          <a:xfrm>
            <a:off x="969264" y="2932678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87255DA-8D78-41D1-87F1-14417FB5C66C}"/>
              </a:ext>
            </a:extLst>
          </p:cNvPr>
          <p:cNvSpPr>
            <a:spLocks noGrp="1"/>
          </p:cNvSpPr>
          <p:nvPr/>
        </p:nvSpPr>
        <p:spPr>
          <a:xfrm>
            <a:off x="2258568" y="2769325"/>
            <a:ext cx="242316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8DD8A8-1D8C-4154-B333-60436D351753}"/>
              </a:ext>
            </a:extLst>
          </p:cNvPr>
          <p:cNvSpPr>
            <a:spLocks noGrp="1"/>
          </p:cNvSpPr>
          <p:nvPr/>
        </p:nvSpPr>
        <p:spPr>
          <a:xfrm>
            <a:off x="2295144" y="2932678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백로그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9351551-8BE2-4CCF-A9B0-83BE190F5DA7}"/>
              </a:ext>
            </a:extLst>
          </p:cNvPr>
          <p:cNvSpPr>
            <a:spLocks noGrp="1"/>
          </p:cNvSpPr>
          <p:nvPr/>
        </p:nvSpPr>
        <p:spPr>
          <a:xfrm>
            <a:off x="4681727" y="2769325"/>
            <a:ext cx="141732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466476-AACD-48E5-B4E1-2C03533303F2}"/>
              </a:ext>
            </a:extLst>
          </p:cNvPr>
          <p:cNvSpPr>
            <a:spLocks noGrp="1"/>
          </p:cNvSpPr>
          <p:nvPr/>
        </p:nvSpPr>
        <p:spPr>
          <a:xfrm>
            <a:off x="4718303" y="2932678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0FEF016-2CF9-4981-B316-458D8346B45A}"/>
              </a:ext>
            </a:extLst>
          </p:cNvPr>
          <p:cNvSpPr>
            <a:spLocks noGrp="1"/>
          </p:cNvSpPr>
          <p:nvPr/>
        </p:nvSpPr>
        <p:spPr>
          <a:xfrm>
            <a:off x="6099047" y="2769325"/>
            <a:ext cx="1618488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F0608B-7ED5-4D96-B3E1-983C3FEB8ADB}"/>
              </a:ext>
            </a:extLst>
          </p:cNvPr>
          <p:cNvSpPr>
            <a:spLocks noGrp="1"/>
          </p:cNvSpPr>
          <p:nvPr/>
        </p:nvSpPr>
        <p:spPr>
          <a:xfrm>
            <a:off x="6135623" y="2932678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일정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436AD46-E857-46F4-A4D8-FDE6430CEC90}"/>
              </a:ext>
            </a:extLst>
          </p:cNvPr>
          <p:cNvSpPr>
            <a:spLocks noGrp="1"/>
          </p:cNvSpPr>
          <p:nvPr/>
        </p:nvSpPr>
        <p:spPr>
          <a:xfrm>
            <a:off x="932688" y="3276164"/>
            <a:ext cx="132588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849BC6-4132-4433-BE77-8832CC85B90B}"/>
              </a:ext>
            </a:extLst>
          </p:cNvPr>
          <p:cNvSpPr>
            <a:spLocks noGrp="1"/>
          </p:cNvSpPr>
          <p:nvPr/>
        </p:nvSpPr>
        <p:spPr>
          <a:xfrm>
            <a:off x="969264" y="3439516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0E7A225-E0B9-4B48-B516-D28CD627F270}"/>
              </a:ext>
            </a:extLst>
          </p:cNvPr>
          <p:cNvSpPr>
            <a:spLocks noGrp="1"/>
          </p:cNvSpPr>
          <p:nvPr/>
        </p:nvSpPr>
        <p:spPr>
          <a:xfrm>
            <a:off x="2258568" y="3276164"/>
            <a:ext cx="242316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D71A52-8D09-43ED-964B-432687F58A28}"/>
              </a:ext>
            </a:extLst>
          </p:cNvPr>
          <p:cNvSpPr>
            <a:spLocks noGrp="1"/>
          </p:cNvSpPr>
          <p:nvPr/>
        </p:nvSpPr>
        <p:spPr>
          <a:xfrm>
            <a:off x="2295144" y="3439516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CAPA/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F7133E9-398A-4083-8203-8B838FB891E6}"/>
              </a:ext>
            </a:extLst>
          </p:cNvPr>
          <p:cNvSpPr>
            <a:spLocks noGrp="1"/>
          </p:cNvSpPr>
          <p:nvPr/>
        </p:nvSpPr>
        <p:spPr>
          <a:xfrm>
            <a:off x="4681727" y="3276164"/>
            <a:ext cx="141732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0E7D45-3A00-4543-BDF8-EAA47C943B36}"/>
              </a:ext>
            </a:extLst>
          </p:cNvPr>
          <p:cNvSpPr>
            <a:spLocks noGrp="1"/>
          </p:cNvSpPr>
          <p:nvPr/>
        </p:nvSpPr>
        <p:spPr>
          <a:xfrm>
            <a:off x="4718303" y="3439516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3121D74-6DF2-4C8F-892F-542608A1E855}"/>
              </a:ext>
            </a:extLst>
          </p:cNvPr>
          <p:cNvSpPr>
            <a:spLocks noGrp="1"/>
          </p:cNvSpPr>
          <p:nvPr/>
        </p:nvSpPr>
        <p:spPr>
          <a:xfrm>
            <a:off x="6099047" y="3276164"/>
            <a:ext cx="1618488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23C78C-D698-4A89-A588-059A48F48450}"/>
              </a:ext>
            </a:extLst>
          </p:cNvPr>
          <p:cNvSpPr>
            <a:spLocks noGrp="1"/>
          </p:cNvSpPr>
          <p:nvPr/>
        </p:nvSpPr>
        <p:spPr>
          <a:xfrm>
            <a:off x="6135623" y="3439516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시점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F9E5C9C-E209-460A-A324-51B5EF93726D}"/>
              </a:ext>
            </a:extLst>
          </p:cNvPr>
          <p:cNvSpPr>
            <a:spLocks noGrp="1"/>
          </p:cNvSpPr>
          <p:nvPr/>
        </p:nvSpPr>
        <p:spPr>
          <a:xfrm>
            <a:off x="932688" y="3783003"/>
            <a:ext cx="132588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F370BA-99E2-43B9-A8F4-E31D15732F44}"/>
              </a:ext>
            </a:extLst>
          </p:cNvPr>
          <p:cNvSpPr>
            <a:spLocks noGrp="1"/>
          </p:cNvSpPr>
          <p:nvPr/>
        </p:nvSpPr>
        <p:spPr>
          <a:xfrm>
            <a:off x="969264" y="3946355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36EC52D-7FBD-495A-8884-6294A19A36E4}"/>
              </a:ext>
            </a:extLst>
          </p:cNvPr>
          <p:cNvSpPr>
            <a:spLocks noGrp="1"/>
          </p:cNvSpPr>
          <p:nvPr/>
        </p:nvSpPr>
        <p:spPr>
          <a:xfrm>
            <a:off x="2258568" y="3783003"/>
            <a:ext cx="242316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B0661F-A782-4D19-A703-67233404C7B8}"/>
              </a:ext>
            </a:extLst>
          </p:cNvPr>
          <p:cNvSpPr>
            <a:spLocks noGrp="1"/>
          </p:cNvSpPr>
          <p:nvPr/>
        </p:nvSpPr>
        <p:spPr>
          <a:xfrm>
            <a:off x="2295144" y="3946355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/ASP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324A0C2-6DF0-445E-A9E6-50B10EC0B566}"/>
              </a:ext>
            </a:extLst>
          </p:cNvPr>
          <p:cNvSpPr>
            <a:spLocks noGrp="1"/>
          </p:cNvSpPr>
          <p:nvPr/>
        </p:nvSpPr>
        <p:spPr>
          <a:xfrm>
            <a:off x="4681727" y="3783003"/>
            <a:ext cx="141732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17DD26-90FC-4647-9D5F-5AA1A3A34869}"/>
              </a:ext>
            </a:extLst>
          </p:cNvPr>
          <p:cNvSpPr>
            <a:spLocks noGrp="1"/>
          </p:cNvSpPr>
          <p:nvPr/>
        </p:nvSpPr>
        <p:spPr>
          <a:xfrm>
            <a:off x="4718303" y="3946355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D4369BF-3937-48FF-9ACC-A48EE935674B}"/>
              </a:ext>
            </a:extLst>
          </p:cNvPr>
          <p:cNvSpPr>
            <a:spLocks noGrp="1"/>
          </p:cNvSpPr>
          <p:nvPr/>
        </p:nvSpPr>
        <p:spPr>
          <a:xfrm>
            <a:off x="6099047" y="3783003"/>
            <a:ext cx="1618488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F91800-1E72-4B78-A58A-D8A1D91D5875}"/>
              </a:ext>
            </a:extLst>
          </p:cNvPr>
          <p:cNvSpPr>
            <a:spLocks noGrp="1"/>
          </p:cNvSpPr>
          <p:nvPr/>
        </p:nvSpPr>
        <p:spPr>
          <a:xfrm>
            <a:off x="6135623" y="3946355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5573D94-CA69-488C-AADC-C64FB38D25E1}"/>
              </a:ext>
            </a:extLst>
          </p:cNvPr>
          <p:cNvSpPr>
            <a:spLocks noGrp="1"/>
          </p:cNvSpPr>
          <p:nvPr/>
        </p:nvSpPr>
        <p:spPr>
          <a:xfrm>
            <a:off x="932688" y="4289842"/>
            <a:ext cx="132588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90F0F4-719C-4071-A586-B0999B33E6CF}"/>
              </a:ext>
            </a:extLst>
          </p:cNvPr>
          <p:cNvSpPr>
            <a:spLocks noGrp="1"/>
          </p:cNvSpPr>
          <p:nvPr/>
        </p:nvSpPr>
        <p:spPr>
          <a:xfrm>
            <a:off x="969264" y="4453194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91FB8C9-AB2D-4E30-ABA9-F18259D8E418}"/>
              </a:ext>
            </a:extLst>
          </p:cNvPr>
          <p:cNvSpPr>
            <a:spLocks noGrp="1"/>
          </p:cNvSpPr>
          <p:nvPr/>
        </p:nvSpPr>
        <p:spPr>
          <a:xfrm>
            <a:off x="2258568" y="4289842"/>
            <a:ext cx="242316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D03A32C-147E-4437-9A9F-4519F1D28D42}"/>
              </a:ext>
            </a:extLst>
          </p:cNvPr>
          <p:cNvSpPr>
            <a:spLocks noGrp="1"/>
          </p:cNvSpPr>
          <p:nvPr/>
        </p:nvSpPr>
        <p:spPr>
          <a:xfrm>
            <a:off x="2295144" y="4453194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고정비</a:t>
            </a:r>
            <a:endParaRPr sz="70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3F33CE2-AB8A-48B4-8AED-4445B76C5B7C}"/>
              </a:ext>
            </a:extLst>
          </p:cNvPr>
          <p:cNvSpPr>
            <a:spLocks noGrp="1"/>
          </p:cNvSpPr>
          <p:nvPr/>
        </p:nvSpPr>
        <p:spPr>
          <a:xfrm>
            <a:off x="4681727" y="4289842"/>
            <a:ext cx="1417320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E23FE29-842B-494C-AD48-B6CD5DD11985}"/>
              </a:ext>
            </a:extLst>
          </p:cNvPr>
          <p:cNvSpPr>
            <a:spLocks noGrp="1"/>
          </p:cNvSpPr>
          <p:nvPr/>
        </p:nvSpPr>
        <p:spPr>
          <a:xfrm>
            <a:off x="4718303" y="4453194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7357327-CAB1-44A3-8FC8-EE6990C527E9}"/>
              </a:ext>
            </a:extLst>
          </p:cNvPr>
          <p:cNvSpPr>
            <a:spLocks noGrp="1"/>
          </p:cNvSpPr>
          <p:nvPr/>
        </p:nvSpPr>
        <p:spPr>
          <a:xfrm>
            <a:off x="6099047" y="4289842"/>
            <a:ext cx="1618488" cy="50683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9AAA57F-7F40-4ED6-89F0-D97958CFCB28}"/>
              </a:ext>
            </a:extLst>
          </p:cNvPr>
          <p:cNvSpPr>
            <a:spLocks noGrp="1"/>
          </p:cNvSpPr>
          <p:nvPr/>
        </p:nvSpPr>
        <p:spPr>
          <a:xfrm>
            <a:off x="6135623" y="4453194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EB44CE0-3D2A-4A78-9BD8-C054AEA4E826}"/>
              </a:ext>
            </a:extLst>
          </p:cNvPr>
          <p:cNvSpPr>
            <a:spLocks noGrp="1"/>
          </p:cNvSpPr>
          <p:nvPr/>
        </p:nvSpPr>
        <p:spPr>
          <a:xfrm>
            <a:off x="932688" y="4796681"/>
            <a:ext cx="132588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F25E02F-BFD9-47F9-BE72-6663D9F7350E}"/>
              </a:ext>
            </a:extLst>
          </p:cNvPr>
          <p:cNvSpPr>
            <a:spLocks noGrp="1"/>
          </p:cNvSpPr>
          <p:nvPr/>
        </p:nvSpPr>
        <p:spPr>
          <a:xfrm>
            <a:off x="969264" y="4960033"/>
            <a:ext cx="125272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현금</a:t>
            </a:r>
            <a:endParaRPr sz="7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E8CD610-AA4D-475E-A391-A11F8688064D}"/>
              </a:ext>
            </a:extLst>
          </p:cNvPr>
          <p:cNvSpPr>
            <a:spLocks noGrp="1"/>
          </p:cNvSpPr>
          <p:nvPr/>
        </p:nvSpPr>
        <p:spPr>
          <a:xfrm>
            <a:off x="2258568" y="4796681"/>
            <a:ext cx="242316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81E6C46-60E2-4E62-89E1-6F3514FFCA88}"/>
              </a:ext>
            </a:extLst>
          </p:cNvPr>
          <p:cNvSpPr>
            <a:spLocks noGrp="1"/>
          </p:cNvSpPr>
          <p:nvPr/>
        </p:nvSpPr>
        <p:spPr>
          <a:xfrm>
            <a:off x="2295144" y="4960033"/>
            <a:ext cx="235000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재고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채권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/CAPEX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7CD09D2-EB5C-4CD1-B9FB-144F2FC6EA35}"/>
              </a:ext>
            </a:extLst>
          </p:cNvPr>
          <p:cNvSpPr>
            <a:spLocks noGrp="1"/>
          </p:cNvSpPr>
          <p:nvPr/>
        </p:nvSpPr>
        <p:spPr>
          <a:xfrm>
            <a:off x="4681727" y="4796681"/>
            <a:ext cx="1417320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694C999-B027-46C0-B41C-2C33B6C56270}"/>
              </a:ext>
            </a:extLst>
          </p:cNvPr>
          <p:cNvSpPr>
            <a:spLocks noGrp="1"/>
          </p:cNvSpPr>
          <p:nvPr/>
        </p:nvSpPr>
        <p:spPr>
          <a:xfrm>
            <a:off x="4718303" y="4960033"/>
            <a:ext cx="13441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4C7389A-F8F9-44E2-82A0-81ACB72A54B6}"/>
              </a:ext>
            </a:extLst>
          </p:cNvPr>
          <p:cNvSpPr>
            <a:spLocks noGrp="1"/>
          </p:cNvSpPr>
          <p:nvPr/>
        </p:nvSpPr>
        <p:spPr>
          <a:xfrm>
            <a:off x="6099047" y="4796681"/>
            <a:ext cx="1618488" cy="50683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133C1E1-0B57-4D43-9E7B-374F3414E20F}"/>
              </a:ext>
            </a:extLst>
          </p:cNvPr>
          <p:cNvSpPr>
            <a:spLocks noGrp="1"/>
          </p:cNvSpPr>
          <p:nvPr/>
        </p:nvSpPr>
        <p:spPr>
          <a:xfrm>
            <a:off x="6135623" y="4960033"/>
            <a:ext cx="154533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[FCF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23456C8F-2E19-4EC6-9BC1-1C42B12AA53A}"/>
              </a:ext>
            </a:extLst>
          </p:cNvPr>
          <p:cNvSpPr>
            <a:spLocks noGrp="1"/>
          </p:cNvSpPr>
          <p:nvPr/>
        </p:nvSpPr>
        <p:spPr>
          <a:xfrm>
            <a:off x="7955279" y="1755648"/>
            <a:ext cx="3127248" cy="13898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D45FCA0-1E9C-418D-BDF3-418D9E0C5E36}"/>
              </a:ext>
            </a:extLst>
          </p:cNvPr>
          <p:cNvSpPr>
            <a:spLocks noGrp="1"/>
          </p:cNvSpPr>
          <p:nvPr/>
        </p:nvSpPr>
        <p:spPr>
          <a:xfrm>
            <a:off x="8193024" y="1984248"/>
            <a:ext cx="1920240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이번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호에서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확인된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것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959DB8-49D1-4EF6-8311-B699BFB5599C}"/>
              </a:ext>
            </a:extLst>
          </p:cNvPr>
          <p:cNvSpPr>
            <a:spLocks noGrp="1"/>
          </p:cNvSpPr>
          <p:nvPr/>
        </p:nvSpPr>
        <p:spPr>
          <a:xfrm>
            <a:off x="8193024" y="2313432"/>
            <a:ext cx="2468880" cy="40216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수요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지표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상향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신규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수주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고객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마진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믹스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개선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근거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00FA104D-CE8B-4AB1-9E23-DF1297A19E43}"/>
              </a:ext>
            </a:extLst>
          </p:cNvPr>
          <p:cNvSpPr>
            <a:spLocks noGrp="1"/>
          </p:cNvSpPr>
          <p:nvPr/>
        </p:nvSpPr>
        <p:spPr>
          <a:xfrm>
            <a:off x="7955279" y="3364992"/>
            <a:ext cx="312724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62E3D-548B-405A-9C17-2FA3CF3A2C83}"/>
              </a:ext>
            </a:extLst>
          </p:cNvPr>
          <p:cNvSpPr>
            <a:spLocks noGrp="1"/>
          </p:cNvSpPr>
          <p:nvPr/>
        </p:nvSpPr>
        <p:spPr>
          <a:xfrm>
            <a:off x="8193024" y="3593592"/>
            <a:ext cx="1920240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아직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확인되지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않은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것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5CCE8CA-479F-4BCF-837A-B8C1CBCFF442}"/>
              </a:ext>
            </a:extLst>
          </p:cNvPr>
          <p:cNvSpPr>
            <a:spLocks noGrp="1"/>
          </p:cNvSpPr>
          <p:nvPr/>
        </p:nvSpPr>
        <p:spPr>
          <a:xfrm>
            <a:off x="8193024" y="3922776"/>
            <a:ext cx="2468880" cy="402161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증설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가동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유지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6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후속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발주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재계약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BF351B23-D402-4FEB-9839-FD5EFEAD34F4}"/>
              </a:ext>
            </a:extLst>
          </p:cNvPr>
          <p:cNvSpPr>
            <a:spLocks noGrp="1"/>
          </p:cNvSpPr>
          <p:nvPr/>
        </p:nvSpPr>
        <p:spPr>
          <a:xfrm>
            <a:off x="7955279" y="4974336"/>
            <a:ext cx="3127248" cy="76809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762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0F084DB-189D-4DDF-981A-3D64E8A9ED39}"/>
              </a:ext>
            </a:extLst>
          </p:cNvPr>
          <p:cNvSpPr>
            <a:spLocks noGrp="1"/>
          </p:cNvSpPr>
          <p:nvPr/>
        </p:nvSpPr>
        <p:spPr>
          <a:xfrm>
            <a:off x="8193024" y="5175504"/>
            <a:ext cx="749808" cy="158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업데이트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0A99E01-2FD0-4E5F-9E1D-A9F9DDB8AE6E}"/>
              </a:ext>
            </a:extLst>
          </p:cNvPr>
          <p:cNvSpPr>
            <a:spLocks noGrp="1"/>
          </p:cNvSpPr>
          <p:nvPr/>
        </p:nvSpPr>
        <p:spPr>
          <a:xfrm>
            <a:off x="8887968" y="5148072"/>
            <a:ext cx="1755648" cy="2585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프로젝트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항목</a:t>
            </a:r>
            <a:r>
              <a:rPr sz="72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8" name="Rectangle 1">
            <a:extLst>
              <a:ext uri="{FF2B5EF4-FFF2-40B4-BE49-F238E27FC236}">
                <a16:creationId xmlns:a16="http://schemas.microsoft.com/office/drawing/2014/main" id="{1A752FCE-1308-80F6-DFC8-E25355AADE08}"/>
              </a:ext>
            </a:extLst>
          </p:cNvPr>
          <p:cNvSpPr>
            <a:spLocks noGrp="1"/>
          </p:cNvSpPr>
          <p:nvPr/>
        </p:nvSpPr>
        <p:spPr>
          <a:xfrm>
            <a:off x="0" y="-1327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Rounded Rectangle 3">
            <a:extLst>
              <a:ext uri="{FF2B5EF4-FFF2-40B4-BE49-F238E27FC236}">
                <a16:creationId xmlns:a16="http://schemas.microsoft.com/office/drawing/2014/main" id="{D8B08D25-75C4-71DE-B5F5-52A2A00A9940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4">
            <a:extLst>
              <a:ext uri="{FF2B5EF4-FFF2-40B4-BE49-F238E27FC236}">
                <a16:creationId xmlns:a16="http://schemas.microsoft.com/office/drawing/2014/main" id="{561F93E7-F89C-0379-DF74-E29016E5967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16" name="TextBox 5">
            <a:extLst>
              <a:ext uri="{FF2B5EF4-FFF2-40B4-BE49-F238E27FC236}">
                <a16:creationId xmlns:a16="http://schemas.microsoft.com/office/drawing/2014/main" id="{DF3963C0-2B4A-F678-A971-62D13CCE0B5B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8" name="TextBox 6">
            <a:extLst>
              <a:ext uri="{FF2B5EF4-FFF2-40B4-BE49-F238E27FC236}">
                <a16:creationId xmlns:a16="http://schemas.microsoft.com/office/drawing/2014/main" id="{E71AFBE6-1936-5FC6-BEC7-59F293848EC6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0" name="TextBox 7">
            <a:extLst>
              <a:ext uri="{FF2B5EF4-FFF2-40B4-BE49-F238E27FC236}">
                <a16:creationId xmlns:a16="http://schemas.microsoft.com/office/drawing/2014/main" id="{A2AAF4B9-FC44-151D-5141-969E6B168D0A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2" name="TextBox 8">
            <a:extLst>
              <a:ext uri="{FF2B5EF4-FFF2-40B4-BE49-F238E27FC236}">
                <a16:creationId xmlns:a16="http://schemas.microsoft.com/office/drawing/2014/main" id="{B8495606-8867-F469-ECA7-3244010BB1B8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4" name="TextBox 9">
            <a:extLst>
              <a:ext uri="{FF2B5EF4-FFF2-40B4-BE49-F238E27FC236}">
                <a16:creationId xmlns:a16="http://schemas.microsoft.com/office/drawing/2014/main" id="{524C2D9A-34B3-0C28-32BA-E2947F46A74E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10">
            <a:extLst>
              <a:ext uri="{FF2B5EF4-FFF2-40B4-BE49-F238E27FC236}">
                <a16:creationId xmlns:a16="http://schemas.microsoft.com/office/drawing/2014/main" id="{7F1054F0-FB3D-D56A-F5CE-AF0187C73CD5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8" name="TextBox 11">
            <a:extLst>
              <a:ext uri="{FF2B5EF4-FFF2-40B4-BE49-F238E27FC236}">
                <a16:creationId xmlns:a16="http://schemas.microsoft.com/office/drawing/2014/main" id="{6400B783-E007-CBC7-36CB-B64312C8ED3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0" name="TextBox 12">
            <a:extLst>
              <a:ext uri="{FF2B5EF4-FFF2-40B4-BE49-F238E27FC236}">
                <a16:creationId xmlns:a16="http://schemas.microsoft.com/office/drawing/2014/main" id="{5CB957FC-C337-8F23-47E4-47A0783543C5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2" name="TextBox 13">
            <a:extLst>
              <a:ext uri="{FF2B5EF4-FFF2-40B4-BE49-F238E27FC236}">
                <a16:creationId xmlns:a16="http://schemas.microsoft.com/office/drawing/2014/main" id="{4A50EBF1-B538-080B-5F0C-6E30FAE71599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TextBox 14">
            <a:extLst>
              <a:ext uri="{FF2B5EF4-FFF2-40B4-BE49-F238E27FC236}">
                <a16:creationId xmlns:a16="http://schemas.microsoft.com/office/drawing/2014/main" id="{B2CFE38C-1C43-66F7-D0F8-CC069CDB9FA0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6" name="TextBox 15">
            <a:extLst>
              <a:ext uri="{FF2B5EF4-FFF2-40B4-BE49-F238E27FC236}">
                <a16:creationId xmlns:a16="http://schemas.microsoft.com/office/drawing/2014/main" id="{15F773A9-4D16-1FC3-ED08-C8719FA2FDE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9C688D-0259-B76F-7022-F7905EDDB2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0773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09319C-EC78-4BF6-9D73-40C032ABD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DAC78-1793-4951-83F2-DEDE1FEFEFAE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64EC71-DE6C-454A-BE23-CC3D3008FCF9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8F4412-96B0-402F-B5B0-7D1F0340379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D7453E-65E8-4028-A0CC-0F3C24E86448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829F3E-4FFD-4256-98FA-DFAD27823286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875119-9868-41A6-9F58-812AA0C1B402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A9AE8F-E80B-49AC-9044-EDC44DE006F2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96ECFB-B81D-4617-A239-05F556D52E53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809BB1-23D1-4DF8-875F-AA3ACB0C601C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00891-78C3-46FD-88A8-6A3571F3D2F1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625B0E-3FA8-4B20-A725-495558FFA676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B24DF7-35EF-4656-BF7F-9D714F02C2F6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F61AFE-C7F7-411B-8529-243B9C4F721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4646CA-9F2C-4179-ACF2-2F0CCEA34EC9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F3470D-D684-4DA5-935F-63ABADD743F0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전환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5C449577-53C8-44CB-B7D7-94315E1E07C6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322C5BA-2945-40A0-9CE9-6600A6C3243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DB1087-46BC-45B8-9E98-0B731986A50A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CD52707-EB38-496D-B1BC-C4D15DC60319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3E40EF-3DF5-4018-A5CE-E57760F44EC1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Connector 38">
            <a:extLst>
              <a:ext uri="{FF2B5EF4-FFF2-40B4-BE49-F238E27FC236}">
                <a16:creationId xmlns:a16="http://schemas.microsoft.com/office/drawing/2014/main" id="{17E3AC69-A358-4C2A-BD26-817A69A5D43D}"/>
              </a:ext>
            </a:extLst>
          </p:cNvPr>
          <p:cNvSpPr>
            <a:spLocks noGrp="1"/>
          </p:cNvSpPr>
          <p:nvPr/>
        </p:nvSpPr>
        <p:spPr>
          <a:xfrm>
            <a:off x="1325880" y="2542032"/>
            <a:ext cx="9390888" cy="0"/>
          </a:xfrm>
          <a:prstGeom prst="line">
            <a:avLst/>
          </a:prstGeom>
          <a:ln w="1270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C463905-2296-41DB-BE7D-DB46D2986787}"/>
              </a:ext>
            </a:extLst>
          </p:cNvPr>
          <p:cNvSpPr>
            <a:spLocks noGrp="1"/>
          </p:cNvSpPr>
          <p:nvPr/>
        </p:nvSpPr>
        <p:spPr>
          <a:xfrm>
            <a:off x="1444752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C71622-4F5D-421A-823D-ADD8FB2FD226}"/>
              </a:ext>
            </a:extLst>
          </p:cNvPr>
          <p:cNvSpPr>
            <a:spLocks noGrp="1"/>
          </p:cNvSpPr>
          <p:nvPr/>
        </p:nvSpPr>
        <p:spPr>
          <a:xfrm>
            <a:off x="1389888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C194AA-2B4E-43C3-B439-3285057CA0DD}"/>
              </a:ext>
            </a:extLst>
          </p:cNvPr>
          <p:cNvSpPr>
            <a:spLocks noGrp="1"/>
          </p:cNvSpPr>
          <p:nvPr/>
        </p:nvSpPr>
        <p:spPr>
          <a:xfrm>
            <a:off x="1005840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촉발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42DB80-5F37-4F58-A23F-431F7753C9F9}"/>
              </a:ext>
            </a:extLst>
          </p:cNvPr>
          <p:cNvSpPr>
            <a:spLocks noGrp="1"/>
          </p:cNvSpPr>
          <p:nvPr/>
        </p:nvSpPr>
        <p:spPr>
          <a:xfrm>
            <a:off x="1005840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정책·예산·발주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의향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C4CD37-2A69-40AE-8AD0-9D29DD9243F6}"/>
              </a:ext>
            </a:extLst>
          </p:cNvPr>
          <p:cNvSpPr>
            <a:spLocks noGrp="1"/>
          </p:cNvSpPr>
          <p:nvPr/>
        </p:nvSpPr>
        <p:spPr>
          <a:xfrm>
            <a:off x="1005840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491A5E3-99BD-492A-ABF4-1D5F3814A93C}"/>
              </a:ext>
            </a:extLst>
          </p:cNvPr>
          <p:cNvSpPr>
            <a:spLocks noGrp="1"/>
          </p:cNvSpPr>
          <p:nvPr/>
        </p:nvSpPr>
        <p:spPr>
          <a:xfrm>
            <a:off x="3154680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FCC43A-7943-414F-B56D-FB0F6498BCEE}"/>
              </a:ext>
            </a:extLst>
          </p:cNvPr>
          <p:cNvSpPr>
            <a:spLocks noGrp="1"/>
          </p:cNvSpPr>
          <p:nvPr/>
        </p:nvSpPr>
        <p:spPr>
          <a:xfrm>
            <a:off x="3099816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40CBBE-CEDD-40F8-A119-B7E01F03C021}"/>
              </a:ext>
            </a:extLst>
          </p:cNvPr>
          <p:cNvSpPr>
            <a:spLocks noGrp="1"/>
          </p:cNvSpPr>
          <p:nvPr/>
        </p:nvSpPr>
        <p:spPr>
          <a:xfrm>
            <a:off x="2715768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9A11E1-C309-4532-813A-77CB52C2845F}"/>
              </a:ext>
            </a:extLst>
          </p:cNvPr>
          <p:cNvSpPr>
            <a:spLocks noGrp="1"/>
          </p:cNvSpPr>
          <p:nvPr/>
        </p:nvSpPr>
        <p:spPr>
          <a:xfrm>
            <a:off x="2715768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수주잔고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적립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DB1D60-5D42-42F4-A8DD-2761AB89B9F9}"/>
              </a:ext>
            </a:extLst>
          </p:cNvPr>
          <p:cNvSpPr>
            <a:spLocks noGrp="1"/>
          </p:cNvSpPr>
          <p:nvPr/>
        </p:nvSpPr>
        <p:spPr>
          <a:xfrm>
            <a:off x="2715768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3B1A598-1FDF-4C5B-B341-58966CA5031E}"/>
              </a:ext>
            </a:extLst>
          </p:cNvPr>
          <p:cNvSpPr>
            <a:spLocks noGrp="1"/>
          </p:cNvSpPr>
          <p:nvPr/>
        </p:nvSpPr>
        <p:spPr>
          <a:xfrm>
            <a:off x="4864608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90B8C2-05AF-4B74-98C4-4C111924DC57}"/>
              </a:ext>
            </a:extLst>
          </p:cNvPr>
          <p:cNvSpPr>
            <a:spLocks noGrp="1"/>
          </p:cNvSpPr>
          <p:nvPr/>
        </p:nvSpPr>
        <p:spPr>
          <a:xfrm>
            <a:off x="4809744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A07B6B-E3DA-41B5-9FD8-E0B030D17EB9}"/>
              </a:ext>
            </a:extLst>
          </p:cNvPr>
          <p:cNvSpPr>
            <a:spLocks noGrp="1"/>
          </p:cNvSpPr>
          <p:nvPr/>
        </p:nvSpPr>
        <p:spPr>
          <a:xfrm>
            <a:off x="4425696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9B2405-C66F-4300-B19C-FB95DBDD13E7}"/>
              </a:ext>
            </a:extLst>
          </p:cNvPr>
          <p:cNvSpPr>
            <a:spLocks noGrp="1"/>
          </p:cNvSpPr>
          <p:nvPr/>
        </p:nvSpPr>
        <p:spPr>
          <a:xfrm>
            <a:off x="4425696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가동률·납기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A56F22-16D0-48C0-8E85-41E0F8B2C2E5}"/>
              </a:ext>
            </a:extLst>
          </p:cNvPr>
          <p:cNvSpPr>
            <a:spLocks noGrp="1"/>
          </p:cNvSpPr>
          <p:nvPr/>
        </p:nvSpPr>
        <p:spPr>
          <a:xfrm>
            <a:off x="4425696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FF06325-5D47-4F56-B54B-A5B70D1FAA9D}"/>
              </a:ext>
            </a:extLst>
          </p:cNvPr>
          <p:cNvSpPr>
            <a:spLocks noGrp="1"/>
          </p:cNvSpPr>
          <p:nvPr/>
        </p:nvSpPr>
        <p:spPr>
          <a:xfrm>
            <a:off x="6574536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075E3E-09AD-4F23-A2F2-C39B1386370C}"/>
              </a:ext>
            </a:extLst>
          </p:cNvPr>
          <p:cNvSpPr>
            <a:spLocks noGrp="1"/>
          </p:cNvSpPr>
          <p:nvPr/>
        </p:nvSpPr>
        <p:spPr>
          <a:xfrm>
            <a:off x="6519672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1D728C-72EB-4149-AAC3-58164DC02EE5}"/>
              </a:ext>
            </a:extLst>
          </p:cNvPr>
          <p:cNvSpPr>
            <a:spLocks noGrp="1"/>
          </p:cNvSpPr>
          <p:nvPr/>
        </p:nvSpPr>
        <p:spPr>
          <a:xfrm>
            <a:off x="6135624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인식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E9E02C-4382-4DEE-BC7A-0C47A92C494E}"/>
              </a:ext>
            </a:extLst>
          </p:cNvPr>
          <p:cNvSpPr>
            <a:spLocks noGrp="1"/>
          </p:cNvSpPr>
          <p:nvPr/>
        </p:nvSpPr>
        <p:spPr>
          <a:xfrm>
            <a:off x="6135624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매출·매출총이익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FD0AE8-F203-4149-A231-9B36FC959208}"/>
              </a:ext>
            </a:extLst>
          </p:cNvPr>
          <p:cNvSpPr>
            <a:spLocks noGrp="1"/>
          </p:cNvSpPr>
          <p:nvPr/>
        </p:nvSpPr>
        <p:spPr>
          <a:xfrm>
            <a:off x="6135624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EC9DB44-1AFF-491A-8647-6AAB6BD729E1}"/>
              </a:ext>
            </a:extLst>
          </p:cNvPr>
          <p:cNvSpPr>
            <a:spLocks noGrp="1"/>
          </p:cNvSpPr>
          <p:nvPr/>
        </p:nvSpPr>
        <p:spPr>
          <a:xfrm>
            <a:off x="8284464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1C3AEF-9182-4F63-80CB-D7D61971DF98}"/>
              </a:ext>
            </a:extLst>
          </p:cNvPr>
          <p:cNvSpPr>
            <a:spLocks noGrp="1"/>
          </p:cNvSpPr>
          <p:nvPr/>
        </p:nvSpPr>
        <p:spPr>
          <a:xfrm>
            <a:off x="8229600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066FC8-0E39-49B5-A402-92AE3FE5ED15}"/>
              </a:ext>
            </a:extLst>
          </p:cNvPr>
          <p:cNvSpPr>
            <a:spLocks noGrp="1"/>
          </p:cNvSpPr>
          <p:nvPr/>
        </p:nvSpPr>
        <p:spPr>
          <a:xfrm>
            <a:off x="7845552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/FCF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0458BC-BF0B-43D5-B141-6FC9B5F278B5}"/>
              </a:ext>
            </a:extLst>
          </p:cNvPr>
          <p:cNvSpPr>
            <a:spLocks noGrp="1"/>
          </p:cNvSpPr>
          <p:nvPr/>
        </p:nvSpPr>
        <p:spPr>
          <a:xfrm>
            <a:off x="7845552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믹스·가격·고정비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8569B7-5C0D-496B-9ADC-3A4AB2E04533}"/>
              </a:ext>
            </a:extLst>
          </p:cNvPr>
          <p:cNvSpPr>
            <a:spLocks noGrp="1"/>
          </p:cNvSpPr>
          <p:nvPr/>
        </p:nvSpPr>
        <p:spPr>
          <a:xfrm>
            <a:off x="7845552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EE9DB8E-8CAB-4C72-92BA-4BE31A8356CD}"/>
              </a:ext>
            </a:extLst>
          </p:cNvPr>
          <p:cNvSpPr>
            <a:spLocks noGrp="1"/>
          </p:cNvSpPr>
          <p:nvPr/>
        </p:nvSpPr>
        <p:spPr>
          <a:xfrm>
            <a:off x="9994392" y="2322576"/>
            <a:ext cx="420624" cy="420624"/>
          </a:xfrm>
          <a:prstGeom prst="ellipse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7823C0-24C7-4288-86C3-90A0087E1BE2}"/>
              </a:ext>
            </a:extLst>
          </p:cNvPr>
          <p:cNvSpPr>
            <a:spLocks noGrp="1"/>
          </p:cNvSpPr>
          <p:nvPr/>
        </p:nvSpPr>
        <p:spPr>
          <a:xfrm>
            <a:off x="9939528" y="1847088"/>
            <a:ext cx="530352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T5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0289A85-6FE7-49F9-9C81-AAA721AD4060}"/>
              </a:ext>
            </a:extLst>
          </p:cNvPr>
          <p:cNvSpPr>
            <a:spLocks noGrp="1"/>
          </p:cNvSpPr>
          <p:nvPr/>
        </p:nvSpPr>
        <p:spPr>
          <a:xfrm>
            <a:off x="9555480" y="2907792"/>
            <a:ext cx="132588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6CF3C8-9393-45B0-8A2B-4CEEE2A692F2}"/>
              </a:ext>
            </a:extLst>
          </p:cNvPr>
          <p:cNvSpPr>
            <a:spLocks noGrp="1"/>
          </p:cNvSpPr>
          <p:nvPr/>
        </p:nvSpPr>
        <p:spPr>
          <a:xfrm>
            <a:off x="9555480" y="3191256"/>
            <a:ext cx="132588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EPS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상향·재평가</a:t>
            </a:r>
            <a:endParaRPr sz="70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C69A11-222A-4532-BC7A-7BEFDA3D2767}"/>
              </a:ext>
            </a:extLst>
          </p:cNvPr>
          <p:cNvSpPr>
            <a:spLocks noGrp="1"/>
          </p:cNvSpPr>
          <p:nvPr/>
        </p:nvSpPr>
        <p:spPr>
          <a:xfrm>
            <a:off x="9555480" y="3557016"/>
            <a:ext cx="1325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6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2F15A3-1F25-489F-99B4-A99D48CEFBA0}"/>
              </a:ext>
            </a:extLst>
          </p:cNvPr>
          <p:cNvSpPr>
            <a:spLocks noGrp="1"/>
          </p:cNvSpPr>
          <p:nvPr/>
        </p:nvSpPr>
        <p:spPr>
          <a:xfrm>
            <a:off x="932688" y="4096512"/>
            <a:ext cx="27432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포인트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1B1F2AE-091B-4704-A7C9-C5BA0D2DF68D}"/>
              </a:ext>
            </a:extLst>
          </p:cNvPr>
          <p:cNvSpPr>
            <a:spLocks noGrp="1"/>
          </p:cNvSpPr>
          <p:nvPr/>
        </p:nvSpPr>
        <p:spPr>
          <a:xfrm>
            <a:off x="932688" y="433425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Connector 71">
            <a:extLst>
              <a:ext uri="{FF2B5EF4-FFF2-40B4-BE49-F238E27FC236}">
                <a16:creationId xmlns:a16="http://schemas.microsoft.com/office/drawing/2014/main" id="{9AEA9BBF-2DBC-43BF-B8FD-721951C645CD}"/>
              </a:ext>
            </a:extLst>
          </p:cNvPr>
          <p:cNvSpPr>
            <a:spLocks noGrp="1"/>
          </p:cNvSpPr>
          <p:nvPr/>
        </p:nvSpPr>
        <p:spPr>
          <a:xfrm>
            <a:off x="1389888" y="4346143"/>
            <a:ext cx="2285999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0B922553-7D99-48BE-ABCF-8394B5659707}"/>
              </a:ext>
            </a:extLst>
          </p:cNvPr>
          <p:cNvSpPr>
            <a:spLocks noGrp="1"/>
          </p:cNvSpPr>
          <p:nvPr/>
        </p:nvSpPr>
        <p:spPr>
          <a:xfrm>
            <a:off x="932688" y="4443984"/>
            <a:ext cx="3090672" cy="82296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7620">
            <a:solidFill>
              <a:schemeClr val="bg1">
                <a:lumMod val="85000"/>
              </a:schemeClr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FB8D35B-DB58-46E4-88F5-AACD6573CEFD}"/>
              </a:ext>
            </a:extLst>
          </p:cNvPr>
          <p:cNvSpPr>
            <a:spLocks noGrp="1"/>
          </p:cNvSpPr>
          <p:nvPr/>
        </p:nvSpPr>
        <p:spPr>
          <a:xfrm>
            <a:off x="932688" y="4443984"/>
            <a:ext cx="50292" cy="8229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1D93CB-8EED-4E35-BE39-91239B292F20}"/>
              </a:ext>
            </a:extLst>
          </p:cNvPr>
          <p:cNvSpPr>
            <a:spLocks noGrp="1"/>
          </p:cNvSpPr>
          <p:nvPr/>
        </p:nvSpPr>
        <p:spPr>
          <a:xfrm>
            <a:off x="1088136" y="4572000"/>
            <a:ext cx="281635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99B59A-5F8E-4286-8BBC-A67C529C89FD}"/>
              </a:ext>
            </a:extLst>
          </p:cNvPr>
          <p:cNvSpPr>
            <a:spLocks noGrp="1"/>
          </p:cNvSpPr>
          <p:nvPr/>
        </p:nvSpPr>
        <p:spPr>
          <a:xfrm>
            <a:off x="1088136" y="4864608"/>
            <a:ext cx="281635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백로그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ASP ·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예산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C19C948B-9F18-41EC-B081-3A515147F882}"/>
              </a:ext>
            </a:extLst>
          </p:cNvPr>
          <p:cNvSpPr>
            <a:spLocks noGrp="1"/>
          </p:cNvSpPr>
          <p:nvPr/>
        </p:nvSpPr>
        <p:spPr>
          <a:xfrm>
            <a:off x="4315968" y="4443984"/>
            <a:ext cx="309067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B397C67-5008-4C33-B5CC-68F258BB36CF}"/>
              </a:ext>
            </a:extLst>
          </p:cNvPr>
          <p:cNvSpPr>
            <a:spLocks noGrp="1"/>
          </p:cNvSpPr>
          <p:nvPr/>
        </p:nvSpPr>
        <p:spPr>
          <a:xfrm>
            <a:off x="4315968" y="4443984"/>
            <a:ext cx="50292" cy="8229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342346D-591F-4F54-982A-29251DA440A1}"/>
              </a:ext>
            </a:extLst>
          </p:cNvPr>
          <p:cNvSpPr>
            <a:spLocks noGrp="1"/>
          </p:cNvSpPr>
          <p:nvPr/>
        </p:nvSpPr>
        <p:spPr>
          <a:xfrm>
            <a:off x="4471416" y="4572000"/>
            <a:ext cx="281635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2651773-986B-4EDB-A85C-64825052258C}"/>
              </a:ext>
            </a:extLst>
          </p:cNvPr>
          <p:cNvSpPr>
            <a:spLocks noGrp="1"/>
          </p:cNvSpPr>
          <p:nvPr/>
        </p:nvSpPr>
        <p:spPr>
          <a:xfrm>
            <a:off x="4471416" y="4864608"/>
            <a:ext cx="281635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OPM · FCF · ROIC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743D2241-F0EA-4CBD-9903-DC446C553B0F}"/>
              </a:ext>
            </a:extLst>
          </p:cNvPr>
          <p:cNvSpPr>
            <a:spLocks noGrp="1"/>
          </p:cNvSpPr>
          <p:nvPr/>
        </p:nvSpPr>
        <p:spPr>
          <a:xfrm>
            <a:off x="7699248" y="4443984"/>
            <a:ext cx="309067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3681992-45B5-4CD4-A1EA-B6CA22E3B386}"/>
              </a:ext>
            </a:extLst>
          </p:cNvPr>
          <p:cNvSpPr>
            <a:spLocks noGrp="1"/>
          </p:cNvSpPr>
          <p:nvPr/>
        </p:nvSpPr>
        <p:spPr>
          <a:xfrm>
            <a:off x="7699248" y="4443984"/>
            <a:ext cx="50292" cy="82296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C43397-60A6-439E-90F4-3B7E467BE4D1}"/>
              </a:ext>
            </a:extLst>
          </p:cNvPr>
          <p:cNvSpPr>
            <a:spLocks noGrp="1"/>
          </p:cNvSpPr>
          <p:nvPr/>
        </p:nvSpPr>
        <p:spPr>
          <a:xfrm>
            <a:off x="7854696" y="4572000"/>
            <a:ext cx="281635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주가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5F4E3F5-B06F-4C85-823A-D00B94E36B2C}"/>
              </a:ext>
            </a:extLst>
          </p:cNvPr>
          <p:cNvSpPr>
            <a:spLocks noGrp="1"/>
          </p:cNvSpPr>
          <p:nvPr/>
        </p:nvSpPr>
        <p:spPr>
          <a:xfrm>
            <a:off x="7854696" y="4864608"/>
            <a:ext cx="281635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A86FD016-0F1F-4B0B-9E8D-4C4827433CA2}"/>
              </a:ext>
            </a:extLst>
          </p:cNvPr>
          <p:cNvSpPr>
            <a:spLocks noGrp="1"/>
          </p:cNvSpPr>
          <p:nvPr/>
        </p:nvSpPr>
        <p:spPr>
          <a:xfrm>
            <a:off x="932688" y="5559552"/>
            <a:ext cx="9838944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4A99E9-3A65-40BD-A9C8-363A14646E3E}"/>
              </a:ext>
            </a:extLst>
          </p:cNvPr>
          <p:cNvSpPr>
            <a:spLocks noGrp="1"/>
          </p:cNvSpPr>
          <p:nvPr/>
        </p:nvSpPr>
        <p:spPr>
          <a:xfrm>
            <a:off x="1133856" y="5715000"/>
            <a:ext cx="9418320" cy="158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평균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리드타임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수주→생산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xx개월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 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생산→매출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xx개월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 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매출→FCF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xx개월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8" name="Rectangle 1">
            <a:extLst>
              <a:ext uri="{FF2B5EF4-FFF2-40B4-BE49-F238E27FC236}">
                <a16:creationId xmlns:a16="http://schemas.microsoft.com/office/drawing/2014/main" id="{8DB757F4-AE7E-BFFC-126C-D9FAA68B85FB}"/>
              </a:ext>
            </a:extLst>
          </p:cNvPr>
          <p:cNvSpPr>
            <a:spLocks noGrp="1"/>
          </p:cNvSpPr>
          <p:nvPr/>
        </p:nvSpPr>
        <p:spPr>
          <a:xfrm>
            <a:off x="0" y="-565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Rounded Rectangle 3">
            <a:extLst>
              <a:ext uri="{FF2B5EF4-FFF2-40B4-BE49-F238E27FC236}">
                <a16:creationId xmlns:a16="http://schemas.microsoft.com/office/drawing/2014/main" id="{6611459D-E3B8-956F-A0AB-3FFA6D167F03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4">
            <a:extLst>
              <a:ext uri="{FF2B5EF4-FFF2-40B4-BE49-F238E27FC236}">
                <a16:creationId xmlns:a16="http://schemas.microsoft.com/office/drawing/2014/main" id="{BC3A64E2-F6A1-29FF-6F39-688A9BFFDA46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96" name="TextBox 5">
            <a:extLst>
              <a:ext uri="{FF2B5EF4-FFF2-40B4-BE49-F238E27FC236}">
                <a16:creationId xmlns:a16="http://schemas.microsoft.com/office/drawing/2014/main" id="{F3923952-1502-7DA2-C43F-A822D15468D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6">
            <a:extLst>
              <a:ext uri="{FF2B5EF4-FFF2-40B4-BE49-F238E27FC236}">
                <a16:creationId xmlns:a16="http://schemas.microsoft.com/office/drawing/2014/main" id="{EF9692E3-9AC3-8398-1DB8-15881E150045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00" name="TextBox 7">
            <a:extLst>
              <a:ext uri="{FF2B5EF4-FFF2-40B4-BE49-F238E27FC236}">
                <a16:creationId xmlns:a16="http://schemas.microsoft.com/office/drawing/2014/main" id="{FACA6D35-7D00-5565-9938-625FE6D5EA16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8">
            <a:extLst>
              <a:ext uri="{FF2B5EF4-FFF2-40B4-BE49-F238E27FC236}">
                <a16:creationId xmlns:a16="http://schemas.microsoft.com/office/drawing/2014/main" id="{1B1FF512-CF5E-C472-D4C0-607ECCE6DE90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04" name="TextBox 9">
            <a:extLst>
              <a:ext uri="{FF2B5EF4-FFF2-40B4-BE49-F238E27FC236}">
                <a16:creationId xmlns:a16="http://schemas.microsoft.com/office/drawing/2014/main" id="{91B6DF1C-69E1-8418-5CA4-B8CA89DD2EED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TextBox 10">
            <a:extLst>
              <a:ext uri="{FF2B5EF4-FFF2-40B4-BE49-F238E27FC236}">
                <a16:creationId xmlns:a16="http://schemas.microsoft.com/office/drawing/2014/main" id="{205A1709-04F5-B453-C7BF-2A595EE04E76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08" name="TextBox 11">
            <a:extLst>
              <a:ext uri="{FF2B5EF4-FFF2-40B4-BE49-F238E27FC236}">
                <a16:creationId xmlns:a16="http://schemas.microsoft.com/office/drawing/2014/main" id="{B78915B9-C23A-96E4-EA4E-E9C289F93B7A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12">
            <a:extLst>
              <a:ext uri="{FF2B5EF4-FFF2-40B4-BE49-F238E27FC236}">
                <a16:creationId xmlns:a16="http://schemas.microsoft.com/office/drawing/2014/main" id="{BB3FFE9F-A697-31CA-58E5-34E82D2223D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12" name="TextBox 13">
            <a:extLst>
              <a:ext uri="{FF2B5EF4-FFF2-40B4-BE49-F238E27FC236}">
                <a16:creationId xmlns:a16="http://schemas.microsoft.com/office/drawing/2014/main" id="{6A696D3C-7893-F473-BE74-97E059A7813E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TextBox 14">
            <a:extLst>
              <a:ext uri="{FF2B5EF4-FFF2-40B4-BE49-F238E27FC236}">
                <a16:creationId xmlns:a16="http://schemas.microsoft.com/office/drawing/2014/main" id="{FD7AE367-9F06-9DCF-CEC6-93CAD7D0BFA6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16" name="TextBox 15">
            <a:extLst>
              <a:ext uri="{FF2B5EF4-FFF2-40B4-BE49-F238E27FC236}">
                <a16:creationId xmlns:a16="http://schemas.microsoft.com/office/drawing/2014/main" id="{DD00D012-48F6-A0BA-9B0F-DBD9F356FD21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CE7AA6-5797-B8B8-BDFE-5DB2930572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1331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2BB6A-0A74-D6E3-3B45-FDF8BA6E1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381D52-C1CC-0898-1D7B-EB3536859F32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C934D0-4B65-E47B-567E-71FFD9630F34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Ⅱ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2151504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EB6A29-64DA-4EAF-BD4C-1E4D208D1C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C3119-57B3-49BF-85BC-B46C074AA16B}"/>
              </a:ext>
            </a:extLst>
          </p:cNvPr>
          <p:cNvSpPr>
            <a:spLocks noGrp="1"/>
          </p:cNvSpPr>
          <p:nvPr/>
        </p:nvSpPr>
        <p:spPr>
          <a:xfrm>
            <a:off x="109728" y="210312"/>
            <a:ext cx="484632" cy="3600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CNU
RESEARCH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E85083-65EC-42AA-92C3-8F32A30B9775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AE7BD5-7EE6-472B-A620-C53E90125359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7CA219-B8B8-4820-B910-706B5BD55627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9B92E6-5503-4411-AB51-4A275BC219F2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49B0A4-2890-4010-A8A2-2FA2A6AE3B79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F45905-7BC1-4461-A417-7442CB841F6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8034D2-8AB5-4F03-A798-481DFCE7A5FE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B78F1E-1CA7-4DA6-9982-C7D11C2AEF05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972C49-7FB0-458C-82BC-5E884834F66E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457EB8-54F9-478F-BB03-7A84DB4EBD2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973B63-B6B2-406A-A49E-691A280A93A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A15BAB-591E-4337-AD29-2EC17FF7F9E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4FE181-9883-4D37-843F-50D3AE626C3E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353ECC-3CF4-48B5-80D3-E260A366838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B3218C-07F3-4026-8FF3-92515780ED2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개요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+ 4개사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영위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6F2E8566-A6AE-444B-87B7-5BA14990DE3C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7CE2B70-7A52-4009-AD32-91869F774330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975FD6-F458-45C1-9108-A298584FC2A0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C6EFCA0-C46E-4703-BB96-FF89599C0DAE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22E67D-94B8-4A49-8F87-924DCE147C40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02/06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EA8936-374F-4230-9985-DA98D5267D01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28AA44-408D-4CCA-A215-1AF2D25D5AB0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5B8B0C3D-D122-4843-B177-CFF4C671FA0D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37160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934CE1E-1746-4F9F-B2DA-D775F939AE56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FAA0AD-C029-478B-B263-F2D5E9A0FDE0}"/>
              </a:ext>
            </a:extLst>
          </p:cNvPr>
          <p:cNvSpPr>
            <a:spLocks noGrp="1"/>
          </p:cNvSpPr>
          <p:nvPr/>
        </p:nvSpPr>
        <p:spPr>
          <a:xfrm>
            <a:off x="1005840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80C1A4-A544-4922-BC96-CADA26D904BA}"/>
              </a:ext>
            </a:extLst>
          </p:cNvPr>
          <p:cNvSpPr>
            <a:spLocks noGrp="1"/>
          </p:cNvSpPr>
          <p:nvPr/>
        </p:nvSpPr>
        <p:spPr>
          <a:xfrm>
            <a:off x="1005840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55A451-5D42-4DFA-8A1D-4E9BA2D035FE}"/>
              </a:ext>
            </a:extLst>
          </p:cNvPr>
          <p:cNvSpPr>
            <a:spLocks noGrp="1"/>
          </p:cNvSpPr>
          <p:nvPr/>
        </p:nvSpPr>
        <p:spPr>
          <a:xfrm>
            <a:off x="1005840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50C3C0-87A7-4CD3-80A1-7892ABF3F6F5}"/>
              </a:ext>
            </a:extLst>
          </p:cNvPr>
          <p:cNvSpPr>
            <a:spLocks noGrp="1"/>
          </p:cNvSpPr>
          <p:nvPr/>
        </p:nvSpPr>
        <p:spPr>
          <a:xfrm>
            <a:off x="2615184" y="2066543"/>
            <a:ext cx="2011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05D4098-D6AA-4ED9-A34F-025A04E18E88}"/>
              </a:ext>
            </a:extLst>
          </p:cNvPr>
          <p:cNvSpPr>
            <a:spLocks noGrp="1"/>
          </p:cNvSpPr>
          <p:nvPr/>
        </p:nvSpPr>
        <p:spPr>
          <a:xfrm>
            <a:off x="2898648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6093467-5AD7-4926-AC1B-960FD40589D7}"/>
              </a:ext>
            </a:extLst>
          </p:cNvPr>
          <p:cNvSpPr>
            <a:spLocks noGrp="1"/>
          </p:cNvSpPr>
          <p:nvPr/>
        </p:nvSpPr>
        <p:spPr>
          <a:xfrm>
            <a:off x="2971800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핵심부품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E6D066-5C4A-4F37-B868-9E75E432044B}"/>
              </a:ext>
            </a:extLst>
          </p:cNvPr>
          <p:cNvSpPr>
            <a:spLocks noGrp="1"/>
          </p:cNvSpPr>
          <p:nvPr/>
        </p:nvSpPr>
        <p:spPr>
          <a:xfrm>
            <a:off x="2971800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부품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A608E1-D396-4960-ACDA-4FFAA509A647}"/>
              </a:ext>
            </a:extLst>
          </p:cNvPr>
          <p:cNvSpPr>
            <a:spLocks noGrp="1"/>
          </p:cNvSpPr>
          <p:nvPr/>
        </p:nvSpPr>
        <p:spPr>
          <a:xfrm>
            <a:off x="2971800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7A8961-C313-4E9C-8205-E29EB35914D5}"/>
              </a:ext>
            </a:extLst>
          </p:cNvPr>
          <p:cNvSpPr>
            <a:spLocks noGrp="1"/>
          </p:cNvSpPr>
          <p:nvPr/>
        </p:nvSpPr>
        <p:spPr>
          <a:xfrm>
            <a:off x="4581144" y="2066543"/>
            <a:ext cx="2011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9D128A5E-CE5D-4BF8-BBBC-EA2006D5AB7F}"/>
              </a:ext>
            </a:extLst>
          </p:cNvPr>
          <p:cNvSpPr>
            <a:spLocks noGrp="1"/>
          </p:cNvSpPr>
          <p:nvPr/>
        </p:nvSpPr>
        <p:spPr>
          <a:xfrm>
            <a:off x="4864608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6AD705-7702-414F-BC20-13B5BA0B28DF}"/>
              </a:ext>
            </a:extLst>
          </p:cNvPr>
          <p:cNvSpPr>
            <a:spLocks noGrp="1"/>
          </p:cNvSpPr>
          <p:nvPr/>
        </p:nvSpPr>
        <p:spPr>
          <a:xfrm>
            <a:off x="4937760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통합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6A4A72-66E5-46AD-9186-DAF74006ECE5}"/>
              </a:ext>
            </a:extLst>
          </p:cNvPr>
          <p:cNvSpPr>
            <a:spLocks noGrp="1"/>
          </p:cNvSpPr>
          <p:nvPr/>
        </p:nvSpPr>
        <p:spPr>
          <a:xfrm>
            <a:off x="4937760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통합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A8409C-9C1C-41CC-892C-E09AC37F64C5}"/>
              </a:ext>
            </a:extLst>
          </p:cNvPr>
          <p:cNvSpPr>
            <a:spLocks noGrp="1"/>
          </p:cNvSpPr>
          <p:nvPr/>
        </p:nvSpPr>
        <p:spPr>
          <a:xfrm>
            <a:off x="4937760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496C7C-BEC3-429E-ADB8-4B3A18C9CBD6}"/>
              </a:ext>
            </a:extLst>
          </p:cNvPr>
          <p:cNvSpPr>
            <a:spLocks noGrp="1"/>
          </p:cNvSpPr>
          <p:nvPr/>
        </p:nvSpPr>
        <p:spPr>
          <a:xfrm>
            <a:off x="6547104" y="2066543"/>
            <a:ext cx="2011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008E8AF-594E-4979-B6DA-AADA14A29F94}"/>
              </a:ext>
            </a:extLst>
          </p:cNvPr>
          <p:cNvSpPr>
            <a:spLocks noGrp="1"/>
          </p:cNvSpPr>
          <p:nvPr/>
        </p:nvSpPr>
        <p:spPr>
          <a:xfrm>
            <a:off x="6830567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BD4A93-348F-4DF6-B997-2930FA9B0EB3}"/>
              </a:ext>
            </a:extLst>
          </p:cNvPr>
          <p:cNvSpPr>
            <a:spLocks noGrp="1"/>
          </p:cNvSpPr>
          <p:nvPr/>
        </p:nvSpPr>
        <p:spPr>
          <a:xfrm>
            <a:off x="6903719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④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유통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채널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C1A29B6-0093-4492-9D81-BBA2EFD87038}"/>
              </a:ext>
            </a:extLst>
          </p:cNvPr>
          <p:cNvSpPr>
            <a:spLocks noGrp="1"/>
          </p:cNvSpPr>
          <p:nvPr/>
        </p:nvSpPr>
        <p:spPr>
          <a:xfrm>
            <a:off x="6903719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4C616F-35CD-4E5F-91F8-F1C00BEC4401}"/>
              </a:ext>
            </a:extLst>
          </p:cNvPr>
          <p:cNvSpPr>
            <a:spLocks noGrp="1"/>
          </p:cNvSpPr>
          <p:nvPr/>
        </p:nvSpPr>
        <p:spPr>
          <a:xfrm>
            <a:off x="6903719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61F02F-2493-4AC6-8DC2-24F2DE71F0BA}"/>
              </a:ext>
            </a:extLst>
          </p:cNvPr>
          <p:cNvSpPr>
            <a:spLocks noGrp="1"/>
          </p:cNvSpPr>
          <p:nvPr/>
        </p:nvSpPr>
        <p:spPr>
          <a:xfrm>
            <a:off x="8513063" y="2066543"/>
            <a:ext cx="2011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3A209837-4E5E-472C-8537-E4472F08DA55}"/>
              </a:ext>
            </a:extLst>
          </p:cNvPr>
          <p:cNvSpPr>
            <a:spLocks noGrp="1"/>
          </p:cNvSpPr>
          <p:nvPr/>
        </p:nvSpPr>
        <p:spPr>
          <a:xfrm>
            <a:off x="8796528" y="1755648"/>
            <a:ext cx="163677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7D681A-F2A5-425B-B8BD-E63E03ECFAB1}"/>
              </a:ext>
            </a:extLst>
          </p:cNvPr>
          <p:cNvSpPr>
            <a:spLocks noGrp="1"/>
          </p:cNvSpPr>
          <p:nvPr/>
        </p:nvSpPr>
        <p:spPr>
          <a:xfrm>
            <a:off x="8869680" y="1920240"/>
            <a:ext cx="1490472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⑤ 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애프터마켓</a:t>
            </a:r>
            <a:endParaRPr sz="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C61A887-7E41-43B5-B69D-0CBBD721E0F8}"/>
              </a:ext>
            </a:extLst>
          </p:cNvPr>
          <p:cNvSpPr>
            <a:spLocks noGrp="1"/>
          </p:cNvSpPr>
          <p:nvPr/>
        </p:nvSpPr>
        <p:spPr>
          <a:xfrm>
            <a:off x="8869680" y="2276856"/>
            <a:ext cx="1490472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/MRO]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45D74E-56CA-4A8E-8149-DD64B5F67783}"/>
              </a:ext>
            </a:extLst>
          </p:cNvPr>
          <p:cNvSpPr>
            <a:spLocks noGrp="1"/>
          </p:cNvSpPr>
          <p:nvPr/>
        </p:nvSpPr>
        <p:spPr>
          <a:xfrm>
            <a:off x="8869680" y="2514600"/>
            <a:ext cx="1490472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 / </a:t>
            </a:r>
            <a:r>
              <a:rPr sz="64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A0DA39-1519-4069-B3FA-05710C2299A0}"/>
              </a:ext>
            </a:extLst>
          </p:cNvPr>
          <p:cNvSpPr>
            <a:spLocks noGrp="1"/>
          </p:cNvSpPr>
          <p:nvPr/>
        </p:nvSpPr>
        <p:spPr>
          <a:xfrm>
            <a:off x="932688" y="3090672"/>
            <a:ext cx="2377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범위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CAC0FB6-533B-4D47-970D-A57EC22294AE}"/>
              </a:ext>
            </a:extLst>
          </p:cNvPr>
          <p:cNvSpPr>
            <a:spLocks noGrp="1"/>
          </p:cNvSpPr>
          <p:nvPr/>
        </p:nvSpPr>
        <p:spPr>
          <a:xfrm>
            <a:off x="932688" y="3328415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Connector 67">
            <a:extLst>
              <a:ext uri="{FF2B5EF4-FFF2-40B4-BE49-F238E27FC236}">
                <a16:creationId xmlns:a16="http://schemas.microsoft.com/office/drawing/2014/main" id="{46C6F09A-6978-420B-B3E8-8F7BE5040928}"/>
              </a:ext>
            </a:extLst>
          </p:cNvPr>
          <p:cNvSpPr>
            <a:spLocks noGrp="1"/>
          </p:cNvSpPr>
          <p:nvPr/>
        </p:nvSpPr>
        <p:spPr>
          <a:xfrm>
            <a:off x="1389888" y="3340303"/>
            <a:ext cx="192024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A2A742E-BECE-43C5-86A1-440CCB230F25}"/>
              </a:ext>
            </a:extLst>
          </p:cNvPr>
          <p:cNvSpPr>
            <a:spLocks noGrp="1"/>
          </p:cNvSpPr>
          <p:nvPr/>
        </p:nvSpPr>
        <p:spPr>
          <a:xfrm>
            <a:off x="932688" y="3438144"/>
            <a:ext cx="731520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0583BF3-9C2B-42A8-AB37-289D7BD38601}"/>
              </a:ext>
            </a:extLst>
          </p:cNvPr>
          <p:cNvSpPr>
            <a:spLocks noGrp="1"/>
          </p:cNvSpPr>
          <p:nvPr/>
        </p:nvSpPr>
        <p:spPr>
          <a:xfrm>
            <a:off x="969264" y="3553195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6B1D1FF-A068-4772-A0E9-2651BA6A2AA5}"/>
              </a:ext>
            </a:extLst>
          </p:cNvPr>
          <p:cNvSpPr>
            <a:spLocks noGrp="1"/>
          </p:cNvSpPr>
          <p:nvPr/>
        </p:nvSpPr>
        <p:spPr>
          <a:xfrm>
            <a:off x="1664208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9EDE66-A8CF-4FDC-9325-7FD4C6B5249A}"/>
              </a:ext>
            </a:extLst>
          </p:cNvPr>
          <p:cNvSpPr>
            <a:spLocks noGrp="1"/>
          </p:cNvSpPr>
          <p:nvPr/>
        </p:nvSpPr>
        <p:spPr>
          <a:xfrm>
            <a:off x="1700784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①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33FE533-0BB4-4E34-9C56-6630985CA1C2}"/>
              </a:ext>
            </a:extLst>
          </p:cNvPr>
          <p:cNvSpPr>
            <a:spLocks noGrp="1"/>
          </p:cNvSpPr>
          <p:nvPr/>
        </p:nvSpPr>
        <p:spPr>
          <a:xfrm>
            <a:off x="2231136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BB85EE-F909-414D-9E85-94C1A4BEB6D9}"/>
              </a:ext>
            </a:extLst>
          </p:cNvPr>
          <p:cNvSpPr>
            <a:spLocks noGrp="1"/>
          </p:cNvSpPr>
          <p:nvPr/>
        </p:nvSpPr>
        <p:spPr>
          <a:xfrm>
            <a:off x="2267712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②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A45216D-399E-499A-8999-BED56042BAC4}"/>
              </a:ext>
            </a:extLst>
          </p:cNvPr>
          <p:cNvSpPr>
            <a:spLocks noGrp="1"/>
          </p:cNvSpPr>
          <p:nvPr/>
        </p:nvSpPr>
        <p:spPr>
          <a:xfrm>
            <a:off x="2798064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ADAB62-6FF8-4D03-B969-D8871ED96A51}"/>
              </a:ext>
            </a:extLst>
          </p:cNvPr>
          <p:cNvSpPr>
            <a:spLocks noGrp="1"/>
          </p:cNvSpPr>
          <p:nvPr/>
        </p:nvSpPr>
        <p:spPr>
          <a:xfrm>
            <a:off x="2834640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③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2DCC4F0-8499-4797-A9E4-B10AEBF41C14}"/>
              </a:ext>
            </a:extLst>
          </p:cNvPr>
          <p:cNvSpPr>
            <a:spLocks noGrp="1"/>
          </p:cNvSpPr>
          <p:nvPr/>
        </p:nvSpPr>
        <p:spPr>
          <a:xfrm>
            <a:off x="3364992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D6D0E7D-1A85-4B72-861E-0248F3A8DAB1}"/>
              </a:ext>
            </a:extLst>
          </p:cNvPr>
          <p:cNvSpPr>
            <a:spLocks noGrp="1"/>
          </p:cNvSpPr>
          <p:nvPr/>
        </p:nvSpPr>
        <p:spPr>
          <a:xfrm>
            <a:off x="3401568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④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1FEA478-82D9-47CF-B250-5D1134EA6D03}"/>
              </a:ext>
            </a:extLst>
          </p:cNvPr>
          <p:cNvSpPr>
            <a:spLocks noGrp="1"/>
          </p:cNvSpPr>
          <p:nvPr/>
        </p:nvSpPr>
        <p:spPr>
          <a:xfrm>
            <a:off x="3931920" y="3438144"/>
            <a:ext cx="56692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DF145D-948B-44B9-801A-182C4008FD68}"/>
              </a:ext>
            </a:extLst>
          </p:cNvPr>
          <p:cNvSpPr>
            <a:spLocks noGrp="1"/>
          </p:cNvSpPr>
          <p:nvPr/>
        </p:nvSpPr>
        <p:spPr>
          <a:xfrm>
            <a:off x="3968496" y="355319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⑤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F3CC992-65D7-4ED2-BFFC-7BB0880A01C7}"/>
              </a:ext>
            </a:extLst>
          </p:cNvPr>
          <p:cNvSpPr>
            <a:spLocks noGrp="1"/>
          </p:cNvSpPr>
          <p:nvPr/>
        </p:nvSpPr>
        <p:spPr>
          <a:xfrm>
            <a:off x="4498848" y="3438144"/>
            <a:ext cx="2944368" cy="39867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F5AD59-0395-4BD9-9C4D-5D3B0F3352EE}"/>
              </a:ext>
            </a:extLst>
          </p:cNvPr>
          <p:cNvSpPr>
            <a:spLocks noGrp="1"/>
          </p:cNvSpPr>
          <p:nvPr/>
        </p:nvSpPr>
        <p:spPr>
          <a:xfrm>
            <a:off x="4535424" y="3553195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endParaRPr sz="7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CE16FA6-FFB5-4055-A481-E5C59DEDB020}"/>
              </a:ext>
            </a:extLst>
          </p:cNvPr>
          <p:cNvSpPr>
            <a:spLocks noGrp="1"/>
          </p:cNvSpPr>
          <p:nvPr/>
        </p:nvSpPr>
        <p:spPr>
          <a:xfrm>
            <a:off x="932688" y="3836822"/>
            <a:ext cx="731520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D68AE4-4B7A-4E85-9742-F842F57FBEAE}"/>
              </a:ext>
            </a:extLst>
          </p:cNvPr>
          <p:cNvSpPr>
            <a:spLocks noGrp="1"/>
          </p:cNvSpPr>
          <p:nvPr/>
        </p:nvSpPr>
        <p:spPr>
          <a:xfrm>
            <a:off x="969264" y="3949880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66DD7D0-9E18-4100-B71A-F9473B348260}"/>
              </a:ext>
            </a:extLst>
          </p:cNvPr>
          <p:cNvSpPr>
            <a:spLocks noGrp="1"/>
          </p:cNvSpPr>
          <p:nvPr/>
        </p:nvSpPr>
        <p:spPr>
          <a:xfrm>
            <a:off x="1664208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A03199C-C5B7-472D-85E7-1AC861929F27}"/>
              </a:ext>
            </a:extLst>
          </p:cNvPr>
          <p:cNvSpPr>
            <a:spLocks noGrp="1"/>
          </p:cNvSpPr>
          <p:nvPr/>
        </p:nvSpPr>
        <p:spPr>
          <a:xfrm>
            <a:off x="1700784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FC5C53B-450F-43BF-9B8B-A803A30BCC27}"/>
              </a:ext>
            </a:extLst>
          </p:cNvPr>
          <p:cNvSpPr>
            <a:spLocks noGrp="1"/>
          </p:cNvSpPr>
          <p:nvPr/>
        </p:nvSpPr>
        <p:spPr>
          <a:xfrm>
            <a:off x="2231136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863720-557F-4827-8D0D-839E8B4CF90C}"/>
              </a:ext>
            </a:extLst>
          </p:cNvPr>
          <p:cNvSpPr>
            <a:spLocks noGrp="1"/>
          </p:cNvSpPr>
          <p:nvPr/>
        </p:nvSpPr>
        <p:spPr>
          <a:xfrm>
            <a:off x="2267712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9E44895-94D4-421C-AEB2-EA6AB85B88EC}"/>
              </a:ext>
            </a:extLst>
          </p:cNvPr>
          <p:cNvSpPr>
            <a:spLocks noGrp="1"/>
          </p:cNvSpPr>
          <p:nvPr/>
        </p:nvSpPr>
        <p:spPr>
          <a:xfrm>
            <a:off x="2798064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44747C-0B93-48F8-A9FB-505C9501122A}"/>
              </a:ext>
            </a:extLst>
          </p:cNvPr>
          <p:cNvSpPr>
            <a:spLocks noGrp="1"/>
          </p:cNvSpPr>
          <p:nvPr/>
        </p:nvSpPr>
        <p:spPr>
          <a:xfrm>
            <a:off x="2834640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F86F982-1882-4078-B587-89ECA61C0FE7}"/>
              </a:ext>
            </a:extLst>
          </p:cNvPr>
          <p:cNvSpPr>
            <a:spLocks noGrp="1"/>
          </p:cNvSpPr>
          <p:nvPr/>
        </p:nvSpPr>
        <p:spPr>
          <a:xfrm>
            <a:off x="3364992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71FB8B2-A391-462B-A7FF-FBD5E6675D35}"/>
              </a:ext>
            </a:extLst>
          </p:cNvPr>
          <p:cNvSpPr>
            <a:spLocks noGrp="1"/>
          </p:cNvSpPr>
          <p:nvPr/>
        </p:nvSpPr>
        <p:spPr>
          <a:xfrm>
            <a:off x="3401568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AA41D06-1E53-4E31-B0DD-368EEC7552AC}"/>
              </a:ext>
            </a:extLst>
          </p:cNvPr>
          <p:cNvSpPr>
            <a:spLocks noGrp="1"/>
          </p:cNvSpPr>
          <p:nvPr/>
        </p:nvSpPr>
        <p:spPr>
          <a:xfrm>
            <a:off x="3931920" y="3836822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28D03E0-C671-44D1-A99E-85B679E840C6}"/>
              </a:ext>
            </a:extLst>
          </p:cNvPr>
          <p:cNvSpPr>
            <a:spLocks noGrp="1"/>
          </p:cNvSpPr>
          <p:nvPr/>
        </p:nvSpPr>
        <p:spPr>
          <a:xfrm>
            <a:off x="3968496" y="3949880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58F193C-7505-43E3-8A32-8782CB985950}"/>
              </a:ext>
            </a:extLst>
          </p:cNvPr>
          <p:cNvSpPr>
            <a:spLocks noGrp="1"/>
          </p:cNvSpPr>
          <p:nvPr/>
        </p:nvSpPr>
        <p:spPr>
          <a:xfrm>
            <a:off x="4498848" y="3836822"/>
            <a:ext cx="294436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2FC26EE-8EA5-48BC-8517-681B95139715}"/>
              </a:ext>
            </a:extLst>
          </p:cNvPr>
          <p:cNvSpPr>
            <a:spLocks noGrp="1"/>
          </p:cNvSpPr>
          <p:nvPr/>
        </p:nvSpPr>
        <p:spPr>
          <a:xfrm>
            <a:off x="4535424" y="3949880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6F96BD5-EE04-4007-9BA5-1953EB184ED7}"/>
              </a:ext>
            </a:extLst>
          </p:cNvPr>
          <p:cNvSpPr>
            <a:spLocks noGrp="1"/>
          </p:cNvSpPr>
          <p:nvPr/>
        </p:nvSpPr>
        <p:spPr>
          <a:xfrm>
            <a:off x="932688" y="4235500"/>
            <a:ext cx="731520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0318CCE-FF99-41D3-82FD-D09E2520256B}"/>
              </a:ext>
            </a:extLst>
          </p:cNvPr>
          <p:cNvSpPr>
            <a:spLocks noGrp="1"/>
          </p:cNvSpPr>
          <p:nvPr/>
        </p:nvSpPr>
        <p:spPr>
          <a:xfrm>
            <a:off x="969264" y="4348558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5C7B738-878E-493B-A2BE-E79EA91BC7BF}"/>
              </a:ext>
            </a:extLst>
          </p:cNvPr>
          <p:cNvSpPr>
            <a:spLocks noGrp="1"/>
          </p:cNvSpPr>
          <p:nvPr/>
        </p:nvSpPr>
        <p:spPr>
          <a:xfrm>
            <a:off x="1664208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C689F46-B6CA-4799-93A9-F4CBA38850C4}"/>
              </a:ext>
            </a:extLst>
          </p:cNvPr>
          <p:cNvSpPr>
            <a:spLocks noGrp="1"/>
          </p:cNvSpPr>
          <p:nvPr/>
        </p:nvSpPr>
        <p:spPr>
          <a:xfrm>
            <a:off x="1700784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86E7E5E-C219-426A-890E-26CCF208FB4D}"/>
              </a:ext>
            </a:extLst>
          </p:cNvPr>
          <p:cNvSpPr>
            <a:spLocks noGrp="1"/>
          </p:cNvSpPr>
          <p:nvPr/>
        </p:nvSpPr>
        <p:spPr>
          <a:xfrm>
            <a:off x="2231136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CBE0403-2B6F-4412-8D44-F5097EC4A709}"/>
              </a:ext>
            </a:extLst>
          </p:cNvPr>
          <p:cNvSpPr>
            <a:spLocks noGrp="1"/>
          </p:cNvSpPr>
          <p:nvPr/>
        </p:nvSpPr>
        <p:spPr>
          <a:xfrm>
            <a:off x="2267712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628C9E3-79FE-4D77-AB68-D503C3BBFF37}"/>
              </a:ext>
            </a:extLst>
          </p:cNvPr>
          <p:cNvSpPr>
            <a:spLocks noGrp="1"/>
          </p:cNvSpPr>
          <p:nvPr/>
        </p:nvSpPr>
        <p:spPr>
          <a:xfrm>
            <a:off x="2798064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3FA15B4-766A-46D0-B065-A965FDE7509B}"/>
              </a:ext>
            </a:extLst>
          </p:cNvPr>
          <p:cNvSpPr>
            <a:spLocks noGrp="1"/>
          </p:cNvSpPr>
          <p:nvPr/>
        </p:nvSpPr>
        <p:spPr>
          <a:xfrm>
            <a:off x="2834640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6B18CF2-8DCB-4FCE-B647-54525E44ED7B}"/>
              </a:ext>
            </a:extLst>
          </p:cNvPr>
          <p:cNvSpPr>
            <a:spLocks noGrp="1"/>
          </p:cNvSpPr>
          <p:nvPr/>
        </p:nvSpPr>
        <p:spPr>
          <a:xfrm>
            <a:off x="3364992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0F98546-FB2E-482B-BCC9-7EABD204D504}"/>
              </a:ext>
            </a:extLst>
          </p:cNvPr>
          <p:cNvSpPr>
            <a:spLocks noGrp="1"/>
          </p:cNvSpPr>
          <p:nvPr/>
        </p:nvSpPr>
        <p:spPr>
          <a:xfrm>
            <a:off x="3401568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D3EAABA-1884-4231-92D0-4EFB6593C1D4}"/>
              </a:ext>
            </a:extLst>
          </p:cNvPr>
          <p:cNvSpPr>
            <a:spLocks noGrp="1"/>
          </p:cNvSpPr>
          <p:nvPr/>
        </p:nvSpPr>
        <p:spPr>
          <a:xfrm>
            <a:off x="3931920" y="4235500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78C31BF-B224-45BE-B6C2-30F3DB07A87B}"/>
              </a:ext>
            </a:extLst>
          </p:cNvPr>
          <p:cNvSpPr>
            <a:spLocks noGrp="1"/>
          </p:cNvSpPr>
          <p:nvPr/>
        </p:nvSpPr>
        <p:spPr>
          <a:xfrm>
            <a:off x="3968496" y="4348558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B88993E-BF11-465C-8956-F4EE05474090}"/>
              </a:ext>
            </a:extLst>
          </p:cNvPr>
          <p:cNvSpPr>
            <a:spLocks noGrp="1"/>
          </p:cNvSpPr>
          <p:nvPr/>
        </p:nvSpPr>
        <p:spPr>
          <a:xfrm>
            <a:off x="4498848" y="4235500"/>
            <a:ext cx="294436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B261A7-EB64-40EC-9471-666F53CE916A}"/>
              </a:ext>
            </a:extLst>
          </p:cNvPr>
          <p:cNvSpPr>
            <a:spLocks noGrp="1"/>
          </p:cNvSpPr>
          <p:nvPr/>
        </p:nvSpPr>
        <p:spPr>
          <a:xfrm>
            <a:off x="4535424" y="4348558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64D5E08-FE47-49C5-BA72-15374988BF7B}"/>
              </a:ext>
            </a:extLst>
          </p:cNvPr>
          <p:cNvSpPr>
            <a:spLocks noGrp="1"/>
          </p:cNvSpPr>
          <p:nvPr/>
        </p:nvSpPr>
        <p:spPr>
          <a:xfrm>
            <a:off x="932688" y="4634179"/>
            <a:ext cx="731520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ACCBCA9-E601-4D93-B0D4-46C61A96BF7E}"/>
              </a:ext>
            </a:extLst>
          </p:cNvPr>
          <p:cNvSpPr>
            <a:spLocks noGrp="1"/>
          </p:cNvSpPr>
          <p:nvPr/>
        </p:nvSpPr>
        <p:spPr>
          <a:xfrm>
            <a:off x="969264" y="4747237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969C089-F883-496B-A937-05781678B548}"/>
              </a:ext>
            </a:extLst>
          </p:cNvPr>
          <p:cNvSpPr>
            <a:spLocks noGrp="1"/>
          </p:cNvSpPr>
          <p:nvPr/>
        </p:nvSpPr>
        <p:spPr>
          <a:xfrm>
            <a:off x="1664208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E87D5D3-6E78-4C01-96DB-1FC9EBA8761B}"/>
              </a:ext>
            </a:extLst>
          </p:cNvPr>
          <p:cNvSpPr>
            <a:spLocks noGrp="1"/>
          </p:cNvSpPr>
          <p:nvPr/>
        </p:nvSpPr>
        <p:spPr>
          <a:xfrm>
            <a:off x="1700784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◐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19E17EE-4F84-4A03-B967-103AE2B9E7BC}"/>
              </a:ext>
            </a:extLst>
          </p:cNvPr>
          <p:cNvSpPr>
            <a:spLocks noGrp="1"/>
          </p:cNvSpPr>
          <p:nvPr/>
        </p:nvSpPr>
        <p:spPr>
          <a:xfrm>
            <a:off x="2231136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A23FFFF-185A-4D16-B786-8C0375197537}"/>
              </a:ext>
            </a:extLst>
          </p:cNvPr>
          <p:cNvSpPr>
            <a:spLocks noGrp="1"/>
          </p:cNvSpPr>
          <p:nvPr/>
        </p:nvSpPr>
        <p:spPr>
          <a:xfrm>
            <a:off x="2267712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0DBA718-3835-4590-92DF-EE124583EBBA}"/>
              </a:ext>
            </a:extLst>
          </p:cNvPr>
          <p:cNvSpPr>
            <a:spLocks noGrp="1"/>
          </p:cNvSpPr>
          <p:nvPr/>
        </p:nvSpPr>
        <p:spPr>
          <a:xfrm>
            <a:off x="2798064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C517373-539B-4F2C-842B-EBA149FA0799}"/>
              </a:ext>
            </a:extLst>
          </p:cNvPr>
          <p:cNvSpPr>
            <a:spLocks noGrp="1"/>
          </p:cNvSpPr>
          <p:nvPr/>
        </p:nvSpPr>
        <p:spPr>
          <a:xfrm>
            <a:off x="2834640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◐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EA6A7F5-DE4B-42E3-91EC-FC59C8FF9A61}"/>
              </a:ext>
            </a:extLst>
          </p:cNvPr>
          <p:cNvSpPr>
            <a:spLocks noGrp="1"/>
          </p:cNvSpPr>
          <p:nvPr/>
        </p:nvSpPr>
        <p:spPr>
          <a:xfrm>
            <a:off x="3364992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9537496-E209-4A24-A00E-A43C55A524DF}"/>
              </a:ext>
            </a:extLst>
          </p:cNvPr>
          <p:cNvSpPr>
            <a:spLocks noGrp="1"/>
          </p:cNvSpPr>
          <p:nvPr/>
        </p:nvSpPr>
        <p:spPr>
          <a:xfrm>
            <a:off x="3401568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FD49673-8BF9-41FA-9847-52DE3E36B707}"/>
              </a:ext>
            </a:extLst>
          </p:cNvPr>
          <p:cNvSpPr>
            <a:spLocks noGrp="1"/>
          </p:cNvSpPr>
          <p:nvPr/>
        </p:nvSpPr>
        <p:spPr>
          <a:xfrm>
            <a:off x="3931920" y="4634179"/>
            <a:ext cx="56692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27F0C18-948D-42A8-8F5F-34C38E1218C5}"/>
              </a:ext>
            </a:extLst>
          </p:cNvPr>
          <p:cNvSpPr>
            <a:spLocks noGrp="1"/>
          </p:cNvSpPr>
          <p:nvPr/>
        </p:nvSpPr>
        <p:spPr>
          <a:xfrm>
            <a:off x="3968496" y="4747237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DA31A9F-D057-4C49-B686-5178FC8A857A}"/>
              </a:ext>
            </a:extLst>
          </p:cNvPr>
          <p:cNvSpPr>
            <a:spLocks noGrp="1"/>
          </p:cNvSpPr>
          <p:nvPr/>
        </p:nvSpPr>
        <p:spPr>
          <a:xfrm>
            <a:off x="4498848" y="4634179"/>
            <a:ext cx="2944368" cy="398678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5E872D-3061-49CB-A526-2C3A15788F32}"/>
              </a:ext>
            </a:extLst>
          </p:cNvPr>
          <p:cNvSpPr>
            <a:spLocks noGrp="1"/>
          </p:cNvSpPr>
          <p:nvPr/>
        </p:nvSpPr>
        <p:spPr>
          <a:xfrm>
            <a:off x="4535424" y="4747237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보조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영위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포함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9E3C417-CD8A-4236-A145-3E29F1E74716}"/>
              </a:ext>
            </a:extLst>
          </p:cNvPr>
          <p:cNvSpPr>
            <a:spLocks noGrp="1"/>
          </p:cNvSpPr>
          <p:nvPr/>
        </p:nvSpPr>
        <p:spPr>
          <a:xfrm>
            <a:off x="932688" y="5032857"/>
            <a:ext cx="731520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5D444A3-8AD6-4E6D-8742-BDB5DC0617CE}"/>
              </a:ext>
            </a:extLst>
          </p:cNvPr>
          <p:cNvSpPr>
            <a:spLocks noGrp="1"/>
          </p:cNvSpPr>
          <p:nvPr/>
        </p:nvSpPr>
        <p:spPr>
          <a:xfrm>
            <a:off x="969264" y="5145915"/>
            <a:ext cx="658368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D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0098BC9-C1E0-415B-8331-9CCF3BE8680D}"/>
              </a:ext>
            </a:extLst>
          </p:cNvPr>
          <p:cNvSpPr>
            <a:spLocks noGrp="1"/>
          </p:cNvSpPr>
          <p:nvPr/>
        </p:nvSpPr>
        <p:spPr>
          <a:xfrm>
            <a:off x="1664208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4BFE2AB-92E4-4241-9C21-6AA45B98E6A3}"/>
              </a:ext>
            </a:extLst>
          </p:cNvPr>
          <p:cNvSpPr>
            <a:spLocks noGrp="1"/>
          </p:cNvSpPr>
          <p:nvPr/>
        </p:nvSpPr>
        <p:spPr>
          <a:xfrm>
            <a:off x="1700784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EBCC26F-91AE-427D-A53D-10BA401BB590}"/>
              </a:ext>
            </a:extLst>
          </p:cNvPr>
          <p:cNvSpPr>
            <a:spLocks noGrp="1"/>
          </p:cNvSpPr>
          <p:nvPr/>
        </p:nvSpPr>
        <p:spPr>
          <a:xfrm>
            <a:off x="2231136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CA6C7A4-27EB-4930-AE74-F59869BC6ECB}"/>
              </a:ext>
            </a:extLst>
          </p:cNvPr>
          <p:cNvSpPr>
            <a:spLocks noGrp="1"/>
          </p:cNvSpPr>
          <p:nvPr/>
        </p:nvSpPr>
        <p:spPr>
          <a:xfrm>
            <a:off x="2267712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E88B620-22B1-4B2D-9DD9-E5C459CC2795}"/>
              </a:ext>
            </a:extLst>
          </p:cNvPr>
          <p:cNvSpPr>
            <a:spLocks noGrp="1"/>
          </p:cNvSpPr>
          <p:nvPr/>
        </p:nvSpPr>
        <p:spPr>
          <a:xfrm>
            <a:off x="2798064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7A4EB7F-A111-49C5-BAA1-A97C12F630C2}"/>
              </a:ext>
            </a:extLst>
          </p:cNvPr>
          <p:cNvSpPr>
            <a:spLocks noGrp="1"/>
          </p:cNvSpPr>
          <p:nvPr/>
        </p:nvSpPr>
        <p:spPr>
          <a:xfrm>
            <a:off x="2834640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25026E8-6A3C-42B1-BEE0-2E638B70729E}"/>
              </a:ext>
            </a:extLst>
          </p:cNvPr>
          <p:cNvSpPr>
            <a:spLocks noGrp="1"/>
          </p:cNvSpPr>
          <p:nvPr/>
        </p:nvSpPr>
        <p:spPr>
          <a:xfrm>
            <a:off x="3364992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2D1B719-ACFC-4D9F-ADB7-596CFAE8C91E}"/>
              </a:ext>
            </a:extLst>
          </p:cNvPr>
          <p:cNvSpPr>
            <a:spLocks noGrp="1"/>
          </p:cNvSpPr>
          <p:nvPr/>
        </p:nvSpPr>
        <p:spPr>
          <a:xfrm>
            <a:off x="3401568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○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234D515-4376-4AB8-922C-621381A94582}"/>
              </a:ext>
            </a:extLst>
          </p:cNvPr>
          <p:cNvSpPr>
            <a:spLocks noGrp="1"/>
          </p:cNvSpPr>
          <p:nvPr/>
        </p:nvSpPr>
        <p:spPr>
          <a:xfrm>
            <a:off x="3931920" y="5032857"/>
            <a:ext cx="56692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A684440-159E-4BA4-932C-8D6BF828B5C0}"/>
              </a:ext>
            </a:extLst>
          </p:cNvPr>
          <p:cNvSpPr>
            <a:spLocks noGrp="1"/>
          </p:cNvSpPr>
          <p:nvPr/>
        </p:nvSpPr>
        <p:spPr>
          <a:xfrm>
            <a:off x="3968496" y="5145915"/>
            <a:ext cx="49377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●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20E8402-305C-4204-87D8-601BEB1E9213}"/>
              </a:ext>
            </a:extLst>
          </p:cNvPr>
          <p:cNvSpPr>
            <a:spLocks noGrp="1"/>
          </p:cNvSpPr>
          <p:nvPr/>
        </p:nvSpPr>
        <p:spPr>
          <a:xfrm>
            <a:off x="4498848" y="5032857"/>
            <a:ext cx="2944368" cy="398678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CA10CC3-F5D2-4D1C-A9C4-ACDD94299BF4}"/>
              </a:ext>
            </a:extLst>
          </p:cNvPr>
          <p:cNvSpPr>
            <a:spLocks noGrp="1"/>
          </p:cNvSpPr>
          <p:nvPr/>
        </p:nvSpPr>
        <p:spPr>
          <a:xfrm>
            <a:off x="4535424" y="5145915"/>
            <a:ext cx="28712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[MRO/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노출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DDE2D7D9-F765-453A-88E2-F40956745250}"/>
              </a:ext>
            </a:extLst>
          </p:cNvPr>
          <p:cNvSpPr>
            <a:spLocks noGrp="1"/>
          </p:cNvSpPr>
          <p:nvPr/>
        </p:nvSpPr>
        <p:spPr>
          <a:xfrm>
            <a:off x="7699248" y="3438144"/>
            <a:ext cx="3383280" cy="199339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5ADAC61-5CAC-4BC3-9872-46A4FFB0E4D5}"/>
              </a:ext>
            </a:extLst>
          </p:cNvPr>
          <p:cNvSpPr>
            <a:spLocks noGrp="1"/>
          </p:cNvSpPr>
          <p:nvPr/>
        </p:nvSpPr>
        <p:spPr>
          <a:xfrm>
            <a:off x="7936992" y="3657600"/>
            <a:ext cx="123444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기업별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포지션</a:t>
            </a: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9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455F003-D624-4180-BD20-B293FBC35FE3}"/>
              </a:ext>
            </a:extLst>
          </p:cNvPr>
          <p:cNvSpPr>
            <a:spLocks noGrp="1"/>
          </p:cNvSpPr>
          <p:nvPr/>
        </p:nvSpPr>
        <p:spPr>
          <a:xfrm>
            <a:off x="7936992" y="4005072"/>
            <a:ext cx="2724912" cy="53245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A: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핵심부품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통합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B: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통합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유통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채널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C: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원재료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핵심부품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D: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제조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통합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애프터마켓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9068ABAF-4C0E-4341-943E-C2E07C382E11}"/>
              </a:ext>
            </a:extLst>
          </p:cNvPr>
          <p:cNvSpPr>
            <a:spLocks noGrp="1"/>
          </p:cNvSpPr>
          <p:nvPr/>
        </p:nvSpPr>
        <p:spPr>
          <a:xfrm>
            <a:off x="7936992" y="5029200"/>
            <a:ext cx="2743200" cy="27432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25742A2-F51A-4466-A5D1-68F4275E1840}"/>
              </a:ext>
            </a:extLst>
          </p:cNvPr>
          <p:cNvSpPr>
            <a:spLocks noGrp="1"/>
          </p:cNvSpPr>
          <p:nvPr/>
        </p:nvSpPr>
        <p:spPr>
          <a:xfrm>
            <a:off x="8046720" y="5111496"/>
            <a:ext cx="252374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수익성이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높은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]에 [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노출이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큼</a:t>
            </a:r>
          </a:p>
        </p:txBody>
      </p:sp>
      <p:sp>
        <p:nvSpPr>
          <p:cNvPr id="145" name="Rectangle 1">
            <a:extLst>
              <a:ext uri="{FF2B5EF4-FFF2-40B4-BE49-F238E27FC236}">
                <a16:creationId xmlns:a16="http://schemas.microsoft.com/office/drawing/2014/main" id="{0427A86E-3D55-2646-F155-C447C61809BE}"/>
              </a:ext>
            </a:extLst>
          </p:cNvPr>
          <p:cNvSpPr>
            <a:spLocks noGrp="1"/>
          </p:cNvSpPr>
          <p:nvPr/>
        </p:nvSpPr>
        <p:spPr>
          <a:xfrm>
            <a:off x="0" y="-565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9" name="Rounded Rectangle 3">
            <a:extLst>
              <a:ext uri="{FF2B5EF4-FFF2-40B4-BE49-F238E27FC236}">
                <a16:creationId xmlns:a16="http://schemas.microsoft.com/office/drawing/2014/main" id="{5CC3DA83-5D65-1BFB-7E88-96FE2477943C}"/>
              </a:ext>
            </a:extLst>
          </p:cNvPr>
          <p:cNvSpPr>
            <a:spLocks noGrp="1"/>
          </p:cNvSpPr>
          <p:nvPr/>
        </p:nvSpPr>
        <p:spPr>
          <a:xfrm>
            <a:off x="57912" y="1699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1" name="TextBox 4">
            <a:extLst>
              <a:ext uri="{FF2B5EF4-FFF2-40B4-BE49-F238E27FC236}">
                <a16:creationId xmlns:a16="http://schemas.microsoft.com/office/drawing/2014/main" id="{AA1ADC2E-FD3C-1C60-688E-D5075B3D9D0D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3" name="TextBox 5">
            <a:extLst>
              <a:ext uri="{FF2B5EF4-FFF2-40B4-BE49-F238E27FC236}">
                <a16:creationId xmlns:a16="http://schemas.microsoft.com/office/drawing/2014/main" id="{349F992D-D070-597E-66F3-C01BA1C0971C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5" name="TextBox 6">
            <a:extLst>
              <a:ext uri="{FF2B5EF4-FFF2-40B4-BE49-F238E27FC236}">
                <a16:creationId xmlns:a16="http://schemas.microsoft.com/office/drawing/2014/main" id="{558015AF-7413-FA92-E825-77730754D79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57" name="TextBox 7">
            <a:extLst>
              <a:ext uri="{FF2B5EF4-FFF2-40B4-BE49-F238E27FC236}">
                <a16:creationId xmlns:a16="http://schemas.microsoft.com/office/drawing/2014/main" id="{7210E85F-A3DF-2C20-4971-C782B47EB67D}"/>
              </a:ext>
            </a:extLst>
          </p:cNvPr>
          <p:cNvSpPr>
            <a:spLocks noGrp="1"/>
          </p:cNvSpPr>
          <p:nvPr/>
        </p:nvSpPr>
        <p:spPr>
          <a:xfrm>
            <a:off x="251460" y="1905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9" name="TextBox 8">
            <a:extLst>
              <a:ext uri="{FF2B5EF4-FFF2-40B4-BE49-F238E27FC236}">
                <a16:creationId xmlns:a16="http://schemas.microsoft.com/office/drawing/2014/main" id="{843553CF-6B51-F7E7-C22D-74507438DC4D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61" name="TextBox 9">
            <a:extLst>
              <a:ext uri="{FF2B5EF4-FFF2-40B4-BE49-F238E27FC236}">
                <a16:creationId xmlns:a16="http://schemas.microsoft.com/office/drawing/2014/main" id="{9BF22AA4-2CBA-D664-A235-5B3D0F90A0E4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3" name="TextBox 10">
            <a:extLst>
              <a:ext uri="{FF2B5EF4-FFF2-40B4-BE49-F238E27FC236}">
                <a16:creationId xmlns:a16="http://schemas.microsoft.com/office/drawing/2014/main" id="{50102271-9923-8C84-B928-ABE398856FDD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65" name="TextBox 11">
            <a:extLst>
              <a:ext uri="{FF2B5EF4-FFF2-40B4-BE49-F238E27FC236}">
                <a16:creationId xmlns:a16="http://schemas.microsoft.com/office/drawing/2014/main" id="{30D69B6F-73C2-4613-AA6E-4A6D9713FE06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7" name="TextBox 12">
            <a:extLst>
              <a:ext uri="{FF2B5EF4-FFF2-40B4-BE49-F238E27FC236}">
                <a16:creationId xmlns:a16="http://schemas.microsoft.com/office/drawing/2014/main" id="{243AC701-2621-6F74-4505-3F6E3E917F64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69" name="TextBox 13">
            <a:extLst>
              <a:ext uri="{FF2B5EF4-FFF2-40B4-BE49-F238E27FC236}">
                <a16:creationId xmlns:a16="http://schemas.microsoft.com/office/drawing/2014/main" id="{5C73DE3E-0C55-5DE1-97A8-D8E6D2B89DD3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1" name="TextBox 14">
            <a:extLst>
              <a:ext uri="{FF2B5EF4-FFF2-40B4-BE49-F238E27FC236}">
                <a16:creationId xmlns:a16="http://schemas.microsoft.com/office/drawing/2014/main" id="{D93381AA-D256-52F1-AACA-8BD8474EFF3D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73" name="TextBox 15">
            <a:extLst>
              <a:ext uri="{FF2B5EF4-FFF2-40B4-BE49-F238E27FC236}">
                <a16:creationId xmlns:a16="http://schemas.microsoft.com/office/drawing/2014/main" id="{00A5AA1B-C4CE-EB91-4F06-B51C9C431938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1FBD5D-56C0-454B-9F7B-6338ACCCCB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25278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4AAA976-71EC-411A-8F5F-5AB63BE10FAE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D24BF1-596B-44B6-B41E-54DBD9DBD2E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E1BC90-61CB-4480-951C-919983CAFD2A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7493ED-A2D7-4923-BA19-CE2711A3A92A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728B7E-E203-4BB9-A7DB-228366F995A6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C8F40D-B491-4F80-A188-45864ABC6AE6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90823C-F849-4AB0-97BA-60932BA3D9E2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B9439A-4597-4EB3-B27C-096F19210DA9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24AA2A-D073-4158-A78B-08B672D673E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CC07A5-B52D-4C2E-812A-683F0089E370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91766-149D-4EF0-9738-F185447E0FC1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1BB4CE-5A82-4573-9162-6718A28AA400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5E8832-A049-4B78-B102-62A3E8B9DC53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623CCD-0285-46E3-9993-5043560BF11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44FEE4-1938-4118-88F8-58A3482C9F46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수익구조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DF9DCDF-C1B6-4F27-8F70-EF1BEC730783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49707A5A-7918-47BD-A1C4-05FC832FE904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47BCE6-DD82-48FD-B3B1-88C7ADF1533F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0ADD083-BB2F-4F1C-8892-86655EB8673D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C19B22-6D06-47EC-BAF0-E0970C71E873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02/06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2179094-3BA5-4DD9-9F95-491847E618AE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1371600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A7CF8F-9540-49A0-8390-3B26A86145AA}"/>
              </a:ext>
            </a:extLst>
          </p:cNvPr>
          <p:cNvSpPr>
            <a:spLocks noGrp="1"/>
          </p:cNvSpPr>
          <p:nvPr/>
        </p:nvSpPr>
        <p:spPr>
          <a:xfrm>
            <a:off x="969264" y="1686361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C97AB9E-6834-46E9-BFA7-CD53CD65C706}"/>
              </a:ext>
            </a:extLst>
          </p:cNvPr>
          <p:cNvSpPr>
            <a:spLocks noGrp="1"/>
          </p:cNvSpPr>
          <p:nvPr/>
        </p:nvSpPr>
        <p:spPr>
          <a:xfrm>
            <a:off x="2304288" y="1508760"/>
            <a:ext cx="1005840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41624FA-8C17-4974-BFF7-40E4A4847449}"/>
              </a:ext>
            </a:extLst>
          </p:cNvPr>
          <p:cNvSpPr>
            <a:spLocks noGrp="1"/>
          </p:cNvSpPr>
          <p:nvPr/>
        </p:nvSpPr>
        <p:spPr>
          <a:xfrm>
            <a:off x="2340864" y="1686361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협상력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A8494C-13E1-4EBB-ABC1-B8F44E5A5447}"/>
              </a:ext>
            </a:extLst>
          </p:cNvPr>
          <p:cNvSpPr>
            <a:spLocks noGrp="1"/>
          </p:cNvSpPr>
          <p:nvPr/>
        </p:nvSpPr>
        <p:spPr>
          <a:xfrm>
            <a:off x="3310128" y="1508760"/>
            <a:ext cx="1572768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FE2122-6144-498F-9648-D7BBD7FC4B6C}"/>
              </a:ext>
            </a:extLst>
          </p:cNvPr>
          <p:cNvSpPr>
            <a:spLocks noGrp="1"/>
          </p:cNvSpPr>
          <p:nvPr/>
        </p:nvSpPr>
        <p:spPr>
          <a:xfrm>
            <a:off x="3346704" y="1686361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18B6E6-BD81-42F1-84DF-42AB20984AE3}"/>
              </a:ext>
            </a:extLst>
          </p:cNvPr>
          <p:cNvSpPr>
            <a:spLocks noGrp="1"/>
          </p:cNvSpPr>
          <p:nvPr/>
        </p:nvSpPr>
        <p:spPr>
          <a:xfrm>
            <a:off x="4882896" y="1508760"/>
            <a:ext cx="1417320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0E9DDA-4E4D-4848-A23C-2382AE681382}"/>
              </a:ext>
            </a:extLst>
          </p:cNvPr>
          <p:cNvSpPr>
            <a:spLocks noGrp="1"/>
          </p:cNvSpPr>
          <p:nvPr/>
        </p:nvSpPr>
        <p:spPr>
          <a:xfrm>
            <a:off x="4919472" y="1686361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자본집약도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48F8C0-1337-4999-B4B3-8F7A7DBDF0F1}"/>
              </a:ext>
            </a:extLst>
          </p:cNvPr>
          <p:cNvSpPr>
            <a:spLocks noGrp="1"/>
          </p:cNvSpPr>
          <p:nvPr/>
        </p:nvSpPr>
        <p:spPr>
          <a:xfrm>
            <a:off x="6300216" y="1508760"/>
            <a:ext cx="1389888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6432EC-810F-4E34-A993-7F516E2066B8}"/>
              </a:ext>
            </a:extLst>
          </p:cNvPr>
          <p:cNvSpPr>
            <a:spLocks noGrp="1"/>
          </p:cNvSpPr>
          <p:nvPr/>
        </p:nvSpPr>
        <p:spPr>
          <a:xfrm>
            <a:off x="6336792" y="1686361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진입장벽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D21CB41-BD6F-45DA-A041-1A6D10A0B9CB}"/>
              </a:ext>
            </a:extLst>
          </p:cNvPr>
          <p:cNvSpPr>
            <a:spLocks noGrp="1"/>
          </p:cNvSpPr>
          <p:nvPr/>
        </p:nvSpPr>
        <p:spPr>
          <a:xfrm>
            <a:off x="7690104" y="1508760"/>
            <a:ext cx="1005840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E2019F-CE16-442E-98BA-8A828A63C063}"/>
              </a:ext>
            </a:extLst>
          </p:cNvPr>
          <p:cNvSpPr>
            <a:spLocks noGrp="1"/>
          </p:cNvSpPr>
          <p:nvPr/>
        </p:nvSpPr>
        <p:spPr>
          <a:xfrm>
            <a:off x="7726679" y="1686361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반복성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4092907-CDA8-4FC2-97CB-09FED8F3B9DA}"/>
              </a:ext>
            </a:extLst>
          </p:cNvPr>
          <p:cNvSpPr>
            <a:spLocks noGrp="1"/>
          </p:cNvSpPr>
          <p:nvPr/>
        </p:nvSpPr>
        <p:spPr>
          <a:xfrm>
            <a:off x="8695944" y="1508760"/>
            <a:ext cx="2203704" cy="5334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B5A182-3A46-4937-9BDA-246A44FCEBEC}"/>
              </a:ext>
            </a:extLst>
          </p:cNvPr>
          <p:cNvSpPr>
            <a:spLocks noGrp="1"/>
          </p:cNvSpPr>
          <p:nvPr/>
        </p:nvSpPr>
        <p:spPr>
          <a:xfrm>
            <a:off x="8732519" y="1686361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6E4358-C219-4500-9056-0DA2B21E5398}"/>
              </a:ext>
            </a:extLst>
          </p:cNvPr>
          <p:cNvSpPr>
            <a:spLocks noGrp="1"/>
          </p:cNvSpPr>
          <p:nvPr/>
        </p:nvSpPr>
        <p:spPr>
          <a:xfrm>
            <a:off x="932688" y="2042160"/>
            <a:ext cx="137160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597099-3393-42D8-A219-07AB97C63FE7}"/>
              </a:ext>
            </a:extLst>
          </p:cNvPr>
          <p:cNvSpPr>
            <a:spLocks noGrp="1"/>
          </p:cNvSpPr>
          <p:nvPr/>
        </p:nvSpPr>
        <p:spPr>
          <a:xfrm>
            <a:off x="969264" y="2217094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인프라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E5B0A2-0FA7-400B-B766-1676B733373D}"/>
              </a:ext>
            </a:extLst>
          </p:cNvPr>
          <p:cNvSpPr>
            <a:spLocks noGrp="1"/>
          </p:cNvSpPr>
          <p:nvPr/>
        </p:nvSpPr>
        <p:spPr>
          <a:xfrm>
            <a:off x="2304288" y="20421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3BAB21-B2AE-43E6-BA63-6AB7ECA6E63D}"/>
              </a:ext>
            </a:extLst>
          </p:cNvPr>
          <p:cNvSpPr>
            <a:spLocks noGrp="1"/>
          </p:cNvSpPr>
          <p:nvPr/>
        </p:nvSpPr>
        <p:spPr>
          <a:xfrm>
            <a:off x="2340864" y="22170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중/하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567B27D-1BD2-46A6-9D03-08A12308227A}"/>
              </a:ext>
            </a:extLst>
          </p:cNvPr>
          <p:cNvSpPr>
            <a:spLocks noGrp="1"/>
          </p:cNvSpPr>
          <p:nvPr/>
        </p:nvSpPr>
        <p:spPr>
          <a:xfrm>
            <a:off x="3310128" y="2042160"/>
            <a:ext cx="157276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6F8176-AE5B-45CA-B4C5-A39720765D1A}"/>
              </a:ext>
            </a:extLst>
          </p:cNvPr>
          <p:cNvSpPr>
            <a:spLocks noGrp="1"/>
          </p:cNvSpPr>
          <p:nvPr/>
        </p:nvSpPr>
        <p:spPr>
          <a:xfrm>
            <a:off x="3346704" y="2217094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연동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B31DE8-2B4A-4A06-A9A1-3F96012A873A}"/>
              </a:ext>
            </a:extLst>
          </p:cNvPr>
          <p:cNvSpPr>
            <a:spLocks noGrp="1"/>
          </p:cNvSpPr>
          <p:nvPr/>
        </p:nvSpPr>
        <p:spPr>
          <a:xfrm>
            <a:off x="4882896" y="2042160"/>
            <a:ext cx="141732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5BD9BB-20B3-43E6-89AE-6059411CBC06}"/>
              </a:ext>
            </a:extLst>
          </p:cNvPr>
          <p:cNvSpPr>
            <a:spLocks noGrp="1"/>
          </p:cNvSpPr>
          <p:nvPr/>
        </p:nvSpPr>
        <p:spPr>
          <a:xfrm>
            <a:off x="4919472" y="2217094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6F0989-D069-4E66-9F2C-444782321BA5}"/>
              </a:ext>
            </a:extLst>
          </p:cNvPr>
          <p:cNvSpPr>
            <a:spLocks noGrp="1"/>
          </p:cNvSpPr>
          <p:nvPr/>
        </p:nvSpPr>
        <p:spPr>
          <a:xfrm>
            <a:off x="6300216" y="2042160"/>
            <a:ext cx="138988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3DD35F-2D42-43A6-9CE3-2C06C23DEF38}"/>
              </a:ext>
            </a:extLst>
          </p:cNvPr>
          <p:cNvSpPr>
            <a:spLocks noGrp="1"/>
          </p:cNvSpPr>
          <p:nvPr/>
        </p:nvSpPr>
        <p:spPr>
          <a:xfrm>
            <a:off x="6336792" y="2217094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허가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40A83B-FA8D-4222-8F87-921734CC35A7}"/>
              </a:ext>
            </a:extLst>
          </p:cNvPr>
          <p:cNvSpPr>
            <a:spLocks noGrp="1"/>
          </p:cNvSpPr>
          <p:nvPr/>
        </p:nvSpPr>
        <p:spPr>
          <a:xfrm>
            <a:off x="7690104" y="20421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1130F2-CDA7-4A23-8650-453090331F84}"/>
              </a:ext>
            </a:extLst>
          </p:cNvPr>
          <p:cNvSpPr>
            <a:spLocks noGrp="1"/>
          </p:cNvSpPr>
          <p:nvPr/>
        </p:nvSpPr>
        <p:spPr>
          <a:xfrm>
            <a:off x="7726679" y="22170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4BAB41C-139E-4CF4-BF20-193FCD657EAE}"/>
              </a:ext>
            </a:extLst>
          </p:cNvPr>
          <p:cNvSpPr>
            <a:spLocks noGrp="1"/>
          </p:cNvSpPr>
          <p:nvPr/>
        </p:nvSpPr>
        <p:spPr>
          <a:xfrm>
            <a:off x="8695944" y="2042160"/>
            <a:ext cx="2203704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68B0707-91A7-4236-9808-37F3F4271931}"/>
              </a:ext>
            </a:extLst>
          </p:cNvPr>
          <p:cNvSpPr>
            <a:spLocks noGrp="1"/>
          </p:cNvSpPr>
          <p:nvPr/>
        </p:nvSpPr>
        <p:spPr>
          <a:xfrm>
            <a:off x="8732519" y="2217094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10D654-5D94-4D1E-BA9B-B7BC6481F489}"/>
              </a:ext>
            </a:extLst>
          </p:cNvPr>
          <p:cNvSpPr>
            <a:spLocks noGrp="1"/>
          </p:cNvSpPr>
          <p:nvPr/>
        </p:nvSpPr>
        <p:spPr>
          <a:xfrm>
            <a:off x="932688" y="2575560"/>
            <a:ext cx="137160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9A486D-E3AE-4711-BD7E-7C98268B5090}"/>
              </a:ext>
            </a:extLst>
          </p:cNvPr>
          <p:cNvSpPr>
            <a:spLocks noGrp="1"/>
          </p:cNvSpPr>
          <p:nvPr/>
        </p:nvSpPr>
        <p:spPr>
          <a:xfrm>
            <a:off x="969264" y="2750494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핵심부품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532BB23-E544-4375-A306-022C70C849C5}"/>
              </a:ext>
            </a:extLst>
          </p:cNvPr>
          <p:cNvSpPr>
            <a:spLocks noGrp="1"/>
          </p:cNvSpPr>
          <p:nvPr/>
        </p:nvSpPr>
        <p:spPr>
          <a:xfrm>
            <a:off x="2304288" y="2575560"/>
            <a:ext cx="100584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BC86C6-AABA-4733-93DC-E1565AD178E3}"/>
              </a:ext>
            </a:extLst>
          </p:cNvPr>
          <p:cNvSpPr>
            <a:spLocks noGrp="1"/>
          </p:cNvSpPr>
          <p:nvPr/>
        </p:nvSpPr>
        <p:spPr>
          <a:xfrm>
            <a:off x="2340864" y="27504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05C0279-7CF0-4B3E-9112-67D970B03147}"/>
              </a:ext>
            </a:extLst>
          </p:cNvPr>
          <p:cNvSpPr>
            <a:spLocks noGrp="1"/>
          </p:cNvSpPr>
          <p:nvPr/>
        </p:nvSpPr>
        <p:spPr>
          <a:xfrm>
            <a:off x="3310128" y="2575560"/>
            <a:ext cx="1572768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2600B7-5DC8-4AD9-8F8E-8A4E29338A2B}"/>
              </a:ext>
            </a:extLst>
          </p:cNvPr>
          <p:cNvSpPr>
            <a:spLocks noGrp="1"/>
          </p:cNvSpPr>
          <p:nvPr/>
        </p:nvSpPr>
        <p:spPr>
          <a:xfrm>
            <a:off x="3346704" y="2750494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고마진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가능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EF445C7-7FE6-4A17-813E-C997EBCE01C0}"/>
              </a:ext>
            </a:extLst>
          </p:cNvPr>
          <p:cNvSpPr>
            <a:spLocks noGrp="1"/>
          </p:cNvSpPr>
          <p:nvPr/>
        </p:nvSpPr>
        <p:spPr>
          <a:xfrm>
            <a:off x="4882896" y="2575560"/>
            <a:ext cx="141732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79BEEAB-0184-419B-B609-AD6EFADBE4A4}"/>
              </a:ext>
            </a:extLst>
          </p:cNvPr>
          <p:cNvSpPr>
            <a:spLocks noGrp="1"/>
          </p:cNvSpPr>
          <p:nvPr/>
        </p:nvSpPr>
        <p:spPr>
          <a:xfrm>
            <a:off x="4919472" y="2750494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84DC3D2-F1D4-498C-822E-8B0B614A7F7B}"/>
              </a:ext>
            </a:extLst>
          </p:cNvPr>
          <p:cNvSpPr>
            <a:spLocks noGrp="1"/>
          </p:cNvSpPr>
          <p:nvPr/>
        </p:nvSpPr>
        <p:spPr>
          <a:xfrm>
            <a:off x="6300216" y="2575560"/>
            <a:ext cx="1389888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322DCFE-9334-4AEA-8F54-BB6259343D53}"/>
              </a:ext>
            </a:extLst>
          </p:cNvPr>
          <p:cNvSpPr>
            <a:spLocks noGrp="1"/>
          </p:cNvSpPr>
          <p:nvPr/>
        </p:nvSpPr>
        <p:spPr>
          <a:xfrm>
            <a:off x="6336792" y="2750494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인증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1FE43E0-D221-4B68-8133-5F2530B60C50}"/>
              </a:ext>
            </a:extLst>
          </p:cNvPr>
          <p:cNvSpPr>
            <a:spLocks noGrp="1"/>
          </p:cNvSpPr>
          <p:nvPr/>
        </p:nvSpPr>
        <p:spPr>
          <a:xfrm>
            <a:off x="7690104" y="2575560"/>
            <a:ext cx="100584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BA6281-7EE8-4F2A-A773-1087C4FF2CDA}"/>
              </a:ext>
            </a:extLst>
          </p:cNvPr>
          <p:cNvSpPr>
            <a:spLocks noGrp="1"/>
          </p:cNvSpPr>
          <p:nvPr/>
        </p:nvSpPr>
        <p:spPr>
          <a:xfrm>
            <a:off x="7726679" y="27504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중/상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6034EB5-047E-4D4D-AA34-3C96BB83480E}"/>
              </a:ext>
            </a:extLst>
          </p:cNvPr>
          <p:cNvSpPr>
            <a:spLocks noGrp="1"/>
          </p:cNvSpPr>
          <p:nvPr/>
        </p:nvSpPr>
        <p:spPr>
          <a:xfrm>
            <a:off x="8695944" y="2575560"/>
            <a:ext cx="2203704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3F764C-B0C6-4FE4-BF86-919DEB6BF8A5}"/>
              </a:ext>
            </a:extLst>
          </p:cNvPr>
          <p:cNvSpPr>
            <a:spLocks noGrp="1"/>
          </p:cNvSpPr>
          <p:nvPr/>
        </p:nvSpPr>
        <p:spPr>
          <a:xfrm>
            <a:off x="8732519" y="2750494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ASP·점유율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1F24A1C-1F24-4712-8CA5-17FCBBBF0A4A}"/>
              </a:ext>
            </a:extLst>
          </p:cNvPr>
          <p:cNvSpPr>
            <a:spLocks noGrp="1"/>
          </p:cNvSpPr>
          <p:nvPr/>
        </p:nvSpPr>
        <p:spPr>
          <a:xfrm>
            <a:off x="932688" y="3108960"/>
            <a:ext cx="137160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6ADB243-10F2-4BF5-96DC-BCCD21BCE5EE}"/>
              </a:ext>
            </a:extLst>
          </p:cNvPr>
          <p:cNvSpPr>
            <a:spLocks noGrp="1"/>
          </p:cNvSpPr>
          <p:nvPr/>
        </p:nvSpPr>
        <p:spPr>
          <a:xfrm>
            <a:off x="969264" y="3283894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통합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3CE0A20-8D8F-4C00-89A7-2277FD94318A}"/>
              </a:ext>
            </a:extLst>
          </p:cNvPr>
          <p:cNvSpPr>
            <a:spLocks noGrp="1"/>
          </p:cNvSpPr>
          <p:nvPr/>
        </p:nvSpPr>
        <p:spPr>
          <a:xfrm>
            <a:off x="2304288" y="31089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F65F34-969F-4B8A-8859-5664E2CB7B11}"/>
              </a:ext>
            </a:extLst>
          </p:cNvPr>
          <p:cNvSpPr>
            <a:spLocks noGrp="1"/>
          </p:cNvSpPr>
          <p:nvPr/>
        </p:nvSpPr>
        <p:spPr>
          <a:xfrm>
            <a:off x="2340864" y="32838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03C804D-4C70-4FCB-8937-C9C23902E7DF}"/>
              </a:ext>
            </a:extLst>
          </p:cNvPr>
          <p:cNvSpPr>
            <a:spLocks noGrp="1"/>
          </p:cNvSpPr>
          <p:nvPr/>
        </p:nvSpPr>
        <p:spPr>
          <a:xfrm>
            <a:off x="3310128" y="3108960"/>
            <a:ext cx="157276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ACF68A-EE3F-4A8D-8048-EAA0EB2258B9}"/>
              </a:ext>
            </a:extLst>
          </p:cNvPr>
          <p:cNvSpPr>
            <a:spLocks noGrp="1"/>
          </p:cNvSpPr>
          <p:nvPr/>
        </p:nvSpPr>
        <p:spPr>
          <a:xfrm>
            <a:off x="3346704" y="3283894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ADE282D-1D7D-4C31-B42F-DCC32A4ACDA5}"/>
              </a:ext>
            </a:extLst>
          </p:cNvPr>
          <p:cNvSpPr>
            <a:spLocks noGrp="1"/>
          </p:cNvSpPr>
          <p:nvPr/>
        </p:nvSpPr>
        <p:spPr>
          <a:xfrm>
            <a:off x="4882896" y="3108960"/>
            <a:ext cx="141732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5AAB706-70C0-4CA7-A9CD-EABC7E03043B}"/>
              </a:ext>
            </a:extLst>
          </p:cNvPr>
          <p:cNvSpPr>
            <a:spLocks noGrp="1"/>
          </p:cNvSpPr>
          <p:nvPr/>
        </p:nvSpPr>
        <p:spPr>
          <a:xfrm>
            <a:off x="4919472" y="3283894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중/상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050F812-AF4B-400E-A691-BE94A39CA59F}"/>
              </a:ext>
            </a:extLst>
          </p:cNvPr>
          <p:cNvSpPr>
            <a:spLocks noGrp="1"/>
          </p:cNvSpPr>
          <p:nvPr/>
        </p:nvSpPr>
        <p:spPr>
          <a:xfrm>
            <a:off x="6300216" y="3108960"/>
            <a:ext cx="138988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E101F2E-C6B6-4D1E-B01B-BD86E179F9D5}"/>
              </a:ext>
            </a:extLst>
          </p:cNvPr>
          <p:cNvSpPr>
            <a:spLocks noGrp="1"/>
          </p:cNvSpPr>
          <p:nvPr/>
        </p:nvSpPr>
        <p:spPr>
          <a:xfrm>
            <a:off x="6336792" y="3283894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통합능력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BD98DE8-B98C-49B7-8288-3ED9EA988942}"/>
              </a:ext>
            </a:extLst>
          </p:cNvPr>
          <p:cNvSpPr>
            <a:spLocks noGrp="1"/>
          </p:cNvSpPr>
          <p:nvPr/>
        </p:nvSpPr>
        <p:spPr>
          <a:xfrm>
            <a:off x="7690104" y="31089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B04AA90-22AA-4F2B-8233-6E8EB579CC6D}"/>
              </a:ext>
            </a:extLst>
          </p:cNvPr>
          <p:cNvSpPr>
            <a:spLocks noGrp="1"/>
          </p:cNvSpPr>
          <p:nvPr/>
        </p:nvSpPr>
        <p:spPr>
          <a:xfrm>
            <a:off x="7726679" y="3283894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2030A26-85B9-4581-9D6C-0368C17C0166}"/>
              </a:ext>
            </a:extLst>
          </p:cNvPr>
          <p:cNvSpPr>
            <a:spLocks noGrp="1"/>
          </p:cNvSpPr>
          <p:nvPr/>
        </p:nvSpPr>
        <p:spPr>
          <a:xfrm>
            <a:off x="8695944" y="3108960"/>
            <a:ext cx="2203704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B8B1EBB-60EC-4D19-B5BF-AD135A131D5E}"/>
              </a:ext>
            </a:extLst>
          </p:cNvPr>
          <p:cNvSpPr>
            <a:spLocks noGrp="1"/>
          </p:cNvSpPr>
          <p:nvPr/>
        </p:nvSpPr>
        <p:spPr>
          <a:xfrm>
            <a:off x="8732519" y="3283894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수주·백로그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1702B11-2A7F-41D2-9095-AD8EF0687AC0}"/>
              </a:ext>
            </a:extLst>
          </p:cNvPr>
          <p:cNvSpPr>
            <a:spLocks noGrp="1"/>
          </p:cNvSpPr>
          <p:nvPr/>
        </p:nvSpPr>
        <p:spPr>
          <a:xfrm>
            <a:off x="932688" y="3642360"/>
            <a:ext cx="137160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CB8B68E-FC99-46CA-B14F-615A166D086B}"/>
              </a:ext>
            </a:extLst>
          </p:cNvPr>
          <p:cNvSpPr>
            <a:spLocks noGrp="1"/>
          </p:cNvSpPr>
          <p:nvPr/>
        </p:nvSpPr>
        <p:spPr>
          <a:xfrm>
            <a:off x="969264" y="3817293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유통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채널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B839D37-CFC5-44FA-AC2B-796AA3EAEB79}"/>
              </a:ext>
            </a:extLst>
          </p:cNvPr>
          <p:cNvSpPr>
            <a:spLocks noGrp="1"/>
          </p:cNvSpPr>
          <p:nvPr/>
        </p:nvSpPr>
        <p:spPr>
          <a:xfrm>
            <a:off x="2304288" y="3642360"/>
            <a:ext cx="100584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446C732-39B0-40FB-853F-F1291B44ACEA}"/>
              </a:ext>
            </a:extLst>
          </p:cNvPr>
          <p:cNvSpPr>
            <a:spLocks noGrp="1"/>
          </p:cNvSpPr>
          <p:nvPr/>
        </p:nvSpPr>
        <p:spPr>
          <a:xfrm>
            <a:off x="2340864" y="3817293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중/상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18435E3-DA54-427F-AFF0-7DE850E03F37}"/>
              </a:ext>
            </a:extLst>
          </p:cNvPr>
          <p:cNvSpPr>
            <a:spLocks noGrp="1"/>
          </p:cNvSpPr>
          <p:nvPr/>
        </p:nvSpPr>
        <p:spPr>
          <a:xfrm>
            <a:off x="3310128" y="3642360"/>
            <a:ext cx="1572768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2C96708-858E-47BA-94ED-E8761A319CA2}"/>
              </a:ext>
            </a:extLst>
          </p:cNvPr>
          <p:cNvSpPr>
            <a:spLocks noGrp="1"/>
          </p:cNvSpPr>
          <p:nvPr/>
        </p:nvSpPr>
        <p:spPr>
          <a:xfrm>
            <a:off x="3346704" y="3817293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수수료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57EA97-3AC6-4D7B-924A-909EC4025A12}"/>
              </a:ext>
            </a:extLst>
          </p:cNvPr>
          <p:cNvSpPr>
            <a:spLocks noGrp="1"/>
          </p:cNvSpPr>
          <p:nvPr/>
        </p:nvSpPr>
        <p:spPr>
          <a:xfrm>
            <a:off x="4882896" y="3642360"/>
            <a:ext cx="141732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67D01C4-0CEF-4598-8F34-482D9BB180B4}"/>
              </a:ext>
            </a:extLst>
          </p:cNvPr>
          <p:cNvSpPr>
            <a:spLocks noGrp="1"/>
          </p:cNvSpPr>
          <p:nvPr/>
        </p:nvSpPr>
        <p:spPr>
          <a:xfrm>
            <a:off x="4919472" y="3817293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132EE38-DF8B-4ACB-8684-9332EAF0A297}"/>
              </a:ext>
            </a:extLst>
          </p:cNvPr>
          <p:cNvSpPr>
            <a:spLocks noGrp="1"/>
          </p:cNvSpPr>
          <p:nvPr/>
        </p:nvSpPr>
        <p:spPr>
          <a:xfrm>
            <a:off x="6300216" y="3642360"/>
            <a:ext cx="1389888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034CF57-8EC8-470E-89F8-A418B3291E19}"/>
              </a:ext>
            </a:extLst>
          </p:cNvPr>
          <p:cNvSpPr>
            <a:spLocks noGrp="1"/>
          </p:cNvSpPr>
          <p:nvPr/>
        </p:nvSpPr>
        <p:spPr>
          <a:xfrm>
            <a:off x="6336792" y="3817293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네트워크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0D740C4-1CD7-439F-BEF9-6C5887B4340E}"/>
              </a:ext>
            </a:extLst>
          </p:cNvPr>
          <p:cNvSpPr>
            <a:spLocks noGrp="1"/>
          </p:cNvSpPr>
          <p:nvPr/>
        </p:nvSpPr>
        <p:spPr>
          <a:xfrm>
            <a:off x="7690104" y="3642360"/>
            <a:ext cx="1005840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F2C2263-4056-433F-8CD7-4BF1146D6440}"/>
              </a:ext>
            </a:extLst>
          </p:cNvPr>
          <p:cNvSpPr>
            <a:spLocks noGrp="1"/>
          </p:cNvSpPr>
          <p:nvPr/>
        </p:nvSpPr>
        <p:spPr>
          <a:xfrm>
            <a:off x="7726679" y="3817293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2A3ADD5-FDD4-4137-AFA7-B711C0EAE80A}"/>
              </a:ext>
            </a:extLst>
          </p:cNvPr>
          <p:cNvSpPr>
            <a:spLocks noGrp="1"/>
          </p:cNvSpPr>
          <p:nvPr/>
        </p:nvSpPr>
        <p:spPr>
          <a:xfrm>
            <a:off x="8695944" y="3642360"/>
            <a:ext cx="2203704" cy="533400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1FC79EB-CDDA-408A-A51B-A21567A3B1B7}"/>
              </a:ext>
            </a:extLst>
          </p:cNvPr>
          <p:cNvSpPr>
            <a:spLocks noGrp="1"/>
          </p:cNvSpPr>
          <p:nvPr/>
        </p:nvSpPr>
        <p:spPr>
          <a:xfrm>
            <a:off x="8732519" y="3817293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채널점유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976D619-D4C5-4F7C-8944-7CA2B53F130B}"/>
              </a:ext>
            </a:extLst>
          </p:cNvPr>
          <p:cNvSpPr>
            <a:spLocks noGrp="1"/>
          </p:cNvSpPr>
          <p:nvPr/>
        </p:nvSpPr>
        <p:spPr>
          <a:xfrm>
            <a:off x="932688" y="4175760"/>
            <a:ext cx="137160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49D5CAE-29B2-4680-9508-780635F39D75}"/>
              </a:ext>
            </a:extLst>
          </p:cNvPr>
          <p:cNvSpPr>
            <a:spLocks noGrp="1"/>
          </p:cNvSpPr>
          <p:nvPr/>
        </p:nvSpPr>
        <p:spPr>
          <a:xfrm>
            <a:off x="969264" y="4350693"/>
            <a:ext cx="12984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애프터마켓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FA2410E-11C2-413D-A262-E7B16AA442E3}"/>
              </a:ext>
            </a:extLst>
          </p:cNvPr>
          <p:cNvSpPr>
            <a:spLocks noGrp="1"/>
          </p:cNvSpPr>
          <p:nvPr/>
        </p:nvSpPr>
        <p:spPr>
          <a:xfrm>
            <a:off x="2304288" y="41757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174CAFF-36BD-4C89-8924-8F1EFCFD9E79}"/>
              </a:ext>
            </a:extLst>
          </p:cNvPr>
          <p:cNvSpPr>
            <a:spLocks noGrp="1"/>
          </p:cNvSpPr>
          <p:nvPr/>
        </p:nvSpPr>
        <p:spPr>
          <a:xfrm>
            <a:off x="2340864" y="4350693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EE1829D-AEE6-4806-B9C5-F8A1093C475C}"/>
              </a:ext>
            </a:extLst>
          </p:cNvPr>
          <p:cNvSpPr>
            <a:spLocks noGrp="1"/>
          </p:cNvSpPr>
          <p:nvPr/>
        </p:nvSpPr>
        <p:spPr>
          <a:xfrm>
            <a:off x="3310128" y="4175760"/>
            <a:ext cx="157276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E11AA29-F8B2-4CD3-B620-E4ED65E877F1}"/>
              </a:ext>
            </a:extLst>
          </p:cNvPr>
          <p:cNvSpPr>
            <a:spLocks noGrp="1"/>
          </p:cNvSpPr>
          <p:nvPr/>
        </p:nvSpPr>
        <p:spPr>
          <a:xfrm>
            <a:off x="3346704" y="4350693"/>
            <a:ext cx="149961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반복매출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D1CFEB4-9A99-4605-AB2F-3F9C67177CB8}"/>
              </a:ext>
            </a:extLst>
          </p:cNvPr>
          <p:cNvSpPr>
            <a:spLocks noGrp="1"/>
          </p:cNvSpPr>
          <p:nvPr/>
        </p:nvSpPr>
        <p:spPr>
          <a:xfrm>
            <a:off x="4882896" y="4175760"/>
            <a:ext cx="141732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4783E5A-F58F-4E49-9FB2-7334CD36CC53}"/>
              </a:ext>
            </a:extLst>
          </p:cNvPr>
          <p:cNvSpPr>
            <a:spLocks noGrp="1"/>
          </p:cNvSpPr>
          <p:nvPr/>
        </p:nvSpPr>
        <p:spPr>
          <a:xfrm>
            <a:off x="4919472" y="4350693"/>
            <a:ext cx="134416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A8B6ABE-0996-4E44-B976-624BEDA4FB57}"/>
              </a:ext>
            </a:extLst>
          </p:cNvPr>
          <p:cNvSpPr>
            <a:spLocks noGrp="1"/>
          </p:cNvSpPr>
          <p:nvPr/>
        </p:nvSpPr>
        <p:spPr>
          <a:xfrm>
            <a:off x="6300216" y="4175760"/>
            <a:ext cx="138988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20EF745-BFC0-4EE0-8031-87C309DA26B8}"/>
              </a:ext>
            </a:extLst>
          </p:cNvPr>
          <p:cNvSpPr>
            <a:spLocks noGrp="1"/>
          </p:cNvSpPr>
          <p:nvPr/>
        </p:nvSpPr>
        <p:spPr>
          <a:xfrm>
            <a:off x="6336792" y="4350693"/>
            <a:ext cx="1316736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효과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C51D7D3-9C5F-4F22-8013-B29C7E414B33}"/>
              </a:ext>
            </a:extLst>
          </p:cNvPr>
          <p:cNvSpPr>
            <a:spLocks noGrp="1"/>
          </p:cNvSpPr>
          <p:nvPr/>
        </p:nvSpPr>
        <p:spPr>
          <a:xfrm>
            <a:off x="7690104" y="4175760"/>
            <a:ext cx="1005840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1FED90F-A3DC-4CB8-96F8-A76761DF21B3}"/>
              </a:ext>
            </a:extLst>
          </p:cNvPr>
          <p:cNvSpPr>
            <a:spLocks noGrp="1"/>
          </p:cNvSpPr>
          <p:nvPr/>
        </p:nvSpPr>
        <p:spPr>
          <a:xfrm>
            <a:off x="7726679" y="4350693"/>
            <a:ext cx="93268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DE3298D-571F-4719-AF9D-E157805F3047}"/>
              </a:ext>
            </a:extLst>
          </p:cNvPr>
          <p:cNvSpPr>
            <a:spLocks noGrp="1"/>
          </p:cNvSpPr>
          <p:nvPr/>
        </p:nvSpPr>
        <p:spPr>
          <a:xfrm>
            <a:off x="8695944" y="4175760"/>
            <a:ext cx="2203704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4EA1D6F-5F64-48A8-BC0A-65CF39FC4079}"/>
              </a:ext>
            </a:extLst>
          </p:cNvPr>
          <p:cNvSpPr>
            <a:spLocks noGrp="1"/>
          </p:cNvSpPr>
          <p:nvPr/>
        </p:nvSpPr>
        <p:spPr>
          <a:xfrm>
            <a:off x="8732519" y="4350693"/>
            <a:ext cx="2130552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설치기반</a:t>
            </a:r>
            <a:endParaRPr sz="71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F367587-136B-493D-9BD6-36BCD3509029}"/>
              </a:ext>
            </a:extLst>
          </p:cNvPr>
          <p:cNvSpPr>
            <a:spLocks noGrp="1"/>
          </p:cNvSpPr>
          <p:nvPr/>
        </p:nvSpPr>
        <p:spPr>
          <a:xfrm>
            <a:off x="932688" y="4956048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투자자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D9A049D-571A-4AB8-8F9F-83686B275F6F}"/>
              </a:ext>
            </a:extLst>
          </p:cNvPr>
          <p:cNvSpPr>
            <a:spLocks noGrp="1"/>
          </p:cNvSpPr>
          <p:nvPr/>
        </p:nvSpPr>
        <p:spPr>
          <a:xfrm>
            <a:off x="932688" y="5193792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5" name="Connector 124">
            <a:extLst>
              <a:ext uri="{FF2B5EF4-FFF2-40B4-BE49-F238E27FC236}">
                <a16:creationId xmlns:a16="http://schemas.microsoft.com/office/drawing/2014/main" id="{AE3921B4-7F94-42F6-8FB3-A5F9FC4E3288}"/>
              </a:ext>
            </a:extLst>
          </p:cNvPr>
          <p:cNvSpPr>
            <a:spLocks noGrp="1"/>
          </p:cNvSpPr>
          <p:nvPr/>
        </p:nvSpPr>
        <p:spPr>
          <a:xfrm>
            <a:off x="1389888" y="5205679"/>
            <a:ext cx="15544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2DBD508F-192D-436A-AE22-604837228D2D}"/>
              </a:ext>
            </a:extLst>
          </p:cNvPr>
          <p:cNvSpPr>
            <a:spLocks noGrp="1"/>
          </p:cNvSpPr>
          <p:nvPr/>
        </p:nvSpPr>
        <p:spPr>
          <a:xfrm>
            <a:off x="932688" y="5285232"/>
            <a:ext cx="3054096" cy="74980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3E5ACD1-28AF-4331-8BA1-4E2748F4C33B}"/>
              </a:ext>
            </a:extLst>
          </p:cNvPr>
          <p:cNvSpPr>
            <a:spLocks noGrp="1"/>
          </p:cNvSpPr>
          <p:nvPr/>
        </p:nvSpPr>
        <p:spPr>
          <a:xfrm>
            <a:off x="932688" y="5285232"/>
            <a:ext cx="50292" cy="7498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C407C6F-1FF5-4038-8D25-D5734894230C}"/>
              </a:ext>
            </a:extLst>
          </p:cNvPr>
          <p:cNvSpPr>
            <a:spLocks noGrp="1"/>
          </p:cNvSpPr>
          <p:nvPr/>
        </p:nvSpPr>
        <p:spPr>
          <a:xfrm>
            <a:off x="1088136" y="5413248"/>
            <a:ext cx="27797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프리미엄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975F524-4B53-4107-BC74-E60A5F51D1A7}"/>
              </a:ext>
            </a:extLst>
          </p:cNvPr>
          <p:cNvSpPr>
            <a:spLocks noGrp="1"/>
          </p:cNvSpPr>
          <p:nvPr/>
        </p:nvSpPr>
        <p:spPr>
          <a:xfrm>
            <a:off x="1088136" y="5705856"/>
            <a:ext cx="277977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협상력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×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재투자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×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반복매출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52F253F4-E241-4E2C-BB10-27CBC69EFD66}"/>
              </a:ext>
            </a:extLst>
          </p:cNvPr>
          <p:cNvSpPr>
            <a:spLocks noGrp="1"/>
          </p:cNvSpPr>
          <p:nvPr/>
        </p:nvSpPr>
        <p:spPr>
          <a:xfrm>
            <a:off x="4261104" y="5285232"/>
            <a:ext cx="305409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C1F2372-E18E-493A-B2B1-85B1C1BF0FF5}"/>
              </a:ext>
            </a:extLst>
          </p:cNvPr>
          <p:cNvSpPr>
            <a:spLocks noGrp="1"/>
          </p:cNvSpPr>
          <p:nvPr/>
        </p:nvSpPr>
        <p:spPr>
          <a:xfrm>
            <a:off x="4261104" y="5285232"/>
            <a:ext cx="50292" cy="7498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94DDD81-309A-40C5-B80F-967C84F70FC5}"/>
              </a:ext>
            </a:extLst>
          </p:cNvPr>
          <p:cNvSpPr>
            <a:spLocks noGrp="1"/>
          </p:cNvSpPr>
          <p:nvPr/>
        </p:nvSpPr>
        <p:spPr>
          <a:xfrm>
            <a:off x="4416552" y="5413248"/>
            <a:ext cx="27797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할인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38B1CB9-B876-4B6D-BFB2-8EEFDF9CBE70}"/>
              </a:ext>
            </a:extLst>
          </p:cNvPr>
          <p:cNvSpPr>
            <a:spLocks noGrp="1"/>
          </p:cNvSpPr>
          <p:nvPr/>
        </p:nvSpPr>
        <p:spPr>
          <a:xfrm>
            <a:off x="4416552" y="5705856"/>
            <a:ext cx="277977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×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CAPEX ×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01491526-9817-4EC6-B066-2DFE2B1BC80F}"/>
              </a:ext>
            </a:extLst>
          </p:cNvPr>
          <p:cNvSpPr>
            <a:spLocks noGrp="1"/>
          </p:cNvSpPr>
          <p:nvPr/>
        </p:nvSpPr>
        <p:spPr>
          <a:xfrm>
            <a:off x="7589520" y="5285232"/>
            <a:ext cx="305409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B3B8C42-2F4B-474A-B6F9-52E993E47130}"/>
              </a:ext>
            </a:extLst>
          </p:cNvPr>
          <p:cNvSpPr>
            <a:spLocks noGrp="1"/>
          </p:cNvSpPr>
          <p:nvPr/>
        </p:nvSpPr>
        <p:spPr>
          <a:xfrm>
            <a:off x="7589520" y="5285232"/>
            <a:ext cx="50292" cy="7498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056A041-3EC3-4502-8AB2-24EE7DE78CEB}"/>
              </a:ext>
            </a:extLst>
          </p:cNvPr>
          <p:cNvSpPr>
            <a:spLocks noGrp="1"/>
          </p:cNvSpPr>
          <p:nvPr/>
        </p:nvSpPr>
        <p:spPr>
          <a:xfrm>
            <a:off x="7744968" y="5413248"/>
            <a:ext cx="27797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4852B79-0E80-4852-8162-80D9672C2CE2}"/>
              </a:ext>
            </a:extLst>
          </p:cNvPr>
          <p:cNvSpPr>
            <a:spLocks noGrp="1"/>
          </p:cNvSpPr>
          <p:nvPr/>
        </p:nvSpPr>
        <p:spPr>
          <a:xfrm>
            <a:off x="7744968" y="5705856"/>
            <a:ext cx="277977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같은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성장률이라도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구간이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다르면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달라짐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9" name="Rectangle 1">
            <a:extLst>
              <a:ext uri="{FF2B5EF4-FFF2-40B4-BE49-F238E27FC236}">
                <a16:creationId xmlns:a16="http://schemas.microsoft.com/office/drawing/2014/main" id="{590C68AA-D64D-3188-50EE-44ECC3E73152}"/>
              </a:ext>
            </a:extLst>
          </p:cNvPr>
          <p:cNvSpPr>
            <a:spLocks noGrp="1"/>
          </p:cNvSpPr>
          <p:nvPr/>
        </p:nvSpPr>
        <p:spPr>
          <a:xfrm>
            <a:off x="0" y="-852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3" name="TextBox 8">
            <a:extLst>
              <a:ext uri="{FF2B5EF4-FFF2-40B4-BE49-F238E27FC236}">
                <a16:creationId xmlns:a16="http://schemas.microsoft.com/office/drawing/2014/main" id="{2046F13C-05B3-6BCB-B56A-4B4DEFDD79C8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55" name="TextBox 9">
            <a:extLst>
              <a:ext uri="{FF2B5EF4-FFF2-40B4-BE49-F238E27FC236}">
                <a16:creationId xmlns:a16="http://schemas.microsoft.com/office/drawing/2014/main" id="{2C8AA935-0843-8E21-5F8A-8CAB63735ED5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7" name="TextBox 10">
            <a:extLst>
              <a:ext uri="{FF2B5EF4-FFF2-40B4-BE49-F238E27FC236}">
                <a16:creationId xmlns:a16="http://schemas.microsoft.com/office/drawing/2014/main" id="{D771CEE3-D03B-CE68-8577-554B58FEA8C2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59" name="TextBox 11">
            <a:extLst>
              <a:ext uri="{FF2B5EF4-FFF2-40B4-BE49-F238E27FC236}">
                <a16:creationId xmlns:a16="http://schemas.microsoft.com/office/drawing/2014/main" id="{BAB4ABE8-3984-E9C4-D0FC-7F140F9B9A8E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1" name="TextBox 12">
            <a:extLst>
              <a:ext uri="{FF2B5EF4-FFF2-40B4-BE49-F238E27FC236}">
                <a16:creationId xmlns:a16="http://schemas.microsoft.com/office/drawing/2014/main" id="{25B22B54-76AA-A1A5-32A4-194EEC153705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63" name="TextBox 13">
            <a:extLst>
              <a:ext uri="{FF2B5EF4-FFF2-40B4-BE49-F238E27FC236}">
                <a16:creationId xmlns:a16="http://schemas.microsoft.com/office/drawing/2014/main" id="{6EBCF5A6-8EE4-A80E-CA6E-6060B064D4A3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5" name="TextBox 14">
            <a:extLst>
              <a:ext uri="{FF2B5EF4-FFF2-40B4-BE49-F238E27FC236}">
                <a16:creationId xmlns:a16="http://schemas.microsoft.com/office/drawing/2014/main" id="{981BBAF5-3C3D-8934-8E06-233EA4402AE3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67" name="TextBox 15">
            <a:extLst>
              <a:ext uri="{FF2B5EF4-FFF2-40B4-BE49-F238E27FC236}">
                <a16:creationId xmlns:a16="http://schemas.microsoft.com/office/drawing/2014/main" id="{95B514C9-36D0-A6D7-78CE-D9F38952DDB9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1" name="TextBox 4">
            <a:extLst>
              <a:ext uri="{FF2B5EF4-FFF2-40B4-BE49-F238E27FC236}">
                <a16:creationId xmlns:a16="http://schemas.microsoft.com/office/drawing/2014/main" id="{6DE05D1E-6C99-CED7-372F-B2693F7557C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73" name="TextBox 5">
            <a:extLst>
              <a:ext uri="{FF2B5EF4-FFF2-40B4-BE49-F238E27FC236}">
                <a16:creationId xmlns:a16="http://schemas.microsoft.com/office/drawing/2014/main" id="{5A43471E-6042-28C3-2408-80A7638D3A0B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9" name="Rounded Rectangle 3">
            <a:extLst>
              <a:ext uri="{FF2B5EF4-FFF2-40B4-BE49-F238E27FC236}">
                <a16:creationId xmlns:a16="http://schemas.microsoft.com/office/drawing/2014/main" id="{8E1BB343-479A-E124-5764-0F8FCC24D852}"/>
              </a:ext>
            </a:extLst>
          </p:cNvPr>
          <p:cNvSpPr>
            <a:spLocks noGrp="1"/>
          </p:cNvSpPr>
          <p:nvPr/>
        </p:nvSpPr>
        <p:spPr>
          <a:xfrm>
            <a:off x="57912" y="1699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81" name="TextBox 6">
            <a:extLst>
              <a:ext uri="{FF2B5EF4-FFF2-40B4-BE49-F238E27FC236}">
                <a16:creationId xmlns:a16="http://schemas.microsoft.com/office/drawing/2014/main" id="{1698C2D2-C1B6-FF97-84F5-37746D892A5F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83" name="TextBox 7">
            <a:extLst>
              <a:ext uri="{FF2B5EF4-FFF2-40B4-BE49-F238E27FC236}">
                <a16:creationId xmlns:a16="http://schemas.microsoft.com/office/drawing/2014/main" id="{8B93174C-1122-365F-1F6E-60C04E1671B7}"/>
              </a:ext>
            </a:extLst>
          </p:cNvPr>
          <p:cNvSpPr>
            <a:spLocks noGrp="1"/>
          </p:cNvSpPr>
          <p:nvPr/>
        </p:nvSpPr>
        <p:spPr>
          <a:xfrm>
            <a:off x="251460" y="1905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E8C41F-1169-BBBD-46F6-99C0D72819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52250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CE453-F6E4-43A3-B1B8-B7CBC94A36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51CB6-E1A1-40EE-BC90-8CFDB9D5247F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9201D7-4A8A-49F7-8A1E-7FFBF17BD3EC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A6B6A5-B344-47E2-8918-8334CF7689E3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A702D9-9478-4B59-B9E6-3E41F919B28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70E3E8-1613-4A12-9B88-FB0BB1295119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B045EF-5587-4741-BC83-AA129341BD4D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0933A5-9DDB-46B5-8DA7-D96C29CA8B0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AE61D2-05EE-4885-8853-96A35E423DC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B35A00-F41C-4FA6-9DC0-1C3F75BD8159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99F5D3-3862-46EE-A52E-989965EDC3DE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631A45-232F-47CA-9ADC-A25AB6F806FA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942DB6-66C0-4EFB-9D4F-15C7B1AB31CF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00059E-99D8-4023-A73D-9FC2A169CE97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09ACB3-9B44-4527-B116-7469EC27C65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BBA167-7881-4C54-95A0-322EE73173EA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자금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흐름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A7F29D6B-0A51-4DAA-A1CB-90C628671619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B965573A-ED78-4CA4-8908-5FF60CD13100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CC1BE9-9EDE-4AC2-92C0-A9B6795F7F33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EFAEE16-4F71-469B-BF91-538CD1E6E3FE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5322FB-DCF8-48A0-A7AD-863570CD9F4F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02/06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8454BB1-82BE-4BAF-B654-AEC772057F12}"/>
              </a:ext>
            </a:extLst>
          </p:cNvPr>
          <p:cNvSpPr>
            <a:spLocks noGrp="1"/>
          </p:cNvSpPr>
          <p:nvPr/>
        </p:nvSpPr>
        <p:spPr>
          <a:xfrm>
            <a:off x="932688" y="1554480"/>
            <a:ext cx="9966960" cy="8412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17FB63F-815B-45B6-9612-214D771E597F}"/>
              </a:ext>
            </a:extLst>
          </p:cNvPr>
          <p:cNvSpPr>
            <a:spLocks noGrp="1"/>
          </p:cNvSpPr>
          <p:nvPr/>
        </p:nvSpPr>
        <p:spPr>
          <a:xfrm>
            <a:off x="1078992" y="1810512"/>
            <a:ext cx="950976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F575AA-5046-470C-A70E-ECA941ADB52B}"/>
              </a:ext>
            </a:extLst>
          </p:cNvPr>
          <p:cNvSpPr>
            <a:spLocks noGrp="1"/>
          </p:cNvSpPr>
          <p:nvPr/>
        </p:nvSpPr>
        <p:spPr>
          <a:xfrm>
            <a:off x="1133856" y="1847143"/>
            <a:ext cx="8412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사용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B7C9B51-9E03-492E-BBCB-487159485DA3}"/>
              </a:ext>
            </a:extLst>
          </p:cNvPr>
          <p:cNvSpPr>
            <a:spLocks noGrp="1"/>
          </p:cNvSpPr>
          <p:nvPr/>
        </p:nvSpPr>
        <p:spPr>
          <a:xfrm>
            <a:off x="932688" y="2816352"/>
            <a:ext cx="9966960" cy="84124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409ACCD-0374-49B0-843C-306056CA74E4}"/>
              </a:ext>
            </a:extLst>
          </p:cNvPr>
          <p:cNvSpPr>
            <a:spLocks noGrp="1"/>
          </p:cNvSpPr>
          <p:nvPr/>
        </p:nvSpPr>
        <p:spPr>
          <a:xfrm>
            <a:off x="1078992" y="3072384"/>
            <a:ext cx="950976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E80462-60B1-45DC-B9A4-7D26E2B18159}"/>
              </a:ext>
            </a:extLst>
          </p:cNvPr>
          <p:cNvSpPr>
            <a:spLocks noGrp="1"/>
          </p:cNvSpPr>
          <p:nvPr/>
        </p:nvSpPr>
        <p:spPr>
          <a:xfrm>
            <a:off x="1133856" y="3109015"/>
            <a:ext cx="8412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D4BE32C-03D1-49C2-9128-EB38DBC6161B}"/>
              </a:ext>
            </a:extLst>
          </p:cNvPr>
          <p:cNvSpPr>
            <a:spLocks noGrp="1"/>
          </p:cNvSpPr>
          <p:nvPr/>
        </p:nvSpPr>
        <p:spPr>
          <a:xfrm>
            <a:off x="932688" y="4078224"/>
            <a:ext cx="9966960" cy="841248"/>
          </a:xfrm>
          <a:prstGeom prst="roundRect">
            <a:avLst>
              <a:gd name="adj" fmla="val 8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36E0E86-D808-4C18-9726-FB93B2BEB982}"/>
              </a:ext>
            </a:extLst>
          </p:cNvPr>
          <p:cNvSpPr>
            <a:spLocks noGrp="1"/>
          </p:cNvSpPr>
          <p:nvPr/>
        </p:nvSpPr>
        <p:spPr>
          <a:xfrm>
            <a:off x="1078992" y="4334256"/>
            <a:ext cx="950976" cy="2377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0900F39-5FD5-4039-8CC9-A789467CCFB7}"/>
              </a:ext>
            </a:extLst>
          </p:cNvPr>
          <p:cNvSpPr>
            <a:spLocks noGrp="1"/>
          </p:cNvSpPr>
          <p:nvPr/>
        </p:nvSpPr>
        <p:spPr>
          <a:xfrm>
            <a:off x="1133856" y="4370887"/>
            <a:ext cx="841248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공급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54BD32B-50FB-4AC4-B701-A23EE0334431}"/>
              </a:ext>
            </a:extLst>
          </p:cNvPr>
          <p:cNvSpPr>
            <a:spLocks noGrp="1"/>
          </p:cNvSpPr>
          <p:nvPr/>
        </p:nvSpPr>
        <p:spPr>
          <a:xfrm>
            <a:off x="2331720" y="1764792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AD84C3-8CF6-4949-B606-B7E891F21B60}"/>
              </a:ext>
            </a:extLst>
          </p:cNvPr>
          <p:cNvSpPr>
            <a:spLocks noGrp="1"/>
          </p:cNvSpPr>
          <p:nvPr/>
        </p:nvSpPr>
        <p:spPr>
          <a:xfrm>
            <a:off x="2404872" y="1847088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사용자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0EE0455-7F74-4EBB-BBB2-2FC810CB11D1}"/>
              </a:ext>
            </a:extLst>
          </p:cNvPr>
          <p:cNvSpPr>
            <a:spLocks noGrp="1"/>
          </p:cNvSpPr>
          <p:nvPr/>
        </p:nvSpPr>
        <p:spPr>
          <a:xfrm>
            <a:off x="4526280" y="1764792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6596F2-F0DC-4898-83FB-FD55EC505B01}"/>
              </a:ext>
            </a:extLst>
          </p:cNvPr>
          <p:cNvSpPr>
            <a:spLocks noGrp="1"/>
          </p:cNvSpPr>
          <p:nvPr/>
        </p:nvSpPr>
        <p:spPr>
          <a:xfrm>
            <a:off x="4599432" y="1847088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촉발요인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정책·예산·CapEx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093AFC70-0199-4B24-BF11-0CAEE0DF2BC5}"/>
              </a:ext>
            </a:extLst>
          </p:cNvPr>
          <p:cNvSpPr>
            <a:spLocks noGrp="1"/>
          </p:cNvSpPr>
          <p:nvPr/>
        </p:nvSpPr>
        <p:spPr>
          <a:xfrm>
            <a:off x="2615184" y="3026664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6DF932-11D5-4FBD-AB01-E6510C9FA8C0}"/>
              </a:ext>
            </a:extLst>
          </p:cNvPr>
          <p:cNvSpPr>
            <a:spLocks noGrp="1"/>
          </p:cNvSpPr>
          <p:nvPr/>
        </p:nvSpPr>
        <p:spPr>
          <a:xfrm>
            <a:off x="2688336" y="3108960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발주처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누가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계약하나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47F4F25-701F-4E16-88BE-0617B48D4179}"/>
              </a:ext>
            </a:extLst>
          </p:cNvPr>
          <p:cNvSpPr>
            <a:spLocks noGrp="1"/>
          </p:cNvSpPr>
          <p:nvPr/>
        </p:nvSpPr>
        <p:spPr>
          <a:xfrm>
            <a:off x="5102352" y="3026664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23A104-9B7A-44DE-9AF0-0274A2C36FB9}"/>
              </a:ext>
            </a:extLst>
          </p:cNvPr>
          <p:cNvSpPr>
            <a:spLocks noGrp="1"/>
          </p:cNvSpPr>
          <p:nvPr/>
        </p:nvSpPr>
        <p:spPr>
          <a:xfrm>
            <a:off x="5175504" y="3108960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참여자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개발사·EPC·플랫폼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7EE23A8-C06B-48A9-9332-1A62F9EDC3AB}"/>
              </a:ext>
            </a:extLst>
          </p:cNvPr>
          <p:cNvSpPr>
            <a:spLocks noGrp="1"/>
          </p:cNvSpPr>
          <p:nvPr/>
        </p:nvSpPr>
        <p:spPr>
          <a:xfrm>
            <a:off x="7818120" y="3026664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5651DB-2125-4322-B82D-690E83996C0D}"/>
              </a:ext>
            </a:extLst>
          </p:cNvPr>
          <p:cNvSpPr>
            <a:spLocks noGrp="1"/>
          </p:cNvSpPr>
          <p:nvPr/>
        </p:nvSpPr>
        <p:spPr>
          <a:xfrm>
            <a:off x="7891272" y="3108960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조달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가격·납기·스펙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B4A204A-E4BE-447E-B555-2C2E5C31F24C}"/>
              </a:ext>
            </a:extLst>
          </p:cNvPr>
          <p:cNvSpPr>
            <a:spLocks noGrp="1"/>
          </p:cNvSpPr>
          <p:nvPr/>
        </p:nvSpPr>
        <p:spPr>
          <a:xfrm>
            <a:off x="2468880" y="4288536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4E136D-D893-4D9F-B8B1-CECF02039702}"/>
              </a:ext>
            </a:extLst>
          </p:cNvPr>
          <p:cNvSpPr>
            <a:spLocks noGrp="1"/>
          </p:cNvSpPr>
          <p:nvPr/>
        </p:nvSpPr>
        <p:spPr>
          <a:xfrm>
            <a:off x="2542032" y="4370832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64CD040B-BC19-4D32-B643-EDECC9986CE6}"/>
              </a:ext>
            </a:extLst>
          </p:cNvPr>
          <p:cNvSpPr>
            <a:spLocks noGrp="1"/>
          </p:cNvSpPr>
          <p:nvPr/>
        </p:nvSpPr>
        <p:spPr>
          <a:xfrm>
            <a:off x="5074920" y="4288536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77DC8AA-DC96-41B2-890B-5D06ECA4140A}"/>
              </a:ext>
            </a:extLst>
          </p:cNvPr>
          <p:cNvSpPr>
            <a:spLocks noGrp="1"/>
          </p:cNvSpPr>
          <p:nvPr/>
        </p:nvSpPr>
        <p:spPr>
          <a:xfrm>
            <a:off x="5148072" y="4370832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57552E18-7B8A-4E0F-A408-25C16BBDF1CC}"/>
              </a:ext>
            </a:extLst>
          </p:cNvPr>
          <p:cNvSpPr>
            <a:spLocks noGrp="1"/>
          </p:cNvSpPr>
          <p:nvPr/>
        </p:nvSpPr>
        <p:spPr>
          <a:xfrm>
            <a:off x="7680960" y="4288536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985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FC6C9F-ED50-4140-A863-29DCDBAD265A}"/>
              </a:ext>
            </a:extLst>
          </p:cNvPr>
          <p:cNvSpPr>
            <a:spLocks noGrp="1"/>
          </p:cNvSpPr>
          <p:nvPr/>
        </p:nvSpPr>
        <p:spPr>
          <a:xfrm>
            <a:off x="7754112" y="4370832"/>
            <a:ext cx="154533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C]
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B14D3C-ADD2-4DA5-B092-BD425E598CDB}"/>
              </a:ext>
            </a:extLst>
          </p:cNvPr>
          <p:cNvSpPr>
            <a:spLocks noGrp="1"/>
          </p:cNvSpPr>
          <p:nvPr/>
        </p:nvSpPr>
        <p:spPr>
          <a:xfrm>
            <a:off x="4114800" y="1883664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0AEE03-A905-448D-87C2-C91604CA46B6}"/>
              </a:ext>
            </a:extLst>
          </p:cNvPr>
          <p:cNvSpPr>
            <a:spLocks noGrp="1"/>
          </p:cNvSpPr>
          <p:nvPr/>
        </p:nvSpPr>
        <p:spPr>
          <a:xfrm>
            <a:off x="4599432" y="3145536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73968A-5E6F-414F-916D-D13910FC96B2}"/>
              </a:ext>
            </a:extLst>
          </p:cNvPr>
          <p:cNvSpPr>
            <a:spLocks noGrp="1"/>
          </p:cNvSpPr>
          <p:nvPr/>
        </p:nvSpPr>
        <p:spPr>
          <a:xfrm>
            <a:off x="7342631" y="3145536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DA085C-50F0-467E-92C4-3B4AEF7C5DFB}"/>
              </a:ext>
            </a:extLst>
          </p:cNvPr>
          <p:cNvSpPr>
            <a:spLocks noGrp="1"/>
          </p:cNvSpPr>
          <p:nvPr/>
        </p:nvSpPr>
        <p:spPr>
          <a:xfrm>
            <a:off x="4297680" y="4407408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F43984-A988-426D-880A-7FAF05B5B2B9}"/>
              </a:ext>
            </a:extLst>
          </p:cNvPr>
          <p:cNvSpPr>
            <a:spLocks noGrp="1"/>
          </p:cNvSpPr>
          <p:nvPr/>
        </p:nvSpPr>
        <p:spPr>
          <a:xfrm>
            <a:off x="6903720" y="4407408"/>
            <a:ext cx="256032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2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FC44D332-B74E-4EE0-BEE4-45D07EF853D7}"/>
              </a:ext>
            </a:extLst>
          </p:cNvPr>
          <p:cNvSpPr>
            <a:spLocks noGrp="1"/>
          </p:cNvSpPr>
          <p:nvPr/>
        </p:nvSpPr>
        <p:spPr>
          <a:xfrm>
            <a:off x="932688" y="5230368"/>
            <a:ext cx="99669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0862F0-30BB-464C-875B-C2EB8E86D621}"/>
              </a:ext>
            </a:extLst>
          </p:cNvPr>
          <p:cNvSpPr>
            <a:spLocks noGrp="1"/>
          </p:cNvSpPr>
          <p:nvPr/>
        </p:nvSpPr>
        <p:spPr>
          <a:xfrm>
            <a:off x="1152144" y="5413248"/>
            <a:ext cx="530352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84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6623F8-FF4C-416F-B594-826F4F4E122C}"/>
              </a:ext>
            </a:extLst>
          </p:cNvPr>
          <p:cNvSpPr>
            <a:spLocks noGrp="1"/>
          </p:cNvSpPr>
          <p:nvPr/>
        </p:nvSpPr>
        <p:spPr>
          <a:xfrm>
            <a:off x="1737360" y="5385816"/>
            <a:ext cx="877824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“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어떤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고객에게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무엇을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파는지”에서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시작해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그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고객의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고객까지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거슬러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올라가면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수요의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진짜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출발점이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보인다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흐름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(→)과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대금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(←)의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방향을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분리해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</a:t>
            </a:r>
            <a:r>
              <a:rPr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</a:t>
            </a:r>
          </a:p>
        </p:txBody>
      </p:sp>
      <p:sp>
        <p:nvSpPr>
          <p:cNvPr id="73" name="Rectangle 1">
            <a:extLst>
              <a:ext uri="{FF2B5EF4-FFF2-40B4-BE49-F238E27FC236}">
                <a16:creationId xmlns:a16="http://schemas.microsoft.com/office/drawing/2014/main" id="{2AFABDBA-4BD2-8B77-5C3E-49B4AF7ED770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">
            <a:extLst>
              <a:ext uri="{FF2B5EF4-FFF2-40B4-BE49-F238E27FC236}">
                <a16:creationId xmlns:a16="http://schemas.microsoft.com/office/drawing/2014/main" id="{E3731AA2-58B2-9588-7BB9-37B89D615E66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9" name="TextBox 9">
            <a:extLst>
              <a:ext uri="{FF2B5EF4-FFF2-40B4-BE49-F238E27FC236}">
                <a16:creationId xmlns:a16="http://schemas.microsoft.com/office/drawing/2014/main" id="{E181A052-18D4-3565-19D6-13DC2990CC18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TextBox 10">
            <a:extLst>
              <a:ext uri="{FF2B5EF4-FFF2-40B4-BE49-F238E27FC236}">
                <a16:creationId xmlns:a16="http://schemas.microsoft.com/office/drawing/2014/main" id="{BE874722-CA74-72E0-31DF-A69328AA54DD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3" name="TextBox 11">
            <a:extLst>
              <a:ext uri="{FF2B5EF4-FFF2-40B4-BE49-F238E27FC236}">
                <a16:creationId xmlns:a16="http://schemas.microsoft.com/office/drawing/2014/main" id="{0651A3F5-3B95-54EF-C55C-FE3267C73E6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TextBox 12">
            <a:extLst>
              <a:ext uri="{FF2B5EF4-FFF2-40B4-BE49-F238E27FC236}">
                <a16:creationId xmlns:a16="http://schemas.microsoft.com/office/drawing/2014/main" id="{BAEF392B-34C2-4ED9-4916-321A0952E4BB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7" name="TextBox 13">
            <a:extLst>
              <a:ext uri="{FF2B5EF4-FFF2-40B4-BE49-F238E27FC236}">
                <a16:creationId xmlns:a16="http://schemas.microsoft.com/office/drawing/2014/main" id="{063EE240-00F9-3EC6-BC56-27520219A81B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9" name="TextBox 14">
            <a:extLst>
              <a:ext uri="{FF2B5EF4-FFF2-40B4-BE49-F238E27FC236}">
                <a16:creationId xmlns:a16="http://schemas.microsoft.com/office/drawing/2014/main" id="{E4D91089-D627-76FE-1130-1727D5695582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1" name="TextBox 15">
            <a:extLst>
              <a:ext uri="{FF2B5EF4-FFF2-40B4-BE49-F238E27FC236}">
                <a16:creationId xmlns:a16="http://schemas.microsoft.com/office/drawing/2014/main" id="{28554613-D044-3ECC-709F-16E88BB7BBF0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TextBox 4">
            <a:extLst>
              <a:ext uri="{FF2B5EF4-FFF2-40B4-BE49-F238E27FC236}">
                <a16:creationId xmlns:a16="http://schemas.microsoft.com/office/drawing/2014/main" id="{769038DA-36A1-122A-F9B0-F0AE08F73524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7" name="TextBox 5">
            <a:extLst>
              <a:ext uri="{FF2B5EF4-FFF2-40B4-BE49-F238E27FC236}">
                <a16:creationId xmlns:a16="http://schemas.microsoft.com/office/drawing/2014/main" id="{AEF13372-FEF5-441D-BE28-14BF0084C337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3" name="Rounded Rectangle 3">
            <a:extLst>
              <a:ext uri="{FF2B5EF4-FFF2-40B4-BE49-F238E27FC236}">
                <a16:creationId xmlns:a16="http://schemas.microsoft.com/office/drawing/2014/main" id="{39D40DD3-FEE8-652D-E7E5-EE432D3AFB5A}"/>
              </a:ext>
            </a:extLst>
          </p:cNvPr>
          <p:cNvSpPr>
            <a:spLocks noGrp="1"/>
          </p:cNvSpPr>
          <p:nvPr/>
        </p:nvSpPr>
        <p:spPr>
          <a:xfrm>
            <a:off x="57912" y="1699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5" name="TextBox 6">
            <a:extLst>
              <a:ext uri="{FF2B5EF4-FFF2-40B4-BE49-F238E27FC236}">
                <a16:creationId xmlns:a16="http://schemas.microsoft.com/office/drawing/2014/main" id="{AF214AF1-96C4-164A-5418-6EC7B21E0BEF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7" name="TextBox 7">
            <a:extLst>
              <a:ext uri="{FF2B5EF4-FFF2-40B4-BE49-F238E27FC236}">
                <a16:creationId xmlns:a16="http://schemas.microsoft.com/office/drawing/2014/main" id="{9A27588B-6687-BA38-F3E3-9723C52F7060}"/>
              </a:ext>
            </a:extLst>
          </p:cNvPr>
          <p:cNvSpPr>
            <a:spLocks noGrp="1"/>
          </p:cNvSpPr>
          <p:nvPr/>
        </p:nvSpPr>
        <p:spPr>
          <a:xfrm>
            <a:off x="251460" y="1905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A104B4-ED38-24DF-4F63-DF021B104C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39354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AF1917-E304-41C7-801E-EFC74DF5E4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4DB171-AEEC-4A36-AF4F-970C511C57C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19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812F35-B5CE-4A09-ADC0-8B99A59A6281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A529B0-1095-4E83-B6F2-7A5E4705C90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2590B8-ACD3-4471-BF92-447434A10B00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124A5-76D0-40D6-B3A5-2F3DCCC49459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B9CC3B-8456-49DD-B43B-5E0066FFF04D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밸류체인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BEEE48-BD09-49B2-8890-EAB88907BB05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3E7DC8-ABF5-474A-90A8-B54DC2A354EC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006437-1A7E-46F5-9D2F-6B012B363D4F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06ABDA-9F2F-47C3-BB5F-9B7D5A8787F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E75B11-4AEA-4073-8F00-6E1E2CABE35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3A8759-4257-4CEF-BD4E-720FEBC8B274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A26856-B51E-4F4E-AA06-12FFDE74D8D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A0E1AF-7635-44F3-B0F1-3ACCD90B2717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0DEFB1-C63E-4CEC-B135-47337DD5A7F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밸류체인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구간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심화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A15E049D-D3DF-4CC9-87E8-1CCA734D3DAF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462AF4E1-D0A1-4778-B4AA-D75B5734E76B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CA2C85-9926-47F7-B32B-FB8B5E6E481D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711217A-DFE3-443D-BC93-A25D37E38662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857B61-9E6D-4656-8462-C8393FC0E215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Microsoft Sans Serif" panose="020B0604020202020204" pitchFamily="34" charset="0"/>
                <a:cs typeface="Microsoft Sans Serif" panose="020B0604020202020204" pitchFamily="34" charset="0"/>
              </a:rPr>
              <a:t> 02/06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E076BBE-66D5-4058-B746-15AD053F146D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2834640" cy="452628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1016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82E76B-C091-4BB3-8FF4-5DAB4ACCDBE4}"/>
              </a:ext>
            </a:extLst>
          </p:cNvPr>
          <p:cNvSpPr>
            <a:spLocks noGrp="1"/>
          </p:cNvSpPr>
          <p:nvPr/>
        </p:nvSpPr>
        <p:spPr>
          <a:xfrm>
            <a:off x="1188720" y="1810512"/>
            <a:ext cx="2322576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1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1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선택</a:t>
            </a:r>
            <a:r>
              <a:rPr sz="1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1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구간</a:t>
            </a:r>
            <a:r>
              <a:rPr sz="1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
예: </a:t>
            </a:r>
            <a:r>
              <a:rPr sz="1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핵심부품</a:t>
            </a:r>
            <a:endParaRPr sz="18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793130-4CD1-43C3-9134-581E2EC50B9F}"/>
              </a:ext>
            </a:extLst>
          </p:cNvPr>
          <p:cNvSpPr>
            <a:spLocks noGrp="1"/>
          </p:cNvSpPr>
          <p:nvPr/>
        </p:nvSpPr>
        <p:spPr>
          <a:xfrm>
            <a:off x="1188720" y="2651760"/>
            <a:ext cx="1737360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구간이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중요한</a:t>
            </a:r>
            <a:r>
              <a:rPr sz="8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이유</a:t>
            </a:r>
            <a:endParaRPr sz="8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90934D-8AD9-4987-A6D3-D0DA56017E1C}"/>
              </a:ext>
            </a:extLst>
          </p:cNvPr>
          <p:cNvSpPr>
            <a:spLocks noGrp="1"/>
          </p:cNvSpPr>
          <p:nvPr/>
        </p:nvSpPr>
        <p:spPr>
          <a:xfrm>
            <a:off x="1188720" y="2980944"/>
            <a:ext cx="2304288" cy="2890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산업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병목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인증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전환비용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공급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부족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등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구조적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이유</a:t>
            </a:r>
            <a:r>
              <a:rPr sz="819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AD87AB-0558-4E39-833B-DD4951BCBE76}"/>
              </a:ext>
            </a:extLst>
          </p:cNvPr>
          <p:cNvSpPr>
            <a:spLocks noGrp="1"/>
          </p:cNvSpPr>
          <p:nvPr/>
        </p:nvSpPr>
        <p:spPr>
          <a:xfrm>
            <a:off x="1188720" y="3767328"/>
            <a:ext cx="8229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</a:t>
            </a: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9B9811-A47E-44F1-A170-BF18F1DEEE63}"/>
              </a:ext>
            </a:extLst>
          </p:cNvPr>
          <p:cNvSpPr>
            <a:spLocks noGrp="1"/>
          </p:cNvSpPr>
          <p:nvPr/>
        </p:nvSpPr>
        <p:spPr>
          <a:xfrm>
            <a:off x="1975104" y="3749039"/>
            <a:ext cx="146304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고객군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발주처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EB09FA-215A-468C-BF96-1801103D7A43}"/>
              </a:ext>
            </a:extLst>
          </p:cNvPr>
          <p:cNvSpPr>
            <a:spLocks noGrp="1"/>
          </p:cNvSpPr>
          <p:nvPr/>
        </p:nvSpPr>
        <p:spPr>
          <a:xfrm>
            <a:off x="1188720" y="4133087"/>
            <a:ext cx="8229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</a:t>
            </a: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제품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9BE9F7-0CE0-4278-B785-0C1BDD4A93A8}"/>
              </a:ext>
            </a:extLst>
          </p:cNvPr>
          <p:cNvSpPr>
            <a:spLocks noGrp="1"/>
          </p:cNvSpPr>
          <p:nvPr/>
        </p:nvSpPr>
        <p:spPr>
          <a:xfrm>
            <a:off x="1975104" y="4114800"/>
            <a:ext cx="146304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제품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서비스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B0E4AD-EF07-4D73-9B7D-5E56EC54ABCE}"/>
              </a:ext>
            </a:extLst>
          </p:cNvPr>
          <p:cNvSpPr>
            <a:spLocks noGrp="1"/>
          </p:cNvSpPr>
          <p:nvPr/>
        </p:nvSpPr>
        <p:spPr>
          <a:xfrm>
            <a:off x="1188720" y="4498848"/>
            <a:ext cx="8229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핵심지표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43EBD3-8B74-4210-9DE6-36FD1F32F89B}"/>
              </a:ext>
            </a:extLst>
          </p:cNvPr>
          <p:cNvSpPr>
            <a:spLocks noGrp="1"/>
          </p:cNvSpPr>
          <p:nvPr/>
        </p:nvSpPr>
        <p:spPr>
          <a:xfrm>
            <a:off x="1975104" y="4480560"/>
            <a:ext cx="146304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[ASP/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수주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가동률</a:t>
            </a: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4153BE-F00E-461B-A630-EA3885A60A4C}"/>
              </a:ext>
            </a:extLst>
          </p:cNvPr>
          <p:cNvSpPr>
            <a:spLocks noGrp="1"/>
          </p:cNvSpPr>
          <p:nvPr/>
        </p:nvSpPr>
        <p:spPr>
          <a:xfrm>
            <a:off x="1188720" y="4864608"/>
            <a:ext cx="8229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기업</a:t>
            </a: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노출</a:t>
            </a:r>
            <a:endParaRPr sz="80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6A9136-8C4C-4D77-B50E-C02E886B6922}"/>
              </a:ext>
            </a:extLst>
          </p:cNvPr>
          <p:cNvSpPr>
            <a:spLocks noGrp="1"/>
          </p:cNvSpPr>
          <p:nvPr/>
        </p:nvSpPr>
        <p:spPr>
          <a:xfrm>
            <a:off x="1975104" y="4846320"/>
            <a:ext cx="1499616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[A ● / B ○ / C ◐ / D ○]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1FABD7E-E622-4835-B1AA-56C7AFE91751}"/>
              </a:ext>
            </a:extLst>
          </p:cNvPr>
          <p:cNvSpPr>
            <a:spLocks noGrp="1"/>
          </p:cNvSpPr>
          <p:nvPr/>
        </p:nvSpPr>
        <p:spPr>
          <a:xfrm>
            <a:off x="4041648" y="1508760"/>
            <a:ext cx="2139696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E1BD3E0-6FE7-4C65-838B-C4A25C17FF03}"/>
              </a:ext>
            </a:extLst>
          </p:cNvPr>
          <p:cNvSpPr>
            <a:spLocks noGrp="1"/>
          </p:cNvSpPr>
          <p:nvPr/>
        </p:nvSpPr>
        <p:spPr>
          <a:xfrm>
            <a:off x="4041648" y="1508760"/>
            <a:ext cx="50292" cy="21214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0011B8-5700-473C-BFCB-79C0B7E06059}"/>
              </a:ext>
            </a:extLst>
          </p:cNvPr>
          <p:cNvSpPr>
            <a:spLocks noGrp="1"/>
          </p:cNvSpPr>
          <p:nvPr/>
        </p:nvSpPr>
        <p:spPr>
          <a:xfrm>
            <a:off x="4197096" y="1636776"/>
            <a:ext cx="18653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경제성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97DA07-4889-44B8-A066-F214B15389F8}"/>
              </a:ext>
            </a:extLst>
          </p:cNvPr>
          <p:cNvSpPr>
            <a:spLocks noGrp="1"/>
          </p:cNvSpPr>
          <p:nvPr/>
        </p:nvSpPr>
        <p:spPr>
          <a:xfrm>
            <a:off x="4197096" y="1929384"/>
            <a:ext cx="1865376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협상력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[상/중/하]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마진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자본집약도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반복성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BD2166A-5870-4D21-B0B9-D82BD7362315}"/>
              </a:ext>
            </a:extLst>
          </p:cNvPr>
          <p:cNvSpPr>
            <a:spLocks noGrp="1"/>
          </p:cNvSpPr>
          <p:nvPr/>
        </p:nvSpPr>
        <p:spPr>
          <a:xfrm>
            <a:off x="6382512" y="1508760"/>
            <a:ext cx="2139696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2DD940A-B7E3-4782-8F49-23B3A4C39FEC}"/>
              </a:ext>
            </a:extLst>
          </p:cNvPr>
          <p:cNvSpPr>
            <a:spLocks noGrp="1"/>
          </p:cNvSpPr>
          <p:nvPr/>
        </p:nvSpPr>
        <p:spPr>
          <a:xfrm>
            <a:off x="6382512" y="1508760"/>
            <a:ext cx="50292" cy="21214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7F28DA-72A1-4804-896D-B7FA732927B7}"/>
              </a:ext>
            </a:extLst>
          </p:cNvPr>
          <p:cNvSpPr>
            <a:spLocks noGrp="1"/>
          </p:cNvSpPr>
          <p:nvPr/>
        </p:nvSpPr>
        <p:spPr>
          <a:xfrm>
            <a:off x="6537960" y="1636776"/>
            <a:ext cx="18653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경쟁구도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8B61F5-5DF9-43DD-8D28-0A4FCCD3F6D1}"/>
              </a:ext>
            </a:extLst>
          </p:cNvPr>
          <p:cNvSpPr>
            <a:spLocks noGrp="1"/>
          </p:cNvSpPr>
          <p:nvPr/>
        </p:nvSpPr>
        <p:spPr>
          <a:xfrm>
            <a:off x="6537960" y="1929384"/>
            <a:ext cx="1865376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주요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공급자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인증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진입장벽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대체재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집중도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: [ ]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827918C-C9BE-4970-8FBF-9C10C54E0FDF}"/>
              </a:ext>
            </a:extLst>
          </p:cNvPr>
          <p:cNvSpPr>
            <a:spLocks noGrp="1"/>
          </p:cNvSpPr>
          <p:nvPr/>
        </p:nvSpPr>
        <p:spPr>
          <a:xfrm>
            <a:off x="8723376" y="1508760"/>
            <a:ext cx="2139696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B221C6-5E0F-4BA0-96F5-D8B58C9CD235}"/>
              </a:ext>
            </a:extLst>
          </p:cNvPr>
          <p:cNvSpPr>
            <a:spLocks noGrp="1"/>
          </p:cNvSpPr>
          <p:nvPr/>
        </p:nvSpPr>
        <p:spPr>
          <a:xfrm>
            <a:off x="8723376" y="1508760"/>
            <a:ext cx="50292" cy="212140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103113-8B81-498F-9757-E20041DBB0F5}"/>
              </a:ext>
            </a:extLst>
          </p:cNvPr>
          <p:cNvSpPr>
            <a:spLocks noGrp="1"/>
          </p:cNvSpPr>
          <p:nvPr/>
        </p:nvSpPr>
        <p:spPr>
          <a:xfrm>
            <a:off x="8878824" y="1636776"/>
            <a:ext cx="186537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리스크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715B18-392E-4827-8827-C42BBA1C8890}"/>
              </a:ext>
            </a:extLst>
          </p:cNvPr>
          <p:cNvSpPr>
            <a:spLocks noGrp="1"/>
          </p:cNvSpPr>
          <p:nvPr/>
        </p:nvSpPr>
        <p:spPr>
          <a:xfrm>
            <a:off x="8878824" y="1929384"/>
            <a:ext cx="1865376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공급과잉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내재화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신규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경쟁사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대체기술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가격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하락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원가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상승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
•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규제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일정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지연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E18590-A12E-44D9-9E9F-B58E2EE5BB13}"/>
              </a:ext>
            </a:extLst>
          </p:cNvPr>
          <p:cNvSpPr>
            <a:spLocks noGrp="1"/>
          </p:cNvSpPr>
          <p:nvPr/>
        </p:nvSpPr>
        <p:spPr>
          <a:xfrm>
            <a:off x="4041648" y="3977639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구간의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결론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9C0C616-94EC-4A21-BA19-209DEDAB5D78}"/>
              </a:ext>
            </a:extLst>
          </p:cNvPr>
          <p:cNvSpPr>
            <a:spLocks noGrp="1"/>
          </p:cNvSpPr>
          <p:nvPr/>
        </p:nvSpPr>
        <p:spPr>
          <a:xfrm>
            <a:off x="4041648" y="4215383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Connector 64">
            <a:extLst>
              <a:ext uri="{FF2B5EF4-FFF2-40B4-BE49-F238E27FC236}">
                <a16:creationId xmlns:a16="http://schemas.microsoft.com/office/drawing/2014/main" id="{36C89A8B-EAF6-4981-BC32-A125AE9D7BB5}"/>
              </a:ext>
            </a:extLst>
          </p:cNvPr>
          <p:cNvSpPr>
            <a:spLocks noGrp="1"/>
          </p:cNvSpPr>
          <p:nvPr/>
        </p:nvSpPr>
        <p:spPr>
          <a:xfrm>
            <a:off x="4498848" y="422727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791C1C0-6849-4174-9908-C740C14E797E}"/>
              </a:ext>
            </a:extLst>
          </p:cNvPr>
          <p:cNvSpPr>
            <a:spLocks noGrp="1"/>
          </p:cNvSpPr>
          <p:nvPr/>
        </p:nvSpPr>
        <p:spPr>
          <a:xfrm>
            <a:off x="4041648" y="4315968"/>
            <a:ext cx="6858000" cy="171907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03B85C-23E3-4142-A97D-92D18C83D849}"/>
              </a:ext>
            </a:extLst>
          </p:cNvPr>
          <p:cNvSpPr>
            <a:spLocks noGrp="1"/>
          </p:cNvSpPr>
          <p:nvPr/>
        </p:nvSpPr>
        <p:spPr>
          <a:xfrm>
            <a:off x="4279392" y="4535424"/>
            <a:ext cx="1078992" cy="1677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결론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문장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D9EA35-B86D-4B3F-9FA2-E200E044B091}"/>
              </a:ext>
            </a:extLst>
          </p:cNvPr>
          <p:cNvSpPr>
            <a:spLocks noGrp="1"/>
          </p:cNvSpPr>
          <p:nvPr/>
        </p:nvSpPr>
        <p:spPr>
          <a:xfrm>
            <a:off x="5266944" y="4507992"/>
            <a:ext cx="530352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“[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구간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]은 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구조적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이유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]로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협상력이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높고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, 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핵심지표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]가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개선될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때 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기업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]의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매출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마진에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가장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큰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레버리지가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발생한다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.”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AFC691-7E1B-4181-948F-654D588F6EC7}"/>
              </a:ext>
            </a:extLst>
          </p:cNvPr>
          <p:cNvSpPr>
            <a:spLocks noGrp="1"/>
          </p:cNvSpPr>
          <p:nvPr/>
        </p:nvSpPr>
        <p:spPr>
          <a:xfrm>
            <a:off x="4279392" y="5074920"/>
            <a:ext cx="107899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확인</a:t>
            </a:r>
            <a:r>
              <a:rPr sz="81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81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데이터</a:t>
            </a:r>
            <a:endParaRPr sz="81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icrosoft Sans Serif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24DA047-7FFC-4D70-9904-5690E278BC46}"/>
              </a:ext>
            </a:extLst>
          </p:cNvPr>
          <p:cNvSpPr>
            <a:spLocks noGrp="1"/>
          </p:cNvSpPr>
          <p:nvPr/>
        </p:nvSpPr>
        <p:spPr>
          <a:xfrm>
            <a:off x="5266944" y="5047488"/>
            <a:ext cx="53035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[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수주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가동률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가격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점유율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고객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인증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리드타임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] 중 2~3개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현재값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/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다음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확인일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icrosoft Sans Serif" panose="020B0604020202020204" pitchFamily="34" charset="0"/>
              </a:rPr>
              <a:t> [ ]</a:t>
            </a:r>
          </a:p>
        </p:txBody>
      </p:sp>
      <p:sp>
        <p:nvSpPr>
          <p:cNvPr id="72" name="Rectangle 1">
            <a:extLst>
              <a:ext uri="{FF2B5EF4-FFF2-40B4-BE49-F238E27FC236}">
                <a16:creationId xmlns:a16="http://schemas.microsoft.com/office/drawing/2014/main" id="{E0650F74-3FEB-4D87-85E0-4A5F58A0F596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">
            <a:extLst>
              <a:ext uri="{FF2B5EF4-FFF2-40B4-BE49-F238E27FC236}">
                <a16:creationId xmlns:a16="http://schemas.microsoft.com/office/drawing/2014/main" id="{E221B2F9-7B2E-2F42-E1E3-4DF44D536483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8" name="TextBox 9">
            <a:extLst>
              <a:ext uri="{FF2B5EF4-FFF2-40B4-BE49-F238E27FC236}">
                <a16:creationId xmlns:a16="http://schemas.microsoft.com/office/drawing/2014/main" id="{84BE42EA-7831-95BA-9DA5-AE8D9681A566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10">
            <a:extLst>
              <a:ext uri="{FF2B5EF4-FFF2-40B4-BE49-F238E27FC236}">
                <a16:creationId xmlns:a16="http://schemas.microsoft.com/office/drawing/2014/main" id="{F8D5597F-F552-EDEF-36AC-4BBF18A0DA02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2" name="TextBox 11">
            <a:extLst>
              <a:ext uri="{FF2B5EF4-FFF2-40B4-BE49-F238E27FC236}">
                <a16:creationId xmlns:a16="http://schemas.microsoft.com/office/drawing/2014/main" id="{BBAF5300-23E8-A74A-E1A6-DAA310625AF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12">
            <a:extLst>
              <a:ext uri="{FF2B5EF4-FFF2-40B4-BE49-F238E27FC236}">
                <a16:creationId xmlns:a16="http://schemas.microsoft.com/office/drawing/2014/main" id="{0D07B5A0-0DF6-B16F-EA1B-75F4475C2D3F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6" name="TextBox 13">
            <a:extLst>
              <a:ext uri="{FF2B5EF4-FFF2-40B4-BE49-F238E27FC236}">
                <a16:creationId xmlns:a16="http://schemas.microsoft.com/office/drawing/2014/main" id="{8799E149-C19A-E969-CBC4-8B3AC9B5BBC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14">
            <a:extLst>
              <a:ext uri="{FF2B5EF4-FFF2-40B4-BE49-F238E27FC236}">
                <a16:creationId xmlns:a16="http://schemas.microsoft.com/office/drawing/2014/main" id="{BFDB00BC-FAD5-7632-BE80-3F68019C5CCA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0" name="TextBox 15">
            <a:extLst>
              <a:ext uri="{FF2B5EF4-FFF2-40B4-BE49-F238E27FC236}">
                <a16:creationId xmlns:a16="http://schemas.microsoft.com/office/drawing/2014/main" id="{6F5ECED0-2FB0-8B54-5B7D-E27465E8C386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4" name="TextBox 4">
            <a:extLst>
              <a:ext uri="{FF2B5EF4-FFF2-40B4-BE49-F238E27FC236}">
                <a16:creationId xmlns:a16="http://schemas.microsoft.com/office/drawing/2014/main" id="{41A4BA02-8E6D-D86E-7E21-25D83E751F8F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6" name="TextBox 5">
            <a:extLst>
              <a:ext uri="{FF2B5EF4-FFF2-40B4-BE49-F238E27FC236}">
                <a16:creationId xmlns:a16="http://schemas.microsoft.com/office/drawing/2014/main" id="{9BB343E4-783D-EFD6-9002-CC4009FD5C53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2" name="Rounded Rectangle 3">
            <a:extLst>
              <a:ext uri="{FF2B5EF4-FFF2-40B4-BE49-F238E27FC236}">
                <a16:creationId xmlns:a16="http://schemas.microsoft.com/office/drawing/2014/main" id="{F23ABA8F-B84F-CC1A-6000-C5C5A465E7FF}"/>
              </a:ext>
            </a:extLst>
          </p:cNvPr>
          <p:cNvSpPr>
            <a:spLocks noGrp="1"/>
          </p:cNvSpPr>
          <p:nvPr/>
        </p:nvSpPr>
        <p:spPr>
          <a:xfrm>
            <a:off x="57912" y="1699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6">
            <a:extLst>
              <a:ext uri="{FF2B5EF4-FFF2-40B4-BE49-F238E27FC236}">
                <a16:creationId xmlns:a16="http://schemas.microsoft.com/office/drawing/2014/main" id="{F782A72A-C8B6-E928-FAF8-72B19E162AE3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6" name="TextBox 7">
            <a:extLst>
              <a:ext uri="{FF2B5EF4-FFF2-40B4-BE49-F238E27FC236}">
                <a16:creationId xmlns:a16="http://schemas.microsoft.com/office/drawing/2014/main" id="{71A6E7FB-3EA9-3F5A-BF34-AA2F9E542DAB}"/>
              </a:ext>
            </a:extLst>
          </p:cNvPr>
          <p:cNvSpPr>
            <a:spLocks noGrp="1"/>
          </p:cNvSpPr>
          <p:nvPr/>
        </p:nvSpPr>
        <p:spPr>
          <a:xfrm>
            <a:off x="251460" y="1905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7C6719-1E8A-2040-258A-115BBF1DA1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49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DA911-B482-17A2-867C-01C603CE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CD0946-CCA6-60F7-03A4-D132778AC81E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0B7AA-CEE7-50F6-674A-829224DDC3F5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Ⅲ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128776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2EC27F8-D26C-4E31-B68E-2A912217E06B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3EAD30-5855-468A-A685-29F323E12539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B8988F-F348-47CE-9B5B-CE1A9F56241B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288C64-B466-4D6A-95BA-5A57F239D33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0329F5-64EF-48D3-ACF2-63065CCD1D38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FF3EB7-54A0-465E-A312-D25A3E30290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5067C-7AB2-4797-8A8F-7E88F0DCC77B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4C37C0-9274-4C89-B1C6-1B45BDBFC8DE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11DB55-A0AB-4B12-839D-376C90E24038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021C42-F276-4FAA-8434-80E74ACC78D3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CDE352-BC57-4348-99B4-7227A90EF63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7FAE0F-56EC-4BD9-B155-53AAE2715A4A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E7573F-2723-48D7-B922-6B85F461F666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0A0320-9D68-4C3F-9F77-CAEDCF04C79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7D547F-10C0-47BF-8A63-65724B84BBCF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en-US" altLang="ko-KR"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r>
              <a:rPr lang="ko-KR" altLang="en-US"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 기업 상대 포지셔닝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6242B0B-DEAD-4CEA-8272-5CF217210D6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727017FA-BE30-41F3-BF0D-66B54433764E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28AD1F-04A4-4F03-84E8-0356B211DEFD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54B0ADB-013C-4529-8A1B-4CCA8270411C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AB8EB2-E733-4236-8482-D6F252B7F11F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03/06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22FE707-55F2-430F-B428-1615B9F8DDF8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7059168" cy="4498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F4738D-7C72-4C30-8916-B7557C5AC384}"/>
              </a:ext>
            </a:extLst>
          </p:cNvPr>
          <p:cNvSpPr>
            <a:spLocks noGrp="1"/>
          </p:cNvSpPr>
          <p:nvPr/>
        </p:nvSpPr>
        <p:spPr>
          <a:xfrm>
            <a:off x="1170432" y="1700784"/>
            <a:ext cx="301752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×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EFC4F67A-59C9-4DE4-A196-73E74BDE7ECD}"/>
              </a:ext>
            </a:extLst>
          </p:cNvPr>
          <p:cNvSpPr>
            <a:spLocks noGrp="1"/>
          </p:cNvSpPr>
          <p:nvPr/>
        </p:nvSpPr>
        <p:spPr>
          <a:xfrm>
            <a:off x="1554480" y="5440680"/>
            <a:ext cx="6035040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Connector 41">
            <a:extLst>
              <a:ext uri="{FF2B5EF4-FFF2-40B4-BE49-F238E27FC236}">
                <a16:creationId xmlns:a16="http://schemas.microsoft.com/office/drawing/2014/main" id="{028896E1-9909-4BB6-A8FF-6C4EE6031A2E}"/>
              </a:ext>
            </a:extLst>
          </p:cNvPr>
          <p:cNvSpPr>
            <a:spLocks noGrp="1"/>
          </p:cNvSpPr>
          <p:nvPr/>
        </p:nvSpPr>
        <p:spPr>
          <a:xfrm>
            <a:off x="1554480" y="2194560"/>
            <a:ext cx="0" cy="324612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3" name="Connector 42">
            <a:extLst>
              <a:ext uri="{FF2B5EF4-FFF2-40B4-BE49-F238E27FC236}">
                <a16:creationId xmlns:a16="http://schemas.microsoft.com/office/drawing/2014/main" id="{4678D71D-3632-4D9B-9928-89B2DFA41E6F}"/>
              </a:ext>
            </a:extLst>
          </p:cNvPr>
          <p:cNvSpPr>
            <a:spLocks noGrp="1"/>
          </p:cNvSpPr>
          <p:nvPr/>
        </p:nvSpPr>
        <p:spPr>
          <a:xfrm>
            <a:off x="2743200" y="2194560"/>
            <a:ext cx="0" cy="324612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4" name="Connector 43">
            <a:extLst>
              <a:ext uri="{FF2B5EF4-FFF2-40B4-BE49-F238E27FC236}">
                <a16:creationId xmlns:a16="http://schemas.microsoft.com/office/drawing/2014/main" id="{C5245D8F-D944-47FB-9394-9DE8C2632B5D}"/>
              </a:ext>
            </a:extLst>
          </p:cNvPr>
          <p:cNvSpPr>
            <a:spLocks noGrp="1"/>
          </p:cNvSpPr>
          <p:nvPr/>
        </p:nvSpPr>
        <p:spPr>
          <a:xfrm>
            <a:off x="3931920" y="2194560"/>
            <a:ext cx="0" cy="324612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5" name="Connector 44">
            <a:extLst>
              <a:ext uri="{FF2B5EF4-FFF2-40B4-BE49-F238E27FC236}">
                <a16:creationId xmlns:a16="http://schemas.microsoft.com/office/drawing/2014/main" id="{D598373E-BD1D-46D2-BC96-E026A840C5AC}"/>
              </a:ext>
            </a:extLst>
          </p:cNvPr>
          <p:cNvSpPr>
            <a:spLocks noGrp="1"/>
          </p:cNvSpPr>
          <p:nvPr/>
        </p:nvSpPr>
        <p:spPr>
          <a:xfrm>
            <a:off x="5120640" y="2194560"/>
            <a:ext cx="0" cy="324612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6" name="Connector 45">
            <a:extLst>
              <a:ext uri="{FF2B5EF4-FFF2-40B4-BE49-F238E27FC236}">
                <a16:creationId xmlns:a16="http://schemas.microsoft.com/office/drawing/2014/main" id="{8000DDED-47E3-4A34-8024-4C0E154E7F05}"/>
              </a:ext>
            </a:extLst>
          </p:cNvPr>
          <p:cNvSpPr>
            <a:spLocks noGrp="1"/>
          </p:cNvSpPr>
          <p:nvPr/>
        </p:nvSpPr>
        <p:spPr>
          <a:xfrm>
            <a:off x="6309360" y="2194560"/>
            <a:ext cx="0" cy="324612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7" name="Connector 46">
            <a:extLst>
              <a:ext uri="{FF2B5EF4-FFF2-40B4-BE49-F238E27FC236}">
                <a16:creationId xmlns:a16="http://schemas.microsoft.com/office/drawing/2014/main" id="{C8D6FE1C-AEEC-4299-942E-B11AAEA3A2CA}"/>
              </a:ext>
            </a:extLst>
          </p:cNvPr>
          <p:cNvSpPr>
            <a:spLocks noGrp="1"/>
          </p:cNvSpPr>
          <p:nvPr/>
        </p:nvSpPr>
        <p:spPr>
          <a:xfrm>
            <a:off x="1554480" y="2834640"/>
            <a:ext cx="6035040" cy="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8" name="Connector 47">
            <a:extLst>
              <a:ext uri="{FF2B5EF4-FFF2-40B4-BE49-F238E27FC236}">
                <a16:creationId xmlns:a16="http://schemas.microsoft.com/office/drawing/2014/main" id="{176821DB-F850-4BC8-933A-7762B357DE96}"/>
              </a:ext>
            </a:extLst>
          </p:cNvPr>
          <p:cNvSpPr>
            <a:spLocks noGrp="1"/>
          </p:cNvSpPr>
          <p:nvPr/>
        </p:nvSpPr>
        <p:spPr>
          <a:xfrm>
            <a:off x="1554480" y="3474720"/>
            <a:ext cx="6035040" cy="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9" name="Connector 48">
            <a:extLst>
              <a:ext uri="{FF2B5EF4-FFF2-40B4-BE49-F238E27FC236}">
                <a16:creationId xmlns:a16="http://schemas.microsoft.com/office/drawing/2014/main" id="{40FA8423-6132-4507-BF32-457578C188D3}"/>
              </a:ext>
            </a:extLst>
          </p:cNvPr>
          <p:cNvSpPr>
            <a:spLocks noGrp="1"/>
          </p:cNvSpPr>
          <p:nvPr/>
        </p:nvSpPr>
        <p:spPr>
          <a:xfrm>
            <a:off x="1554480" y="4114800"/>
            <a:ext cx="6035040" cy="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0" name="Connector 49">
            <a:extLst>
              <a:ext uri="{FF2B5EF4-FFF2-40B4-BE49-F238E27FC236}">
                <a16:creationId xmlns:a16="http://schemas.microsoft.com/office/drawing/2014/main" id="{C6FE8079-D8D1-4948-9111-302B2ACB5E88}"/>
              </a:ext>
            </a:extLst>
          </p:cNvPr>
          <p:cNvSpPr>
            <a:spLocks noGrp="1"/>
          </p:cNvSpPr>
          <p:nvPr/>
        </p:nvSpPr>
        <p:spPr>
          <a:xfrm>
            <a:off x="1554480" y="4754880"/>
            <a:ext cx="6035040" cy="0"/>
          </a:xfrm>
          <a:prstGeom prst="line">
            <a:avLst/>
          </a:prstGeom>
          <a:ln w="5080">
            <a:solidFill>
              <a:srgbClr val="ECEFF3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06C267-EA1B-4AA5-ACB9-5C6D536C42D5}"/>
              </a:ext>
            </a:extLst>
          </p:cNvPr>
          <p:cNvSpPr>
            <a:spLocks noGrp="1"/>
          </p:cNvSpPr>
          <p:nvPr/>
        </p:nvSpPr>
        <p:spPr>
          <a:xfrm>
            <a:off x="1261872" y="1993392"/>
            <a:ext cx="1078992" cy="1415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성장성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↑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19A061-112B-4905-8C78-570179EB1E1F}"/>
              </a:ext>
            </a:extLst>
          </p:cNvPr>
          <p:cNvSpPr>
            <a:spLocks noGrp="1"/>
          </p:cNvSpPr>
          <p:nvPr/>
        </p:nvSpPr>
        <p:spPr>
          <a:xfrm>
            <a:off x="7040880" y="5513832"/>
            <a:ext cx="502920" cy="1415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2DC18B7-2D18-4A99-84D8-FF77F3A01113}"/>
              </a:ext>
            </a:extLst>
          </p:cNvPr>
          <p:cNvSpPr>
            <a:spLocks noGrp="1"/>
          </p:cNvSpPr>
          <p:nvPr/>
        </p:nvSpPr>
        <p:spPr>
          <a:xfrm>
            <a:off x="2468880" y="3840480"/>
            <a:ext cx="256032" cy="256032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3CF995-AB0C-462C-B11B-B5416B6BCE3D}"/>
              </a:ext>
            </a:extLst>
          </p:cNvPr>
          <p:cNvSpPr>
            <a:spLocks noGrp="1"/>
          </p:cNvSpPr>
          <p:nvPr/>
        </p:nvSpPr>
        <p:spPr>
          <a:xfrm>
            <a:off x="2779776" y="3858768"/>
            <a:ext cx="658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BD0D6D5-10AD-421A-BB77-C8C931A87A91}"/>
              </a:ext>
            </a:extLst>
          </p:cNvPr>
          <p:cNvSpPr>
            <a:spLocks noGrp="1"/>
          </p:cNvSpPr>
          <p:nvPr/>
        </p:nvSpPr>
        <p:spPr>
          <a:xfrm>
            <a:off x="4663440" y="3145536"/>
            <a:ext cx="310896" cy="310896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1EAD7F-AFBF-481D-99F7-63A04AB7D7BF}"/>
              </a:ext>
            </a:extLst>
          </p:cNvPr>
          <p:cNvSpPr>
            <a:spLocks noGrp="1"/>
          </p:cNvSpPr>
          <p:nvPr/>
        </p:nvSpPr>
        <p:spPr>
          <a:xfrm>
            <a:off x="5029199" y="3163824"/>
            <a:ext cx="658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EEC4FA6-17FD-4AB1-A9DE-6BFE66B789EC}"/>
              </a:ext>
            </a:extLst>
          </p:cNvPr>
          <p:cNvSpPr>
            <a:spLocks noGrp="1"/>
          </p:cNvSpPr>
          <p:nvPr/>
        </p:nvSpPr>
        <p:spPr>
          <a:xfrm>
            <a:off x="3401568" y="4572000"/>
            <a:ext cx="219456" cy="21945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chemeClr val="tx2">
                  <a:lumMod val="75000"/>
                </a:schemeClr>
              </a:solidFill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B77BB1-6C66-4601-A3C3-D41D031392F0}"/>
              </a:ext>
            </a:extLst>
          </p:cNvPr>
          <p:cNvSpPr>
            <a:spLocks noGrp="1"/>
          </p:cNvSpPr>
          <p:nvPr/>
        </p:nvSpPr>
        <p:spPr>
          <a:xfrm>
            <a:off x="3675887" y="4590288"/>
            <a:ext cx="658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chemeClr val="accent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1" dirty="0">
                <a:solidFill>
                  <a:schemeClr val="accent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6A47828-8FAE-46A9-A129-A18A38C017ED}"/>
              </a:ext>
            </a:extLst>
          </p:cNvPr>
          <p:cNvSpPr>
            <a:spLocks noGrp="1"/>
          </p:cNvSpPr>
          <p:nvPr/>
        </p:nvSpPr>
        <p:spPr>
          <a:xfrm>
            <a:off x="6217920" y="4133087"/>
            <a:ext cx="274320" cy="274320"/>
          </a:xfrm>
          <a:prstGeom prst="ellipse">
            <a:avLst/>
          </a:prstGeom>
          <a:solidFill>
            <a:srgbClr val="5F718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B9846A-ECA6-4D22-A44D-0E58FD5FAF27}"/>
              </a:ext>
            </a:extLst>
          </p:cNvPr>
          <p:cNvSpPr>
            <a:spLocks noGrp="1"/>
          </p:cNvSpPr>
          <p:nvPr/>
        </p:nvSpPr>
        <p:spPr>
          <a:xfrm>
            <a:off x="6547103" y="4151375"/>
            <a:ext cx="658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5F71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20" b="1" dirty="0">
                <a:solidFill>
                  <a:srgbClr val="5F718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02B8CFD9-591D-442C-B59A-90C625BFFF04}"/>
              </a:ext>
            </a:extLst>
          </p:cNvPr>
          <p:cNvSpPr>
            <a:spLocks noGrp="1"/>
          </p:cNvSpPr>
          <p:nvPr/>
        </p:nvSpPr>
        <p:spPr>
          <a:xfrm>
            <a:off x="8211312" y="1463040"/>
            <a:ext cx="2871216" cy="195681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286504-109B-4EA9-AC5C-9C8E325E385C}"/>
              </a:ext>
            </a:extLst>
          </p:cNvPr>
          <p:cNvSpPr>
            <a:spLocks noGrp="1"/>
          </p:cNvSpPr>
          <p:nvPr/>
        </p:nvSpPr>
        <p:spPr>
          <a:xfrm>
            <a:off x="8449056" y="1719072"/>
            <a:ext cx="1024128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기업별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E3E1D0-CB2F-44B8-BEC0-EA5123FDA6B5}"/>
              </a:ext>
            </a:extLst>
          </p:cNvPr>
          <p:cNvSpPr>
            <a:spLocks noGrp="1"/>
          </p:cNvSpPr>
          <p:nvPr/>
        </p:nvSpPr>
        <p:spPr>
          <a:xfrm>
            <a:off x="8449056" y="2084831"/>
            <a:ext cx="2139696" cy="5109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 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균형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B 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규모·해자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프리미엄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C 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
D 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턴어라운드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옵션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가치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47512DC-F0DC-4007-9BC9-4EE4FD3A6031}"/>
              </a:ext>
            </a:extLst>
          </p:cNvPr>
          <p:cNvSpPr>
            <a:spLocks noGrp="1"/>
          </p:cNvSpPr>
          <p:nvPr/>
        </p:nvSpPr>
        <p:spPr>
          <a:xfrm>
            <a:off x="8211312" y="3639312"/>
            <a:ext cx="287121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40BABB-89C0-4664-AE36-5F1043AEEDA5}"/>
              </a:ext>
            </a:extLst>
          </p:cNvPr>
          <p:cNvSpPr>
            <a:spLocks noGrp="1"/>
          </p:cNvSpPr>
          <p:nvPr/>
        </p:nvSpPr>
        <p:spPr>
          <a:xfrm>
            <a:off x="8449056" y="3858768"/>
            <a:ext cx="1325880" cy="166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A402D6-B8D1-40C4-99F2-C95A7008051D}"/>
              </a:ext>
            </a:extLst>
          </p:cNvPr>
          <p:cNvSpPr>
            <a:spLocks noGrp="1"/>
          </p:cNvSpPr>
          <p:nvPr/>
        </p:nvSpPr>
        <p:spPr>
          <a:xfrm>
            <a:off x="8449056" y="4206240"/>
            <a:ext cx="2139696" cy="4924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[OPM / ROIC]
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EPS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
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1655E99-7A9B-444D-9EE1-F51F16214A7E}"/>
              </a:ext>
            </a:extLst>
          </p:cNvPr>
          <p:cNvSpPr>
            <a:spLocks noGrp="1"/>
          </p:cNvSpPr>
          <p:nvPr/>
        </p:nvSpPr>
        <p:spPr>
          <a:xfrm>
            <a:off x="8211312" y="5324560"/>
            <a:ext cx="2871216" cy="4754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32CFE3B-3409-4BB2-A98B-9A9C85B38296}"/>
              </a:ext>
            </a:extLst>
          </p:cNvPr>
          <p:cNvSpPr>
            <a:spLocks noGrp="1"/>
          </p:cNvSpPr>
          <p:nvPr/>
        </p:nvSpPr>
        <p:spPr>
          <a:xfrm>
            <a:off x="8412480" y="5449824"/>
            <a:ext cx="2468880" cy="2621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B가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규모·해자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우위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C는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대비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필요</a:t>
            </a: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Rectangle 1">
            <a:extLst>
              <a:ext uri="{FF2B5EF4-FFF2-40B4-BE49-F238E27FC236}">
                <a16:creationId xmlns:a16="http://schemas.microsoft.com/office/drawing/2014/main" id="{77C1C906-69CF-0E22-CB33-9235C8F1F1FE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0CE73908-050C-2711-5397-780158265612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E9F143F2-924E-4A16-B45F-DCB3EC5B0840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70D06B4C-CF69-B08A-C01D-8B39CB5D9D09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1CBF0DDC-269B-151C-1128-A70B23B1B7B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21860A72-72A6-916C-7325-CE5CD796A8F3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DFF90805-6577-D7D2-8740-434FA3A93053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4">
            <a:extLst>
              <a:ext uri="{FF2B5EF4-FFF2-40B4-BE49-F238E27FC236}">
                <a16:creationId xmlns:a16="http://schemas.microsoft.com/office/drawing/2014/main" id="{5B9AA8C3-7B05-3FC2-6006-86C10D149B7C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4" name="TextBox 5">
            <a:extLst>
              <a:ext uri="{FF2B5EF4-FFF2-40B4-BE49-F238E27FC236}">
                <a16:creationId xmlns:a16="http://schemas.microsoft.com/office/drawing/2014/main" id="{9BDC2E92-69DB-D513-A951-66768A352462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6">
            <a:extLst>
              <a:ext uri="{FF2B5EF4-FFF2-40B4-BE49-F238E27FC236}">
                <a16:creationId xmlns:a16="http://schemas.microsoft.com/office/drawing/2014/main" id="{BD4330CF-8CC4-DCA6-10C8-1B9F75AC1BAD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2" name="TextBox 7">
            <a:extLst>
              <a:ext uri="{FF2B5EF4-FFF2-40B4-BE49-F238E27FC236}">
                <a16:creationId xmlns:a16="http://schemas.microsoft.com/office/drawing/2014/main" id="{38EB4DD1-FBF3-455C-557F-B4AA8D09015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Rounded Rectangle 3">
            <a:extLst>
              <a:ext uri="{FF2B5EF4-FFF2-40B4-BE49-F238E27FC236}">
                <a16:creationId xmlns:a16="http://schemas.microsoft.com/office/drawing/2014/main" id="{EFB5CD07-72FA-F098-B912-7F5112981AF0}"/>
              </a:ext>
            </a:extLst>
          </p:cNvPr>
          <p:cNvSpPr>
            <a:spLocks noGrp="1"/>
          </p:cNvSpPr>
          <p:nvPr/>
        </p:nvSpPr>
        <p:spPr>
          <a:xfrm>
            <a:off x="57912" y="2461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6">
            <a:extLst>
              <a:ext uri="{FF2B5EF4-FFF2-40B4-BE49-F238E27FC236}">
                <a16:creationId xmlns:a16="http://schemas.microsoft.com/office/drawing/2014/main" id="{C89B8431-E9C0-98AF-670B-4DB2DB850468}"/>
              </a:ext>
            </a:extLst>
          </p:cNvPr>
          <p:cNvSpPr>
            <a:spLocks noGrp="1"/>
          </p:cNvSpPr>
          <p:nvPr/>
        </p:nvSpPr>
        <p:spPr>
          <a:xfrm>
            <a:off x="91440" y="2660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8" name="TextBox 7">
            <a:extLst>
              <a:ext uri="{FF2B5EF4-FFF2-40B4-BE49-F238E27FC236}">
                <a16:creationId xmlns:a16="http://schemas.microsoft.com/office/drawing/2014/main" id="{7C83B2BF-3618-FA58-0BE9-808E0A8C2F38}"/>
              </a:ext>
            </a:extLst>
          </p:cNvPr>
          <p:cNvSpPr>
            <a:spLocks noGrp="1"/>
          </p:cNvSpPr>
          <p:nvPr/>
        </p:nvSpPr>
        <p:spPr>
          <a:xfrm>
            <a:off x="243840" y="2667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549B3A-C935-9A3A-C480-469771D893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961743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DD39976-DC6C-4863-9849-523DCBB51CD3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EFACEC-1624-4F87-9AD9-62542F3764D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04E9CA-D5B8-4911-A8E3-5C1056E16F5F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C1C955-7C52-41BD-8474-78050CCB522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F5FE76-EC2F-42CF-80DA-C5CB133403CF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82E5F-3D92-4A68-BD08-F5DF0739EF84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BE2A2E-FBD3-425B-9218-BE242198B5A7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42998-426F-4929-B57C-29214321DEB8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EC1CD3-CAE1-4265-B8C4-7BE7DAB131BB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4B5379-0FF0-42DA-A3D3-7B966816848B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81F704-E060-4D8B-8582-D4D35A57E868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53850E-18FD-4E0A-88FF-BA15D2CB0B76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444C3-58EB-4465-98C7-0DD70E4CE630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205B0-CE33-4142-AC3B-9AC7AEEB299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4B218B-732F-4097-809F-28F373D9DF90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벤치마크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26B24F9-0EEF-481F-BCE2-556C702A191F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3C8C609D-4F2A-4329-9575-8ED57CDD8545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58B15C-ADE2-4C16-B23F-CA9378B77EE3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8D1DA6A-9811-4EAA-991E-818250D5DBD7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D62A94-6027-4557-9F92-8EE56069BE2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03/06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CDFBAC-21B7-4949-BFBD-FA1E9237BD80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1517904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A3C628-FD77-49AD-B3D9-B4833E814A74}"/>
              </a:ext>
            </a:extLst>
          </p:cNvPr>
          <p:cNvSpPr>
            <a:spLocks noGrp="1"/>
          </p:cNvSpPr>
          <p:nvPr/>
        </p:nvSpPr>
        <p:spPr>
          <a:xfrm>
            <a:off x="969264" y="1689225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항목</a:t>
            </a:r>
            <a:endParaRPr sz="71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236F7D-8B65-4736-8C02-0BF42B3CEBA9}"/>
              </a:ext>
            </a:extLst>
          </p:cNvPr>
          <p:cNvSpPr>
            <a:spLocks noGrp="1"/>
          </p:cNvSpPr>
          <p:nvPr/>
        </p:nvSpPr>
        <p:spPr>
          <a:xfrm>
            <a:off x="2450591" y="1508760"/>
            <a:ext cx="1362456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CCF95A-27B7-4E57-8F4E-6A11ED336F43}"/>
              </a:ext>
            </a:extLst>
          </p:cNvPr>
          <p:cNvSpPr>
            <a:spLocks noGrp="1"/>
          </p:cNvSpPr>
          <p:nvPr/>
        </p:nvSpPr>
        <p:spPr>
          <a:xfrm>
            <a:off x="2487168" y="1689225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53654C4-4BB3-4C1B-9402-60052A1A28D1}"/>
              </a:ext>
            </a:extLst>
          </p:cNvPr>
          <p:cNvSpPr>
            <a:spLocks noGrp="1"/>
          </p:cNvSpPr>
          <p:nvPr/>
        </p:nvSpPr>
        <p:spPr>
          <a:xfrm>
            <a:off x="3813048" y="1508760"/>
            <a:ext cx="1362456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91A767-148E-4636-8919-FCECE5C43DFB}"/>
              </a:ext>
            </a:extLst>
          </p:cNvPr>
          <p:cNvSpPr>
            <a:spLocks noGrp="1"/>
          </p:cNvSpPr>
          <p:nvPr/>
        </p:nvSpPr>
        <p:spPr>
          <a:xfrm>
            <a:off x="3849624" y="1689225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32B3A6-81A4-4330-9EF6-7B827145A62B}"/>
              </a:ext>
            </a:extLst>
          </p:cNvPr>
          <p:cNvSpPr>
            <a:spLocks noGrp="1"/>
          </p:cNvSpPr>
          <p:nvPr/>
        </p:nvSpPr>
        <p:spPr>
          <a:xfrm>
            <a:off x="5175504" y="1508760"/>
            <a:ext cx="1362456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4E340D-F62E-4CCA-882E-165D42609FAF}"/>
              </a:ext>
            </a:extLst>
          </p:cNvPr>
          <p:cNvSpPr>
            <a:spLocks noGrp="1"/>
          </p:cNvSpPr>
          <p:nvPr/>
        </p:nvSpPr>
        <p:spPr>
          <a:xfrm>
            <a:off x="5212080" y="1689225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84BA4F9-5C24-4358-90B1-50B1B8E70CD0}"/>
              </a:ext>
            </a:extLst>
          </p:cNvPr>
          <p:cNvSpPr>
            <a:spLocks noGrp="1"/>
          </p:cNvSpPr>
          <p:nvPr/>
        </p:nvSpPr>
        <p:spPr>
          <a:xfrm>
            <a:off x="6537960" y="1508760"/>
            <a:ext cx="1362456" cy="5394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0D9F93-5D0F-4901-A734-7161C5579164}"/>
              </a:ext>
            </a:extLst>
          </p:cNvPr>
          <p:cNvSpPr>
            <a:spLocks noGrp="1"/>
          </p:cNvSpPr>
          <p:nvPr/>
        </p:nvSpPr>
        <p:spPr>
          <a:xfrm>
            <a:off x="6574536" y="1689225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1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828DA56-8637-4DC2-AF12-297E7A97B457}"/>
              </a:ext>
            </a:extLst>
          </p:cNvPr>
          <p:cNvSpPr>
            <a:spLocks noGrp="1"/>
          </p:cNvSpPr>
          <p:nvPr/>
        </p:nvSpPr>
        <p:spPr>
          <a:xfrm>
            <a:off x="932688" y="2048255"/>
            <a:ext cx="1517904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D275AA-0D45-427F-9733-59CD9FC48680}"/>
              </a:ext>
            </a:extLst>
          </p:cNvPr>
          <p:cNvSpPr>
            <a:spLocks noGrp="1"/>
          </p:cNvSpPr>
          <p:nvPr/>
        </p:nvSpPr>
        <p:spPr>
          <a:xfrm>
            <a:off x="969264" y="2226024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BE99258-FCB7-4624-9A8F-36A3E18328BB}"/>
              </a:ext>
            </a:extLst>
          </p:cNvPr>
          <p:cNvSpPr>
            <a:spLocks noGrp="1"/>
          </p:cNvSpPr>
          <p:nvPr/>
        </p:nvSpPr>
        <p:spPr>
          <a:xfrm>
            <a:off x="2450591" y="2048255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33D764-3928-41A7-A7DD-6E35102F3944}"/>
              </a:ext>
            </a:extLst>
          </p:cNvPr>
          <p:cNvSpPr>
            <a:spLocks noGrp="1"/>
          </p:cNvSpPr>
          <p:nvPr/>
        </p:nvSpPr>
        <p:spPr>
          <a:xfrm>
            <a:off x="2487168" y="222602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B4AF213-1223-40F4-BD42-BE6EAEFD3F11}"/>
              </a:ext>
            </a:extLst>
          </p:cNvPr>
          <p:cNvSpPr>
            <a:spLocks noGrp="1"/>
          </p:cNvSpPr>
          <p:nvPr/>
        </p:nvSpPr>
        <p:spPr>
          <a:xfrm>
            <a:off x="3813048" y="2048255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DE8DB2-376D-4ECE-AD9C-61017C266B7E}"/>
              </a:ext>
            </a:extLst>
          </p:cNvPr>
          <p:cNvSpPr>
            <a:spLocks noGrp="1"/>
          </p:cNvSpPr>
          <p:nvPr/>
        </p:nvSpPr>
        <p:spPr>
          <a:xfrm>
            <a:off x="3849624" y="222602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5DCE88-211C-4AF4-AB1D-1D04BC7CB1C6}"/>
              </a:ext>
            </a:extLst>
          </p:cNvPr>
          <p:cNvSpPr>
            <a:spLocks noGrp="1"/>
          </p:cNvSpPr>
          <p:nvPr/>
        </p:nvSpPr>
        <p:spPr>
          <a:xfrm>
            <a:off x="5175504" y="2048255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79B3A8-5522-4EA5-B5B1-D0825055C306}"/>
              </a:ext>
            </a:extLst>
          </p:cNvPr>
          <p:cNvSpPr>
            <a:spLocks noGrp="1"/>
          </p:cNvSpPr>
          <p:nvPr/>
        </p:nvSpPr>
        <p:spPr>
          <a:xfrm>
            <a:off x="5212080" y="222602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3E7F61F-6AFA-4457-9147-F3824A1FB6C2}"/>
              </a:ext>
            </a:extLst>
          </p:cNvPr>
          <p:cNvSpPr>
            <a:spLocks noGrp="1"/>
          </p:cNvSpPr>
          <p:nvPr/>
        </p:nvSpPr>
        <p:spPr>
          <a:xfrm>
            <a:off x="6537960" y="2048255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EF4429-B255-48C7-9EBC-D0B9857202D4}"/>
              </a:ext>
            </a:extLst>
          </p:cNvPr>
          <p:cNvSpPr>
            <a:spLocks noGrp="1"/>
          </p:cNvSpPr>
          <p:nvPr/>
        </p:nvSpPr>
        <p:spPr>
          <a:xfrm>
            <a:off x="6574536" y="222602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9F77F27-E18E-4FF6-B88E-D696A47BB261}"/>
              </a:ext>
            </a:extLst>
          </p:cNvPr>
          <p:cNvSpPr>
            <a:spLocks noGrp="1"/>
          </p:cNvSpPr>
          <p:nvPr/>
        </p:nvSpPr>
        <p:spPr>
          <a:xfrm>
            <a:off x="932688" y="2587752"/>
            <a:ext cx="1517904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DC043A-C6E6-4588-AA67-66B280471383}"/>
              </a:ext>
            </a:extLst>
          </p:cNvPr>
          <p:cNvSpPr>
            <a:spLocks noGrp="1"/>
          </p:cNvSpPr>
          <p:nvPr/>
        </p:nvSpPr>
        <p:spPr>
          <a:xfrm>
            <a:off x="969264" y="2765520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 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DECD240-5A1B-4237-8F76-BB99E51C0965}"/>
              </a:ext>
            </a:extLst>
          </p:cNvPr>
          <p:cNvSpPr>
            <a:spLocks noGrp="1"/>
          </p:cNvSpPr>
          <p:nvPr/>
        </p:nvSpPr>
        <p:spPr>
          <a:xfrm>
            <a:off x="2450591" y="2587752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D6CCC-0289-4AEE-BAEE-25183C199CD5}"/>
              </a:ext>
            </a:extLst>
          </p:cNvPr>
          <p:cNvSpPr>
            <a:spLocks noGrp="1"/>
          </p:cNvSpPr>
          <p:nvPr/>
        </p:nvSpPr>
        <p:spPr>
          <a:xfrm>
            <a:off x="2487168" y="276552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836FA85-DB26-4B70-8E91-F78B1EB6D1FC}"/>
              </a:ext>
            </a:extLst>
          </p:cNvPr>
          <p:cNvSpPr>
            <a:spLocks noGrp="1"/>
          </p:cNvSpPr>
          <p:nvPr/>
        </p:nvSpPr>
        <p:spPr>
          <a:xfrm>
            <a:off x="3813048" y="2587752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0DE8E4-3ACB-4FC9-B1DE-3E52F67B0306}"/>
              </a:ext>
            </a:extLst>
          </p:cNvPr>
          <p:cNvSpPr>
            <a:spLocks noGrp="1"/>
          </p:cNvSpPr>
          <p:nvPr/>
        </p:nvSpPr>
        <p:spPr>
          <a:xfrm>
            <a:off x="3849624" y="276552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CEA9B1C-7285-4ED7-8484-54F9B5871FDA}"/>
              </a:ext>
            </a:extLst>
          </p:cNvPr>
          <p:cNvSpPr>
            <a:spLocks noGrp="1"/>
          </p:cNvSpPr>
          <p:nvPr/>
        </p:nvSpPr>
        <p:spPr>
          <a:xfrm>
            <a:off x="5175504" y="2587752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FD706B-B621-4689-8BF4-ED0E75CE0AFE}"/>
              </a:ext>
            </a:extLst>
          </p:cNvPr>
          <p:cNvSpPr>
            <a:spLocks noGrp="1"/>
          </p:cNvSpPr>
          <p:nvPr/>
        </p:nvSpPr>
        <p:spPr>
          <a:xfrm>
            <a:off x="5212080" y="276552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2FBAAF0-075A-4BF7-9FD8-0C064566CAFC}"/>
              </a:ext>
            </a:extLst>
          </p:cNvPr>
          <p:cNvSpPr>
            <a:spLocks noGrp="1"/>
          </p:cNvSpPr>
          <p:nvPr/>
        </p:nvSpPr>
        <p:spPr>
          <a:xfrm>
            <a:off x="6537960" y="2587752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533B40-14F6-466F-B739-3BD185FAA524}"/>
              </a:ext>
            </a:extLst>
          </p:cNvPr>
          <p:cNvSpPr>
            <a:spLocks noGrp="1"/>
          </p:cNvSpPr>
          <p:nvPr/>
        </p:nvSpPr>
        <p:spPr>
          <a:xfrm>
            <a:off x="6574536" y="276552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571764F-0905-42F7-B771-09769D3CA6C0}"/>
              </a:ext>
            </a:extLst>
          </p:cNvPr>
          <p:cNvSpPr>
            <a:spLocks noGrp="1"/>
          </p:cNvSpPr>
          <p:nvPr/>
        </p:nvSpPr>
        <p:spPr>
          <a:xfrm>
            <a:off x="932688" y="3127248"/>
            <a:ext cx="1517904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76B3490-AC84-40B6-859B-A1E442B2F67A}"/>
              </a:ext>
            </a:extLst>
          </p:cNvPr>
          <p:cNvSpPr>
            <a:spLocks noGrp="1"/>
          </p:cNvSpPr>
          <p:nvPr/>
        </p:nvSpPr>
        <p:spPr>
          <a:xfrm>
            <a:off x="969264" y="3305016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 OPM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FEB52E-3731-4E93-918D-C521406A89C1}"/>
              </a:ext>
            </a:extLst>
          </p:cNvPr>
          <p:cNvSpPr>
            <a:spLocks noGrp="1"/>
          </p:cNvSpPr>
          <p:nvPr/>
        </p:nvSpPr>
        <p:spPr>
          <a:xfrm>
            <a:off x="2450591" y="3127248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9AD12A-F55B-40C8-936C-3236AD785AB6}"/>
              </a:ext>
            </a:extLst>
          </p:cNvPr>
          <p:cNvSpPr>
            <a:spLocks noGrp="1"/>
          </p:cNvSpPr>
          <p:nvPr/>
        </p:nvSpPr>
        <p:spPr>
          <a:xfrm>
            <a:off x="2487168" y="3305016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AE59320-933B-4199-8195-77FC3452CFEB}"/>
              </a:ext>
            </a:extLst>
          </p:cNvPr>
          <p:cNvSpPr>
            <a:spLocks noGrp="1"/>
          </p:cNvSpPr>
          <p:nvPr/>
        </p:nvSpPr>
        <p:spPr>
          <a:xfrm>
            <a:off x="3813048" y="3127248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775702-122B-4827-A800-788982119A36}"/>
              </a:ext>
            </a:extLst>
          </p:cNvPr>
          <p:cNvSpPr>
            <a:spLocks noGrp="1"/>
          </p:cNvSpPr>
          <p:nvPr/>
        </p:nvSpPr>
        <p:spPr>
          <a:xfrm>
            <a:off x="3849624" y="3305016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D40849B-6BA0-414C-A8E4-88606F0F2471}"/>
              </a:ext>
            </a:extLst>
          </p:cNvPr>
          <p:cNvSpPr>
            <a:spLocks noGrp="1"/>
          </p:cNvSpPr>
          <p:nvPr/>
        </p:nvSpPr>
        <p:spPr>
          <a:xfrm>
            <a:off x="5175504" y="3127248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7F155F-324B-40D5-8C08-2EBC771E278E}"/>
              </a:ext>
            </a:extLst>
          </p:cNvPr>
          <p:cNvSpPr>
            <a:spLocks noGrp="1"/>
          </p:cNvSpPr>
          <p:nvPr/>
        </p:nvSpPr>
        <p:spPr>
          <a:xfrm>
            <a:off x="5212080" y="3305016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0A1F9D9-FDB2-4723-9316-3C416FA654F6}"/>
              </a:ext>
            </a:extLst>
          </p:cNvPr>
          <p:cNvSpPr>
            <a:spLocks noGrp="1"/>
          </p:cNvSpPr>
          <p:nvPr/>
        </p:nvSpPr>
        <p:spPr>
          <a:xfrm>
            <a:off x="6537960" y="3127248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698609-51F5-4F2E-BFE6-3FED9B64EA41}"/>
              </a:ext>
            </a:extLst>
          </p:cNvPr>
          <p:cNvSpPr>
            <a:spLocks noGrp="1"/>
          </p:cNvSpPr>
          <p:nvPr/>
        </p:nvSpPr>
        <p:spPr>
          <a:xfrm>
            <a:off x="6574536" y="3305016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[xx%]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0C43C3D-C41A-4BC4-92D2-ABD94933E966}"/>
              </a:ext>
            </a:extLst>
          </p:cNvPr>
          <p:cNvSpPr>
            <a:spLocks noGrp="1"/>
          </p:cNvSpPr>
          <p:nvPr/>
        </p:nvSpPr>
        <p:spPr>
          <a:xfrm>
            <a:off x="932688" y="3666744"/>
            <a:ext cx="1517904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58426A-CA30-45A7-8ED2-63963BBE2858}"/>
              </a:ext>
            </a:extLst>
          </p:cNvPr>
          <p:cNvSpPr>
            <a:spLocks noGrp="1"/>
          </p:cNvSpPr>
          <p:nvPr/>
        </p:nvSpPr>
        <p:spPr>
          <a:xfrm>
            <a:off x="969264" y="3844512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ROIC / FCF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D8B0122-7AFD-4C02-A25B-958D49538521}"/>
              </a:ext>
            </a:extLst>
          </p:cNvPr>
          <p:cNvSpPr>
            <a:spLocks noGrp="1"/>
          </p:cNvSpPr>
          <p:nvPr/>
        </p:nvSpPr>
        <p:spPr>
          <a:xfrm>
            <a:off x="2450591" y="3666744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6551483-C028-4F48-B061-F9B68EE23F34}"/>
              </a:ext>
            </a:extLst>
          </p:cNvPr>
          <p:cNvSpPr>
            <a:spLocks noGrp="1"/>
          </p:cNvSpPr>
          <p:nvPr/>
        </p:nvSpPr>
        <p:spPr>
          <a:xfrm>
            <a:off x="2487168" y="3844512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EF6697D-F4AE-46F1-BCB9-055CA6B3AC54}"/>
              </a:ext>
            </a:extLst>
          </p:cNvPr>
          <p:cNvSpPr>
            <a:spLocks noGrp="1"/>
          </p:cNvSpPr>
          <p:nvPr/>
        </p:nvSpPr>
        <p:spPr>
          <a:xfrm>
            <a:off x="3813048" y="3666744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FECC12-7AC8-4629-993D-352DE4D80355}"/>
              </a:ext>
            </a:extLst>
          </p:cNvPr>
          <p:cNvSpPr>
            <a:spLocks noGrp="1"/>
          </p:cNvSpPr>
          <p:nvPr/>
        </p:nvSpPr>
        <p:spPr>
          <a:xfrm>
            <a:off x="3849624" y="3844512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AD10C34-DE7C-4BA0-B454-EE7CBE9E805E}"/>
              </a:ext>
            </a:extLst>
          </p:cNvPr>
          <p:cNvSpPr>
            <a:spLocks noGrp="1"/>
          </p:cNvSpPr>
          <p:nvPr/>
        </p:nvSpPr>
        <p:spPr>
          <a:xfrm>
            <a:off x="5175504" y="3666744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7163A59-1570-4069-BBCC-F6217EE37DF6}"/>
              </a:ext>
            </a:extLst>
          </p:cNvPr>
          <p:cNvSpPr>
            <a:spLocks noGrp="1"/>
          </p:cNvSpPr>
          <p:nvPr/>
        </p:nvSpPr>
        <p:spPr>
          <a:xfrm>
            <a:off x="5212080" y="3844512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ED5E6DD-9D2D-44B9-BE34-6841AB092505}"/>
              </a:ext>
            </a:extLst>
          </p:cNvPr>
          <p:cNvSpPr>
            <a:spLocks noGrp="1"/>
          </p:cNvSpPr>
          <p:nvPr/>
        </p:nvSpPr>
        <p:spPr>
          <a:xfrm>
            <a:off x="6537960" y="3666744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B74FA11-CC33-4A49-89C7-8A409E9ACDB5}"/>
              </a:ext>
            </a:extLst>
          </p:cNvPr>
          <p:cNvSpPr>
            <a:spLocks noGrp="1"/>
          </p:cNvSpPr>
          <p:nvPr/>
        </p:nvSpPr>
        <p:spPr>
          <a:xfrm>
            <a:off x="6574536" y="3844512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1F4DEF4-D53B-4FA1-A7F2-7B50882907EC}"/>
              </a:ext>
            </a:extLst>
          </p:cNvPr>
          <p:cNvSpPr>
            <a:spLocks noGrp="1"/>
          </p:cNvSpPr>
          <p:nvPr/>
        </p:nvSpPr>
        <p:spPr>
          <a:xfrm>
            <a:off x="932688" y="4206240"/>
            <a:ext cx="1517904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9658E18-F659-49D3-A747-6D67816EA441}"/>
              </a:ext>
            </a:extLst>
          </p:cNvPr>
          <p:cNvSpPr>
            <a:spLocks noGrp="1"/>
          </p:cNvSpPr>
          <p:nvPr/>
        </p:nvSpPr>
        <p:spPr>
          <a:xfrm>
            <a:off x="969264" y="4384008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0E2A7CF-43D4-4ACB-BDF8-EBF8176685A2}"/>
              </a:ext>
            </a:extLst>
          </p:cNvPr>
          <p:cNvSpPr>
            <a:spLocks noGrp="1"/>
          </p:cNvSpPr>
          <p:nvPr/>
        </p:nvSpPr>
        <p:spPr>
          <a:xfrm>
            <a:off x="2450591" y="4206240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37F78D8-2309-479D-B51A-40D53B4A5500}"/>
              </a:ext>
            </a:extLst>
          </p:cNvPr>
          <p:cNvSpPr>
            <a:spLocks noGrp="1"/>
          </p:cNvSpPr>
          <p:nvPr/>
        </p:nvSpPr>
        <p:spPr>
          <a:xfrm>
            <a:off x="2487168" y="4384008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xx.x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920006C-AC49-4BF9-A38B-52E31B24AD66}"/>
              </a:ext>
            </a:extLst>
          </p:cNvPr>
          <p:cNvSpPr>
            <a:spLocks noGrp="1"/>
          </p:cNvSpPr>
          <p:nvPr/>
        </p:nvSpPr>
        <p:spPr>
          <a:xfrm>
            <a:off x="3813048" y="4206240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5ACF51D-52B2-4D04-B26B-4485EEE48E58}"/>
              </a:ext>
            </a:extLst>
          </p:cNvPr>
          <p:cNvSpPr>
            <a:spLocks noGrp="1"/>
          </p:cNvSpPr>
          <p:nvPr/>
        </p:nvSpPr>
        <p:spPr>
          <a:xfrm>
            <a:off x="3849624" y="4384008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xx.x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378B6D4-756C-487E-B826-F554928166A3}"/>
              </a:ext>
            </a:extLst>
          </p:cNvPr>
          <p:cNvSpPr>
            <a:spLocks noGrp="1"/>
          </p:cNvSpPr>
          <p:nvPr/>
        </p:nvSpPr>
        <p:spPr>
          <a:xfrm>
            <a:off x="5175504" y="4206240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7F9C6A5-99CD-45FE-AC15-34C97519D16D}"/>
              </a:ext>
            </a:extLst>
          </p:cNvPr>
          <p:cNvSpPr>
            <a:spLocks noGrp="1"/>
          </p:cNvSpPr>
          <p:nvPr/>
        </p:nvSpPr>
        <p:spPr>
          <a:xfrm>
            <a:off x="5212080" y="4384008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xx.x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31D3C5C-CCF4-470F-A5A0-A4381312134E}"/>
              </a:ext>
            </a:extLst>
          </p:cNvPr>
          <p:cNvSpPr>
            <a:spLocks noGrp="1"/>
          </p:cNvSpPr>
          <p:nvPr/>
        </p:nvSpPr>
        <p:spPr>
          <a:xfrm>
            <a:off x="6537960" y="4206240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3E2AFB7-74FD-4EE1-9CBB-414AAD09AB1E}"/>
              </a:ext>
            </a:extLst>
          </p:cNvPr>
          <p:cNvSpPr>
            <a:spLocks noGrp="1"/>
          </p:cNvSpPr>
          <p:nvPr/>
        </p:nvSpPr>
        <p:spPr>
          <a:xfrm>
            <a:off x="6574536" y="4384008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1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xx.x</a:t>
            </a: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3D01B33-44B1-4C08-B65D-F0A5B13147D1}"/>
              </a:ext>
            </a:extLst>
          </p:cNvPr>
          <p:cNvSpPr>
            <a:spLocks noGrp="1"/>
          </p:cNvSpPr>
          <p:nvPr/>
        </p:nvSpPr>
        <p:spPr>
          <a:xfrm>
            <a:off x="932688" y="4745736"/>
            <a:ext cx="1517904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05D2021-909C-4A0A-92B8-5F2AA01AC104}"/>
              </a:ext>
            </a:extLst>
          </p:cNvPr>
          <p:cNvSpPr>
            <a:spLocks noGrp="1"/>
          </p:cNvSpPr>
          <p:nvPr/>
        </p:nvSpPr>
        <p:spPr>
          <a:xfrm>
            <a:off x="969264" y="4923504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촉매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D0DCA3D-5662-4CFC-AAB9-92BB3C6474DE}"/>
              </a:ext>
            </a:extLst>
          </p:cNvPr>
          <p:cNvSpPr>
            <a:spLocks noGrp="1"/>
          </p:cNvSpPr>
          <p:nvPr/>
        </p:nvSpPr>
        <p:spPr>
          <a:xfrm>
            <a:off x="2450591" y="4745736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535FE57-57E8-48A1-A084-943FF49305AC}"/>
              </a:ext>
            </a:extLst>
          </p:cNvPr>
          <p:cNvSpPr>
            <a:spLocks noGrp="1"/>
          </p:cNvSpPr>
          <p:nvPr/>
        </p:nvSpPr>
        <p:spPr>
          <a:xfrm>
            <a:off x="2487168" y="492350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5AAD9CF-6665-447C-BAF4-551E0637D3D9}"/>
              </a:ext>
            </a:extLst>
          </p:cNvPr>
          <p:cNvSpPr>
            <a:spLocks noGrp="1"/>
          </p:cNvSpPr>
          <p:nvPr/>
        </p:nvSpPr>
        <p:spPr>
          <a:xfrm>
            <a:off x="3813048" y="4745736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9187444-95BE-431F-8DC3-CC0A1F9ED340}"/>
              </a:ext>
            </a:extLst>
          </p:cNvPr>
          <p:cNvSpPr>
            <a:spLocks noGrp="1"/>
          </p:cNvSpPr>
          <p:nvPr/>
        </p:nvSpPr>
        <p:spPr>
          <a:xfrm>
            <a:off x="3849624" y="492350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077B05D-662C-4EDB-8977-1372F7864AE9}"/>
              </a:ext>
            </a:extLst>
          </p:cNvPr>
          <p:cNvSpPr>
            <a:spLocks noGrp="1"/>
          </p:cNvSpPr>
          <p:nvPr/>
        </p:nvSpPr>
        <p:spPr>
          <a:xfrm>
            <a:off x="5175504" y="4745736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BFFAC17-CD4F-4354-9BF0-85E6B2E16630}"/>
              </a:ext>
            </a:extLst>
          </p:cNvPr>
          <p:cNvSpPr>
            <a:spLocks noGrp="1"/>
          </p:cNvSpPr>
          <p:nvPr/>
        </p:nvSpPr>
        <p:spPr>
          <a:xfrm>
            <a:off x="5212080" y="492350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BA18C5D-ED3B-4B97-86DF-C6474981A001}"/>
              </a:ext>
            </a:extLst>
          </p:cNvPr>
          <p:cNvSpPr>
            <a:spLocks noGrp="1"/>
          </p:cNvSpPr>
          <p:nvPr/>
        </p:nvSpPr>
        <p:spPr>
          <a:xfrm>
            <a:off x="6537960" y="4745736"/>
            <a:ext cx="1362456" cy="5394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D2BBA68-E3E9-4437-9EE1-B4E9E9DB3F91}"/>
              </a:ext>
            </a:extLst>
          </p:cNvPr>
          <p:cNvSpPr>
            <a:spLocks noGrp="1"/>
          </p:cNvSpPr>
          <p:nvPr/>
        </p:nvSpPr>
        <p:spPr>
          <a:xfrm>
            <a:off x="6574536" y="4923504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3A5AD8C-061D-47B3-97F7-86CB993AC137}"/>
              </a:ext>
            </a:extLst>
          </p:cNvPr>
          <p:cNvSpPr>
            <a:spLocks noGrp="1"/>
          </p:cNvSpPr>
          <p:nvPr/>
        </p:nvSpPr>
        <p:spPr>
          <a:xfrm>
            <a:off x="932688" y="5285231"/>
            <a:ext cx="1517904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CE7C335-7BE5-4B61-BCD0-6942535AB57A}"/>
              </a:ext>
            </a:extLst>
          </p:cNvPr>
          <p:cNvSpPr>
            <a:spLocks noGrp="1"/>
          </p:cNvSpPr>
          <p:nvPr/>
        </p:nvSpPr>
        <p:spPr>
          <a:xfrm>
            <a:off x="969264" y="5463000"/>
            <a:ext cx="1444751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1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31F4B41-5696-49B5-84EB-52828ED1C579}"/>
              </a:ext>
            </a:extLst>
          </p:cNvPr>
          <p:cNvSpPr>
            <a:spLocks noGrp="1"/>
          </p:cNvSpPr>
          <p:nvPr/>
        </p:nvSpPr>
        <p:spPr>
          <a:xfrm>
            <a:off x="2450591" y="5285231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7C3772F-CCBA-4187-8F99-5AEF68207BA2}"/>
              </a:ext>
            </a:extLst>
          </p:cNvPr>
          <p:cNvSpPr>
            <a:spLocks noGrp="1"/>
          </p:cNvSpPr>
          <p:nvPr/>
        </p:nvSpPr>
        <p:spPr>
          <a:xfrm>
            <a:off x="2487168" y="546300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60988C2-5754-40D6-AC9A-3F29AF5DFC2C}"/>
              </a:ext>
            </a:extLst>
          </p:cNvPr>
          <p:cNvSpPr>
            <a:spLocks noGrp="1"/>
          </p:cNvSpPr>
          <p:nvPr/>
        </p:nvSpPr>
        <p:spPr>
          <a:xfrm>
            <a:off x="3813048" y="5285231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CBBD663-1C8A-4A2B-B9DB-2CE509A925E7}"/>
              </a:ext>
            </a:extLst>
          </p:cNvPr>
          <p:cNvSpPr>
            <a:spLocks noGrp="1"/>
          </p:cNvSpPr>
          <p:nvPr/>
        </p:nvSpPr>
        <p:spPr>
          <a:xfrm>
            <a:off x="3849624" y="546300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7BAB44-3D72-46FD-BF22-EA33C0E5F758}"/>
              </a:ext>
            </a:extLst>
          </p:cNvPr>
          <p:cNvSpPr>
            <a:spLocks noGrp="1"/>
          </p:cNvSpPr>
          <p:nvPr/>
        </p:nvSpPr>
        <p:spPr>
          <a:xfrm>
            <a:off x="5175504" y="5285231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7E67B19-8D81-4D3C-ACBC-B15B3E818087}"/>
              </a:ext>
            </a:extLst>
          </p:cNvPr>
          <p:cNvSpPr>
            <a:spLocks noGrp="1"/>
          </p:cNvSpPr>
          <p:nvPr/>
        </p:nvSpPr>
        <p:spPr>
          <a:xfrm>
            <a:off x="5212080" y="546300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02C6383-767E-449D-A813-3785BD13D017}"/>
              </a:ext>
            </a:extLst>
          </p:cNvPr>
          <p:cNvSpPr>
            <a:spLocks noGrp="1"/>
          </p:cNvSpPr>
          <p:nvPr/>
        </p:nvSpPr>
        <p:spPr>
          <a:xfrm>
            <a:off x="6537960" y="5285231"/>
            <a:ext cx="1362456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E5FC744-EC99-491F-A965-31D0F40109CA}"/>
              </a:ext>
            </a:extLst>
          </p:cNvPr>
          <p:cNvSpPr>
            <a:spLocks noGrp="1"/>
          </p:cNvSpPr>
          <p:nvPr/>
        </p:nvSpPr>
        <p:spPr>
          <a:xfrm>
            <a:off x="6574536" y="5463000"/>
            <a:ext cx="1289304" cy="1461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1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5FFAFE70-D004-432A-9979-9140A9FBCBC0}"/>
              </a:ext>
            </a:extLst>
          </p:cNvPr>
          <p:cNvSpPr>
            <a:spLocks noGrp="1"/>
          </p:cNvSpPr>
          <p:nvPr/>
        </p:nvSpPr>
        <p:spPr>
          <a:xfrm>
            <a:off x="8156448" y="1508760"/>
            <a:ext cx="2926080" cy="202996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FE9E61F-AB75-45B2-8D4F-BDF997FA1652}"/>
              </a:ext>
            </a:extLst>
          </p:cNvPr>
          <p:cNvSpPr>
            <a:spLocks noGrp="1"/>
          </p:cNvSpPr>
          <p:nvPr/>
        </p:nvSpPr>
        <p:spPr>
          <a:xfrm>
            <a:off x="8394192" y="1773936"/>
            <a:ext cx="1536192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차이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8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2DE7ED6-E89C-4B6D-A7C7-59FB7EE11FC1}"/>
              </a:ext>
            </a:extLst>
          </p:cNvPr>
          <p:cNvSpPr>
            <a:spLocks noGrp="1"/>
          </p:cNvSpPr>
          <p:nvPr/>
        </p:nvSpPr>
        <p:spPr>
          <a:xfrm>
            <a:off x="8394192" y="2139696"/>
            <a:ext cx="2212848" cy="53245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A: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ROIC]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프리미엄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B: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규모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해자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프리미엄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C: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마진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할인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4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기업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D: [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턴어라운드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불확실성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할인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84E2ECD7-E9C9-45EE-9098-697CE40E174B}"/>
              </a:ext>
            </a:extLst>
          </p:cNvPr>
          <p:cNvSpPr>
            <a:spLocks noGrp="1"/>
          </p:cNvSpPr>
          <p:nvPr/>
        </p:nvSpPr>
        <p:spPr>
          <a:xfrm>
            <a:off x="8156448" y="3767328"/>
            <a:ext cx="29260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6C6D857-A0DB-4E68-A815-9B09A9710B03}"/>
              </a:ext>
            </a:extLst>
          </p:cNvPr>
          <p:cNvSpPr>
            <a:spLocks noGrp="1"/>
          </p:cNvSpPr>
          <p:nvPr/>
        </p:nvSpPr>
        <p:spPr>
          <a:xfrm>
            <a:off x="8394192" y="4023360"/>
            <a:ext cx="1024128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869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비교</a:t>
            </a:r>
            <a:endParaRPr sz="869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B56C917-7291-4C1E-8418-A4FAB23CA300}"/>
              </a:ext>
            </a:extLst>
          </p:cNvPr>
          <p:cNvSpPr>
            <a:spLocks noGrp="1"/>
          </p:cNvSpPr>
          <p:nvPr/>
        </p:nvSpPr>
        <p:spPr>
          <a:xfrm>
            <a:off x="8394192" y="4379976"/>
            <a:ext cx="2212848" cy="52629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3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밸류체인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영위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반복하지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않음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동일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회계기준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연결기준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기준일을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통일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PER만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않고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ROIC·FCF를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같이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봄</a:t>
            </a:r>
          </a:p>
          <a:p>
            <a:pPr>
              <a:spcAft>
                <a:spcPts val="150"/>
              </a:spcAft>
              <a:buNone/>
              <a:defRPr sz="730">
                <a:solidFill>
                  <a:srgbClr val="323A4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표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마지막에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1문장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필수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6" name="Rectangle 1">
            <a:extLst>
              <a:ext uri="{FF2B5EF4-FFF2-40B4-BE49-F238E27FC236}">
                <a16:creationId xmlns:a16="http://schemas.microsoft.com/office/drawing/2014/main" id="{2EE237BD-C3C3-D839-A068-3198614FFC78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4" name="TextBox 10">
            <a:extLst>
              <a:ext uri="{FF2B5EF4-FFF2-40B4-BE49-F238E27FC236}">
                <a16:creationId xmlns:a16="http://schemas.microsoft.com/office/drawing/2014/main" id="{9CEA323D-E0EA-3639-827C-7EFF57BDC8F6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46" name="TextBox 11">
            <a:extLst>
              <a:ext uri="{FF2B5EF4-FFF2-40B4-BE49-F238E27FC236}">
                <a16:creationId xmlns:a16="http://schemas.microsoft.com/office/drawing/2014/main" id="{BE3AB9B4-2D05-98AF-C143-A4FA727ED3BD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8" name="TextBox 12">
            <a:extLst>
              <a:ext uri="{FF2B5EF4-FFF2-40B4-BE49-F238E27FC236}">
                <a16:creationId xmlns:a16="http://schemas.microsoft.com/office/drawing/2014/main" id="{0928E84D-8B96-2808-D414-8BBDA890B73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50" name="TextBox 13">
            <a:extLst>
              <a:ext uri="{FF2B5EF4-FFF2-40B4-BE49-F238E27FC236}">
                <a16:creationId xmlns:a16="http://schemas.microsoft.com/office/drawing/2014/main" id="{C2FF22D7-8501-8236-7100-150784ACED1B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2" name="TextBox 14">
            <a:extLst>
              <a:ext uri="{FF2B5EF4-FFF2-40B4-BE49-F238E27FC236}">
                <a16:creationId xmlns:a16="http://schemas.microsoft.com/office/drawing/2014/main" id="{C07F8764-AD34-5791-61F0-532BF4D524AB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54" name="TextBox 15">
            <a:extLst>
              <a:ext uri="{FF2B5EF4-FFF2-40B4-BE49-F238E27FC236}">
                <a16:creationId xmlns:a16="http://schemas.microsoft.com/office/drawing/2014/main" id="{EED61A67-59C4-6DB5-4C4F-A47162DDDB6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TextBox 4">
            <a:extLst>
              <a:ext uri="{FF2B5EF4-FFF2-40B4-BE49-F238E27FC236}">
                <a16:creationId xmlns:a16="http://schemas.microsoft.com/office/drawing/2014/main" id="{8F539E75-234A-EBEB-E1D6-3A9A13E11E01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8" name="TextBox 5">
            <a:extLst>
              <a:ext uri="{FF2B5EF4-FFF2-40B4-BE49-F238E27FC236}">
                <a16:creationId xmlns:a16="http://schemas.microsoft.com/office/drawing/2014/main" id="{CD601D1B-5D87-AA93-DBE3-866507C12F42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0" name="TextBox 6">
            <a:extLst>
              <a:ext uri="{FF2B5EF4-FFF2-40B4-BE49-F238E27FC236}">
                <a16:creationId xmlns:a16="http://schemas.microsoft.com/office/drawing/2014/main" id="{10AF7DC7-A35A-D8F1-D460-56B802A00E66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62" name="TextBox 7">
            <a:extLst>
              <a:ext uri="{FF2B5EF4-FFF2-40B4-BE49-F238E27FC236}">
                <a16:creationId xmlns:a16="http://schemas.microsoft.com/office/drawing/2014/main" id="{C2252AB0-7CCF-AAD1-0F59-48E8D05AF43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4" name="Rounded Rectangle 3">
            <a:extLst>
              <a:ext uri="{FF2B5EF4-FFF2-40B4-BE49-F238E27FC236}">
                <a16:creationId xmlns:a16="http://schemas.microsoft.com/office/drawing/2014/main" id="{1537D367-0B58-D47E-A85B-7815E34B0A56}"/>
              </a:ext>
            </a:extLst>
          </p:cNvPr>
          <p:cNvSpPr>
            <a:spLocks noGrp="1"/>
          </p:cNvSpPr>
          <p:nvPr/>
        </p:nvSpPr>
        <p:spPr>
          <a:xfrm>
            <a:off x="57912" y="2461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6" name="TextBox 6">
            <a:extLst>
              <a:ext uri="{FF2B5EF4-FFF2-40B4-BE49-F238E27FC236}">
                <a16:creationId xmlns:a16="http://schemas.microsoft.com/office/drawing/2014/main" id="{4A4346BE-5913-6CC4-FD59-0CE8A357523C}"/>
              </a:ext>
            </a:extLst>
          </p:cNvPr>
          <p:cNvSpPr>
            <a:spLocks noGrp="1"/>
          </p:cNvSpPr>
          <p:nvPr/>
        </p:nvSpPr>
        <p:spPr>
          <a:xfrm>
            <a:off x="91440" y="2660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8" name="TextBox 7">
            <a:extLst>
              <a:ext uri="{FF2B5EF4-FFF2-40B4-BE49-F238E27FC236}">
                <a16:creationId xmlns:a16="http://schemas.microsoft.com/office/drawing/2014/main" id="{2DA94F61-9D02-E4FA-F434-BDB4C482E524}"/>
              </a:ext>
            </a:extLst>
          </p:cNvPr>
          <p:cNvSpPr>
            <a:spLocks noGrp="1"/>
          </p:cNvSpPr>
          <p:nvPr/>
        </p:nvSpPr>
        <p:spPr>
          <a:xfrm>
            <a:off x="243840" y="2667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CB79B9-5666-8B07-043B-69996A6D72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2893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D22DDE0-663C-4F20-9AA2-8A2A1918362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75061F-21FF-44B0-AFE5-B52CE4ACBF6D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469C1C-85EE-4558-8C1A-2DA7A2D26745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416B6C-78F5-40F0-80A7-F3BD3972301B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F9EDED-AC60-4E72-A790-F18B9022D46E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5C266-9511-45B9-8ED4-2351A97B57D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EC3E47-7154-42EF-8BE5-977D7C144E2E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B19D8A-E40B-4DA3-9A8E-9794DDF79580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031C7D-0CD8-487A-A617-2E248551EE4F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39078C-A55D-49F2-83E1-E02B9B988658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AEA229-07C1-4DF8-BB4E-CC19246186FE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44E629-05E8-4251-8CE6-AB9692007071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CC0ED5-5D0D-48B2-91C3-7284EFA73EDF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E14E08-1E60-4293-9840-84F18F1DE1D4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523AC0-CD6E-44A6-B80D-10B48EABB72A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4개사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한눈에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보기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6CBB2AAA-8928-4FA3-A32A-934AFCAF384A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FD623441-DEAC-4492-BC01-6FE295DD027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9AF1E2-ACDE-471A-97E5-DC29226E61E2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69778EE-8DC2-49E2-A376-7DEF976CA41D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7FF270-E7B0-48B8-8984-CBDA22038BD3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03/06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F0A60CE-8F79-4050-9E74-804227841A91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22860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02AEAE-A99F-4D3F-A108-97B2310DB2FA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2286000" cy="438912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6019B5-4466-424B-BC7E-43A79626134B}"/>
              </a:ext>
            </a:extLst>
          </p:cNvPr>
          <p:cNvSpPr>
            <a:spLocks noGrp="1"/>
          </p:cNvSpPr>
          <p:nvPr/>
        </p:nvSpPr>
        <p:spPr>
          <a:xfrm>
            <a:off x="1097280" y="1645920"/>
            <a:ext cx="1956816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B8D820-2F48-4E84-AF7B-EB25A35DF58A}"/>
              </a:ext>
            </a:extLst>
          </p:cNvPr>
          <p:cNvSpPr>
            <a:spLocks noGrp="1"/>
          </p:cNvSpPr>
          <p:nvPr/>
        </p:nvSpPr>
        <p:spPr>
          <a:xfrm>
            <a:off x="1097280" y="2194560"/>
            <a:ext cx="80467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31EE21-09C3-46A7-8DE5-4505A6F5AC60}"/>
              </a:ext>
            </a:extLst>
          </p:cNvPr>
          <p:cNvSpPr>
            <a:spLocks noGrp="1"/>
          </p:cNvSpPr>
          <p:nvPr/>
        </p:nvSpPr>
        <p:spPr>
          <a:xfrm>
            <a:off x="1892808" y="2176272"/>
            <a:ext cx="109728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4BCA6C-18C1-4CE8-89AA-308BCA32A422}"/>
              </a:ext>
            </a:extLst>
          </p:cNvPr>
          <p:cNvSpPr>
            <a:spLocks noGrp="1"/>
          </p:cNvSpPr>
          <p:nvPr/>
        </p:nvSpPr>
        <p:spPr>
          <a:xfrm>
            <a:off x="1097280" y="2578608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9BE9A2-3040-4637-8171-97BD99041F3E}"/>
              </a:ext>
            </a:extLst>
          </p:cNvPr>
          <p:cNvSpPr>
            <a:spLocks noGrp="1"/>
          </p:cNvSpPr>
          <p:nvPr/>
        </p:nvSpPr>
        <p:spPr>
          <a:xfrm>
            <a:off x="1709928" y="2560320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61F7E6-FA95-4AC3-9E79-1BFC8CFD2C73}"/>
              </a:ext>
            </a:extLst>
          </p:cNvPr>
          <p:cNvSpPr>
            <a:spLocks noGrp="1"/>
          </p:cNvSpPr>
          <p:nvPr/>
        </p:nvSpPr>
        <p:spPr>
          <a:xfrm>
            <a:off x="1097280" y="2962656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01AB27-1745-4B34-979B-705CAD775976}"/>
              </a:ext>
            </a:extLst>
          </p:cNvPr>
          <p:cNvSpPr>
            <a:spLocks noGrp="1"/>
          </p:cNvSpPr>
          <p:nvPr/>
        </p:nvSpPr>
        <p:spPr>
          <a:xfrm>
            <a:off x="1709928" y="2944368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[OPM/ROIC]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CCC4EC-0720-4372-B9A4-B408FD5D2FE3}"/>
              </a:ext>
            </a:extLst>
          </p:cNvPr>
          <p:cNvSpPr>
            <a:spLocks noGrp="1"/>
          </p:cNvSpPr>
          <p:nvPr/>
        </p:nvSpPr>
        <p:spPr>
          <a:xfrm>
            <a:off x="1097280" y="3346704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552F47-B11E-4BC5-AABB-DE6DDB252C98}"/>
              </a:ext>
            </a:extLst>
          </p:cNvPr>
          <p:cNvSpPr>
            <a:spLocks noGrp="1"/>
          </p:cNvSpPr>
          <p:nvPr/>
        </p:nvSpPr>
        <p:spPr>
          <a:xfrm>
            <a:off x="1709928" y="3328416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732390-6B49-4AF7-B31F-2CA7E9F67C04}"/>
              </a:ext>
            </a:extLst>
          </p:cNvPr>
          <p:cNvSpPr>
            <a:spLocks noGrp="1"/>
          </p:cNvSpPr>
          <p:nvPr/>
        </p:nvSpPr>
        <p:spPr>
          <a:xfrm>
            <a:off x="1097280" y="3730752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00AF1A-D766-459B-9BF3-2BCD2409ACE2}"/>
              </a:ext>
            </a:extLst>
          </p:cNvPr>
          <p:cNvSpPr>
            <a:spLocks noGrp="1"/>
          </p:cNvSpPr>
          <p:nvPr/>
        </p:nvSpPr>
        <p:spPr>
          <a:xfrm>
            <a:off x="1709928" y="3712463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[PER/PBR/EV]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8B47D66-FF8F-4206-8642-1C764AEA73F9}"/>
              </a:ext>
            </a:extLst>
          </p:cNvPr>
          <p:cNvSpPr>
            <a:spLocks noGrp="1"/>
          </p:cNvSpPr>
          <p:nvPr/>
        </p:nvSpPr>
        <p:spPr>
          <a:xfrm>
            <a:off x="1097280" y="4133087"/>
            <a:ext cx="1956816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1A183F-4AE3-4D24-8E0C-CBEE91BBAE5E}"/>
              </a:ext>
            </a:extLst>
          </p:cNvPr>
          <p:cNvSpPr>
            <a:spLocks noGrp="1"/>
          </p:cNvSpPr>
          <p:nvPr/>
        </p:nvSpPr>
        <p:spPr>
          <a:xfrm>
            <a:off x="1225296" y="4279392"/>
            <a:ext cx="16459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28191E-7BEB-4583-A4E6-731E80DF9161}"/>
              </a:ext>
            </a:extLst>
          </p:cNvPr>
          <p:cNvSpPr>
            <a:spLocks noGrp="1"/>
          </p:cNvSpPr>
          <p:nvPr/>
        </p:nvSpPr>
        <p:spPr>
          <a:xfrm>
            <a:off x="1207008" y="4553712"/>
            <a:ext cx="168249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좋거나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싸거나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비싼지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5A3113-2F1C-4E1F-B198-B27A529BABDC}"/>
              </a:ext>
            </a:extLst>
          </p:cNvPr>
          <p:cNvSpPr>
            <a:spLocks noGrp="1"/>
          </p:cNvSpPr>
          <p:nvPr/>
        </p:nvSpPr>
        <p:spPr>
          <a:xfrm>
            <a:off x="1133856" y="5321808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41E8C636-E935-448C-8E59-F979E14E070F}"/>
              </a:ext>
            </a:extLst>
          </p:cNvPr>
          <p:cNvSpPr>
            <a:spLocks noGrp="1"/>
          </p:cNvSpPr>
          <p:nvPr/>
        </p:nvSpPr>
        <p:spPr>
          <a:xfrm>
            <a:off x="3474720" y="1508760"/>
            <a:ext cx="22860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8FEEC11-9E5C-49E0-B73C-61A1D45E3AE0}"/>
              </a:ext>
            </a:extLst>
          </p:cNvPr>
          <p:cNvSpPr>
            <a:spLocks noGrp="1"/>
          </p:cNvSpPr>
          <p:nvPr/>
        </p:nvSpPr>
        <p:spPr>
          <a:xfrm>
            <a:off x="3474720" y="1508760"/>
            <a:ext cx="2286000" cy="438912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65B521-8B41-4A07-B839-1D328FF1D983}"/>
              </a:ext>
            </a:extLst>
          </p:cNvPr>
          <p:cNvSpPr>
            <a:spLocks noGrp="1"/>
          </p:cNvSpPr>
          <p:nvPr/>
        </p:nvSpPr>
        <p:spPr>
          <a:xfrm>
            <a:off x="3639312" y="1645920"/>
            <a:ext cx="1956816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97427F-FB96-4A33-B7EF-C64DAF1C130E}"/>
              </a:ext>
            </a:extLst>
          </p:cNvPr>
          <p:cNvSpPr>
            <a:spLocks noGrp="1"/>
          </p:cNvSpPr>
          <p:nvPr/>
        </p:nvSpPr>
        <p:spPr>
          <a:xfrm>
            <a:off x="3639312" y="2194560"/>
            <a:ext cx="80467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FD6BD1-5AE4-4BAA-AFD2-8686769CE4FB}"/>
              </a:ext>
            </a:extLst>
          </p:cNvPr>
          <p:cNvSpPr>
            <a:spLocks noGrp="1"/>
          </p:cNvSpPr>
          <p:nvPr/>
        </p:nvSpPr>
        <p:spPr>
          <a:xfrm>
            <a:off x="4434840" y="2176272"/>
            <a:ext cx="109728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66264F-2BDB-4AFB-A7A8-9AA232A93894}"/>
              </a:ext>
            </a:extLst>
          </p:cNvPr>
          <p:cNvSpPr>
            <a:spLocks noGrp="1"/>
          </p:cNvSpPr>
          <p:nvPr/>
        </p:nvSpPr>
        <p:spPr>
          <a:xfrm>
            <a:off x="3639312" y="2578608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8CEAD3-08AA-4CD0-BDF2-19D46BC7EFC8}"/>
              </a:ext>
            </a:extLst>
          </p:cNvPr>
          <p:cNvSpPr>
            <a:spLocks noGrp="1"/>
          </p:cNvSpPr>
          <p:nvPr/>
        </p:nvSpPr>
        <p:spPr>
          <a:xfrm>
            <a:off x="4251959" y="2560320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045981-5EC6-401F-B143-8E9C2FF7AE4F}"/>
              </a:ext>
            </a:extLst>
          </p:cNvPr>
          <p:cNvSpPr>
            <a:spLocks noGrp="1"/>
          </p:cNvSpPr>
          <p:nvPr/>
        </p:nvSpPr>
        <p:spPr>
          <a:xfrm>
            <a:off x="3639312" y="2962656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0C5CE8-72EE-41A5-9B2A-1502EBBC3D92}"/>
              </a:ext>
            </a:extLst>
          </p:cNvPr>
          <p:cNvSpPr>
            <a:spLocks noGrp="1"/>
          </p:cNvSpPr>
          <p:nvPr/>
        </p:nvSpPr>
        <p:spPr>
          <a:xfrm>
            <a:off x="4251959" y="2944368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[OPM/ROIC]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364190-BE0C-46C4-A166-9319847ACF80}"/>
              </a:ext>
            </a:extLst>
          </p:cNvPr>
          <p:cNvSpPr>
            <a:spLocks noGrp="1"/>
          </p:cNvSpPr>
          <p:nvPr/>
        </p:nvSpPr>
        <p:spPr>
          <a:xfrm>
            <a:off x="3639312" y="3346704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DC97126-D845-4500-9C3D-83391EBCCD4E}"/>
              </a:ext>
            </a:extLst>
          </p:cNvPr>
          <p:cNvSpPr>
            <a:spLocks noGrp="1"/>
          </p:cNvSpPr>
          <p:nvPr/>
        </p:nvSpPr>
        <p:spPr>
          <a:xfrm>
            <a:off x="4251959" y="3328416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157EF5-78D0-47C0-84E6-3408F9A9661F}"/>
              </a:ext>
            </a:extLst>
          </p:cNvPr>
          <p:cNvSpPr>
            <a:spLocks noGrp="1"/>
          </p:cNvSpPr>
          <p:nvPr/>
        </p:nvSpPr>
        <p:spPr>
          <a:xfrm>
            <a:off x="3639312" y="3730752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0116C4E-4FDA-4263-ABE1-B0BE78D4137F}"/>
              </a:ext>
            </a:extLst>
          </p:cNvPr>
          <p:cNvSpPr>
            <a:spLocks noGrp="1"/>
          </p:cNvSpPr>
          <p:nvPr/>
        </p:nvSpPr>
        <p:spPr>
          <a:xfrm>
            <a:off x="4251959" y="3712463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[PER/PBR/EV]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4461775C-7537-403D-85D3-B5A37B1C6113}"/>
              </a:ext>
            </a:extLst>
          </p:cNvPr>
          <p:cNvSpPr>
            <a:spLocks noGrp="1"/>
          </p:cNvSpPr>
          <p:nvPr/>
        </p:nvSpPr>
        <p:spPr>
          <a:xfrm>
            <a:off x="3639312" y="4133087"/>
            <a:ext cx="1956816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F1D226-A09A-463B-BE8B-5D2F4CFD0D15}"/>
              </a:ext>
            </a:extLst>
          </p:cNvPr>
          <p:cNvSpPr>
            <a:spLocks noGrp="1"/>
          </p:cNvSpPr>
          <p:nvPr/>
        </p:nvSpPr>
        <p:spPr>
          <a:xfrm>
            <a:off x="3767328" y="4279392"/>
            <a:ext cx="16459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1D5057-070F-4DFE-86D8-7E8CA7BFCC3C}"/>
              </a:ext>
            </a:extLst>
          </p:cNvPr>
          <p:cNvSpPr>
            <a:spLocks noGrp="1"/>
          </p:cNvSpPr>
          <p:nvPr/>
        </p:nvSpPr>
        <p:spPr>
          <a:xfrm>
            <a:off x="3749039" y="4553712"/>
            <a:ext cx="168249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좋거나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싸거나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비싼지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E63D86-7DA3-4E6D-84EE-D3C3035CDAE9}"/>
              </a:ext>
            </a:extLst>
          </p:cNvPr>
          <p:cNvSpPr>
            <a:spLocks noGrp="1"/>
          </p:cNvSpPr>
          <p:nvPr/>
        </p:nvSpPr>
        <p:spPr>
          <a:xfrm>
            <a:off x="3675887" y="5321808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C1546227-B417-4546-BC1E-0975641F29B1}"/>
              </a:ext>
            </a:extLst>
          </p:cNvPr>
          <p:cNvSpPr>
            <a:spLocks noGrp="1"/>
          </p:cNvSpPr>
          <p:nvPr/>
        </p:nvSpPr>
        <p:spPr>
          <a:xfrm>
            <a:off x="6016752" y="1508760"/>
            <a:ext cx="22860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D2061D-584D-4EFE-83FA-04185A0AD8BC}"/>
              </a:ext>
            </a:extLst>
          </p:cNvPr>
          <p:cNvSpPr>
            <a:spLocks noGrp="1"/>
          </p:cNvSpPr>
          <p:nvPr/>
        </p:nvSpPr>
        <p:spPr>
          <a:xfrm>
            <a:off x="6016752" y="1508760"/>
            <a:ext cx="2286000" cy="438912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3C56C7-4373-4E8B-85A9-E54D51EB63E6}"/>
              </a:ext>
            </a:extLst>
          </p:cNvPr>
          <p:cNvSpPr>
            <a:spLocks noGrp="1"/>
          </p:cNvSpPr>
          <p:nvPr/>
        </p:nvSpPr>
        <p:spPr>
          <a:xfrm>
            <a:off x="6181344" y="1645920"/>
            <a:ext cx="1956816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5FA13FD-5EC9-4869-B711-8C2198E6BDE6}"/>
              </a:ext>
            </a:extLst>
          </p:cNvPr>
          <p:cNvSpPr>
            <a:spLocks noGrp="1"/>
          </p:cNvSpPr>
          <p:nvPr/>
        </p:nvSpPr>
        <p:spPr>
          <a:xfrm>
            <a:off x="6181344" y="2194560"/>
            <a:ext cx="80467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A0D98D-8203-48C8-82DE-96BF596BDC52}"/>
              </a:ext>
            </a:extLst>
          </p:cNvPr>
          <p:cNvSpPr>
            <a:spLocks noGrp="1"/>
          </p:cNvSpPr>
          <p:nvPr/>
        </p:nvSpPr>
        <p:spPr>
          <a:xfrm>
            <a:off x="6976872" y="2176272"/>
            <a:ext cx="109728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BB8EA91-E55C-4E81-9B23-A46DDE130C76}"/>
              </a:ext>
            </a:extLst>
          </p:cNvPr>
          <p:cNvSpPr>
            <a:spLocks noGrp="1"/>
          </p:cNvSpPr>
          <p:nvPr/>
        </p:nvSpPr>
        <p:spPr>
          <a:xfrm>
            <a:off x="6181344" y="2578608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F9A6A5-3B47-4F62-8F24-16BFC44E76D4}"/>
              </a:ext>
            </a:extLst>
          </p:cNvPr>
          <p:cNvSpPr>
            <a:spLocks noGrp="1"/>
          </p:cNvSpPr>
          <p:nvPr/>
        </p:nvSpPr>
        <p:spPr>
          <a:xfrm>
            <a:off x="6793992" y="2560320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B6D2F6-D4B3-4038-BB12-FA3B459B62BB}"/>
              </a:ext>
            </a:extLst>
          </p:cNvPr>
          <p:cNvSpPr>
            <a:spLocks noGrp="1"/>
          </p:cNvSpPr>
          <p:nvPr/>
        </p:nvSpPr>
        <p:spPr>
          <a:xfrm>
            <a:off x="6181344" y="2962656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A601C8-63AB-4C65-95D5-2BDF5D6DF7AF}"/>
              </a:ext>
            </a:extLst>
          </p:cNvPr>
          <p:cNvSpPr>
            <a:spLocks noGrp="1"/>
          </p:cNvSpPr>
          <p:nvPr/>
        </p:nvSpPr>
        <p:spPr>
          <a:xfrm>
            <a:off x="6793992" y="2944368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[OPM/ROIC]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D3F3A21-745C-4262-A830-A6F98476AD3F}"/>
              </a:ext>
            </a:extLst>
          </p:cNvPr>
          <p:cNvSpPr>
            <a:spLocks noGrp="1"/>
          </p:cNvSpPr>
          <p:nvPr/>
        </p:nvSpPr>
        <p:spPr>
          <a:xfrm>
            <a:off x="6181344" y="3346704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42BE1D2-D4B2-4929-B62E-56C8FDC76EC7}"/>
              </a:ext>
            </a:extLst>
          </p:cNvPr>
          <p:cNvSpPr>
            <a:spLocks noGrp="1"/>
          </p:cNvSpPr>
          <p:nvPr/>
        </p:nvSpPr>
        <p:spPr>
          <a:xfrm>
            <a:off x="6793992" y="3328416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87AF34C-9272-4EA8-AC7C-06FACBC76C2F}"/>
              </a:ext>
            </a:extLst>
          </p:cNvPr>
          <p:cNvSpPr>
            <a:spLocks noGrp="1"/>
          </p:cNvSpPr>
          <p:nvPr/>
        </p:nvSpPr>
        <p:spPr>
          <a:xfrm>
            <a:off x="6181344" y="3730752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6B2E4D-6D23-4DFF-A618-1B9A32732424}"/>
              </a:ext>
            </a:extLst>
          </p:cNvPr>
          <p:cNvSpPr>
            <a:spLocks noGrp="1"/>
          </p:cNvSpPr>
          <p:nvPr/>
        </p:nvSpPr>
        <p:spPr>
          <a:xfrm>
            <a:off x="6793992" y="3712463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[PER/PBR/EV]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E66B2E0F-9874-4B26-A127-03C741590F31}"/>
              </a:ext>
            </a:extLst>
          </p:cNvPr>
          <p:cNvSpPr>
            <a:spLocks noGrp="1"/>
          </p:cNvSpPr>
          <p:nvPr/>
        </p:nvSpPr>
        <p:spPr>
          <a:xfrm>
            <a:off x="6181344" y="4133087"/>
            <a:ext cx="1956816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CA24798-ED33-46B4-9957-FE48719E9EDA}"/>
              </a:ext>
            </a:extLst>
          </p:cNvPr>
          <p:cNvSpPr>
            <a:spLocks noGrp="1"/>
          </p:cNvSpPr>
          <p:nvPr/>
        </p:nvSpPr>
        <p:spPr>
          <a:xfrm>
            <a:off x="6309360" y="4279392"/>
            <a:ext cx="16459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CD9247-2C5D-4653-B5DE-D314DAB290D0}"/>
              </a:ext>
            </a:extLst>
          </p:cNvPr>
          <p:cNvSpPr>
            <a:spLocks noGrp="1"/>
          </p:cNvSpPr>
          <p:nvPr/>
        </p:nvSpPr>
        <p:spPr>
          <a:xfrm>
            <a:off x="6291072" y="4553712"/>
            <a:ext cx="168249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좋거나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싸거나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비싼지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65B0835-C83B-4327-9A23-548D9F2626CD}"/>
              </a:ext>
            </a:extLst>
          </p:cNvPr>
          <p:cNvSpPr>
            <a:spLocks noGrp="1"/>
          </p:cNvSpPr>
          <p:nvPr/>
        </p:nvSpPr>
        <p:spPr>
          <a:xfrm>
            <a:off x="6217920" y="5321808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5BB55FB-D4D9-4D2D-AC1D-901C4C2451B3}"/>
              </a:ext>
            </a:extLst>
          </p:cNvPr>
          <p:cNvSpPr>
            <a:spLocks noGrp="1"/>
          </p:cNvSpPr>
          <p:nvPr/>
        </p:nvSpPr>
        <p:spPr>
          <a:xfrm>
            <a:off x="8558784" y="1508760"/>
            <a:ext cx="228600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870BE2F-23A4-4432-B75D-9FB264074E75}"/>
              </a:ext>
            </a:extLst>
          </p:cNvPr>
          <p:cNvSpPr>
            <a:spLocks noGrp="1"/>
          </p:cNvSpPr>
          <p:nvPr/>
        </p:nvSpPr>
        <p:spPr>
          <a:xfrm>
            <a:off x="8558784" y="1508760"/>
            <a:ext cx="2286000" cy="438912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AA7E7AC-9E7B-47B9-A612-5490EC676A05}"/>
              </a:ext>
            </a:extLst>
          </p:cNvPr>
          <p:cNvSpPr>
            <a:spLocks noGrp="1"/>
          </p:cNvSpPr>
          <p:nvPr/>
        </p:nvSpPr>
        <p:spPr>
          <a:xfrm>
            <a:off x="8723376" y="1645920"/>
            <a:ext cx="1956816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5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9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4D3FC78-9040-485A-B9B6-1231C5113656}"/>
              </a:ext>
            </a:extLst>
          </p:cNvPr>
          <p:cNvSpPr>
            <a:spLocks noGrp="1"/>
          </p:cNvSpPr>
          <p:nvPr/>
        </p:nvSpPr>
        <p:spPr>
          <a:xfrm>
            <a:off x="8723376" y="2194560"/>
            <a:ext cx="804672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99C5EF0-AB0F-4590-AEA8-6978C11F3D95}"/>
              </a:ext>
            </a:extLst>
          </p:cNvPr>
          <p:cNvSpPr>
            <a:spLocks noGrp="1"/>
          </p:cNvSpPr>
          <p:nvPr/>
        </p:nvSpPr>
        <p:spPr>
          <a:xfrm>
            <a:off x="9518904" y="2176272"/>
            <a:ext cx="109728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6CB5310-0713-4BF2-90E3-2297184D2118}"/>
              </a:ext>
            </a:extLst>
          </p:cNvPr>
          <p:cNvSpPr>
            <a:spLocks noGrp="1"/>
          </p:cNvSpPr>
          <p:nvPr/>
        </p:nvSpPr>
        <p:spPr>
          <a:xfrm>
            <a:off x="8723376" y="2578608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3FB8961-E056-495B-A548-A2FC61C4F306}"/>
              </a:ext>
            </a:extLst>
          </p:cNvPr>
          <p:cNvSpPr>
            <a:spLocks noGrp="1"/>
          </p:cNvSpPr>
          <p:nvPr/>
        </p:nvSpPr>
        <p:spPr>
          <a:xfrm>
            <a:off x="9336024" y="2560320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높음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중간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낮음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79D44D0-437A-4BE6-8277-EA2751B08506}"/>
              </a:ext>
            </a:extLst>
          </p:cNvPr>
          <p:cNvSpPr>
            <a:spLocks noGrp="1"/>
          </p:cNvSpPr>
          <p:nvPr/>
        </p:nvSpPr>
        <p:spPr>
          <a:xfrm>
            <a:off x="8723376" y="2962656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수익성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2AB121C-2D3F-4D41-8D1A-8BA00FC16F7F}"/>
              </a:ext>
            </a:extLst>
          </p:cNvPr>
          <p:cNvSpPr>
            <a:spLocks noGrp="1"/>
          </p:cNvSpPr>
          <p:nvPr/>
        </p:nvSpPr>
        <p:spPr>
          <a:xfrm>
            <a:off x="9336024" y="2944368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[OPM/ROIC]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EAFBD41-D0D0-4CC6-A015-ADD2B05002CC}"/>
              </a:ext>
            </a:extLst>
          </p:cNvPr>
          <p:cNvSpPr>
            <a:spLocks noGrp="1"/>
          </p:cNvSpPr>
          <p:nvPr/>
        </p:nvSpPr>
        <p:spPr>
          <a:xfrm>
            <a:off x="8723376" y="3346704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CBFC912-C871-4592-96A3-B3A95A78917B}"/>
              </a:ext>
            </a:extLst>
          </p:cNvPr>
          <p:cNvSpPr>
            <a:spLocks noGrp="1"/>
          </p:cNvSpPr>
          <p:nvPr/>
        </p:nvSpPr>
        <p:spPr>
          <a:xfrm>
            <a:off x="9336024" y="3328416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기술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락인</a:t>
            </a: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D8B4418-8CB1-49DC-8FC4-5EF5EF8AEC5A}"/>
              </a:ext>
            </a:extLst>
          </p:cNvPr>
          <p:cNvSpPr>
            <a:spLocks noGrp="1"/>
          </p:cNvSpPr>
          <p:nvPr/>
        </p:nvSpPr>
        <p:spPr>
          <a:xfrm>
            <a:off x="8723376" y="3730752"/>
            <a:ext cx="5486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CB64C0F-B1CC-4BBF-8F79-EB9DD217F3B0}"/>
              </a:ext>
            </a:extLst>
          </p:cNvPr>
          <p:cNvSpPr>
            <a:spLocks noGrp="1"/>
          </p:cNvSpPr>
          <p:nvPr/>
        </p:nvSpPr>
        <p:spPr>
          <a:xfrm>
            <a:off x="9336024" y="3712463"/>
            <a:ext cx="1280160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[PER/PBR/EV]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D8CDF670-779D-43DB-8A63-BA42834C83F7}"/>
              </a:ext>
            </a:extLst>
          </p:cNvPr>
          <p:cNvSpPr>
            <a:spLocks noGrp="1"/>
          </p:cNvSpPr>
          <p:nvPr/>
        </p:nvSpPr>
        <p:spPr>
          <a:xfrm>
            <a:off x="8723376" y="4133087"/>
            <a:ext cx="1956816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AFD9E83-387E-4B13-9542-D3EBC4914EC1}"/>
              </a:ext>
            </a:extLst>
          </p:cNvPr>
          <p:cNvSpPr>
            <a:spLocks noGrp="1"/>
          </p:cNvSpPr>
          <p:nvPr/>
        </p:nvSpPr>
        <p:spPr>
          <a:xfrm>
            <a:off x="8851392" y="4279392"/>
            <a:ext cx="1645920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20ABFB5-5F39-42CE-B976-6E00E1D3F307}"/>
              </a:ext>
            </a:extLst>
          </p:cNvPr>
          <p:cNvSpPr>
            <a:spLocks noGrp="1"/>
          </p:cNvSpPr>
          <p:nvPr/>
        </p:nvSpPr>
        <p:spPr>
          <a:xfrm>
            <a:off x="8833104" y="4553712"/>
            <a:ext cx="168249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좋거나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싸거나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/왜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비싼지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55047B9-0109-4C22-B5EF-CECFD164CAFE}"/>
              </a:ext>
            </a:extLst>
          </p:cNvPr>
          <p:cNvSpPr>
            <a:spLocks noGrp="1"/>
          </p:cNvSpPr>
          <p:nvPr/>
        </p:nvSpPr>
        <p:spPr>
          <a:xfrm>
            <a:off x="8759952" y="5321808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핵심지표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8" name="Rectangle 1">
            <a:extLst>
              <a:ext uri="{FF2B5EF4-FFF2-40B4-BE49-F238E27FC236}">
                <a16:creationId xmlns:a16="http://schemas.microsoft.com/office/drawing/2014/main" id="{50BC2822-50F1-B566-9341-A1C28DFDECBC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6" name="TextBox 10">
            <a:extLst>
              <a:ext uri="{FF2B5EF4-FFF2-40B4-BE49-F238E27FC236}">
                <a16:creationId xmlns:a16="http://schemas.microsoft.com/office/drawing/2014/main" id="{880E6E30-E7D4-523A-3A66-C0AB45D072A9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8" name="TextBox 11">
            <a:extLst>
              <a:ext uri="{FF2B5EF4-FFF2-40B4-BE49-F238E27FC236}">
                <a16:creationId xmlns:a16="http://schemas.microsoft.com/office/drawing/2014/main" id="{2BF29DD4-5929-3277-C1C7-6154337184CA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0" name="TextBox 12">
            <a:extLst>
              <a:ext uri="{FF2B5EF4-FFF2-40B4-BE49-F238E27FC236}">
                <a16:creationId xmlns:a16="http://schemas.microsoft.com/office/drawing/2014/main" id="{C7FDE31C-FE6D-846A-EF1F-5834E3E8C2E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2" name="TextBox 13">
            <a:extLst>
              <a:ext uri="{FF2B5EF4-FFF2-40B4-BE49-F238E27FC236}">
                <a16:creationId xmlns:a16="http://schemas.microsoft.com/office/drawing/2014/main" id="{A0CAAF44-518F-C771-AECD-9171CD319B4C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TextBox 14">
            <a:extLst>
              <a:ext uri="{FF2B5EF4-FFF2-40B4-BE49-F238E27FC236}">
                <a16:creationId xmlns:a16="http://schemas.microsoft.com/office/drawing/2014/main" id="{FDA1E639-8507-014A-44A1-9D6D21B56306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6" name="TextBox 15">
            <a:extLst>
              <a:ext uri="{FF2B5EF4-FFF2-40B4-BE49-F238E27FC236}">
                <a16:creationId xmlns:a16="http://schemas.microsoft.com/office/drawing/2014/main" id="{4B243364-B905-4AEF-2571-8A01292EB749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4">
            <a:extLst>
              <a:ext uri="{FF2B5EF4-FFF2-40B4-BE49-F238E27FC236}">
                <a16:creationId xmlns:a16="http://schemas.microsoft.com/office/drawing/2014/main" id="{7EA07CEE-FC03-AFDF-E26B-CB14A60E8D4F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40" name="TextBox 5">
            <a:extLst>
              <a:ext uri="{FF2B5EF4-FFF2-40B4-BE49-F238E27FC236}">
                <a16:creationId xmlns:a16="http://schemas.microsoft.com/office/drawing/2014/main" id="{96CF344D-6B6B-56DE-33D6-44EC8DD9CC28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2" name="TextBox 6">
            <a:extLst>
              <a:ext uri="{FF2B5EF4-FFF2-40B4-BE49-F238E27FC236}">
                <a16:creationId xmlns:a16="http://schemas.microsoft.com/office/drawing/2014/main" id="{2D687C66-7663-1320-15CC-A49EF4C407D2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4" name="TextBox 7">
            <a:extLst>
              <a:ext uri="{FF2B5EF4-FFF2-40B4-BE49-F238E27FC236}">
                <a16:creationId xmlns:a16="http://schemas.microsoft.com/office/drawing/2014/main" id="{5C7C735B-043E-2F71-82F9-5A4575018C8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6" name="Rounded Rectangle 3">
            <a:extLst>
              <a:ext uri="{FF2B5EF4-FFF2-40B4-BE49-F238E27FC236}">
                <a16:creationId xmlns:a16="http://schemas.microsoft.com/office/drawing/2014/main" id="{CD6CE8FE-7008-F14B-8B37-3B92677FAD44}"/>
              </a:ext>
            </a:extLst>
          </p:cNvPr>
          <p:cNvSpPr>
            <a:spLocks noGrp="1"/>
          </p:cNvSpPr>
          <p:nvPr/>
        </p:nvSpPr>
        <p:spPr>
          <a:xfrm>
            <a:off x="57912" y="246176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8" name="TextBox 6">
            <a:extLst>
              <a:ext uri="{FF2B5EF4-FFF2-40B4-BE49-F238E27FC236}">
                <a16:creationId xmlns:a16="http://schemas.microsoft.com/office/drawing/2014/main" id="{E2B5C6AE-AF9E-169B-7273-FEEBD411EAC9}"/>
              </a:ext>
            </a:extLst>
          </p:cNvPr>
          <p:cNvSpPr>
            <a:spLocks noGrp="1"/>
          </p:cNvSpPr>
          <p:nvPr/>
        </p:nvSpPr>
        <p:spPr>
          <a:xfrm>
            <a:off x="91440" y="266090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0" name="TextBox 7">
            <a:extLst>
              <a:ext uri="{FF2B5EF4-FFF2-40B4-BE49-F238E27FC236}">
                <a16:creationId xmlns:a16="http://schemas.microsoft.com/office/drawing/2014/main" id="{BDAE578D-4E64-89B1-61D1-71643AFC6683}"/>
              </a:ext>
            </a:extLst>
          </p:cNvPr>
          <p:cNvSpPr>
            <a:spLocks noGrp="1"/>
          </p:cNvSpPr>
          <p:nvPr/>
        </p:nvSpPr>
        <p:spPr>
          <a:xfrm>
            <a:off x="243840" y="2667809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6880A2-0A5C-1B29-0A4C-951EE316C1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526499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4481-FC85-0D8C-B02D-CBE5E2F6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3943C5-AD12-0C76-8B05-36D25D5BBBB2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28E75-CEF4-62FD-85F0-166EDEE81EF1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Ⅳ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 분석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4058355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E104B5B-8E03-47BA-A2C3-50058B3B6727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9E5F0F-31C9-4D07-BC7E-398F58A31F2E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BC136-BF74-47FD-8D71-F4FA56D4D51F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B6A6E3-F36D-49EA-9F8B-7242DC7BD6C7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F3CD78-6666-433D-82CE-4E35D05A021D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7CE43B-EEE1-458A-A7DE-ACFB8A7A2F70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7165F2-6B81-43B4-B2CC-BC25E74D530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CABEFC-7D53-4EF7-A744-2CA319E1F165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D50C5-2C8B-4BA6-9264-0435335B8553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C48110-1444-4387-B90A-6F1EBDDCDDA1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EC9B83-551A-4979-8357-F432EECAE5CB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D6EA35-4631-43E0-9111-2BCDC49828A3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F16908-1FB1-4386-9E2D-9570D197D424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F634B-2518-482E-AB47-AC9DE8634208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8CC181-0DEE-4DB5-A6F0-D16F87C9855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ko-KR" altLang="en-US"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Novanta</a:t>
            </a:r>
            <a:r>
              <a:rPr lang="en-US" altLang="ko-KR"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(NOVT)</a:t>
            </a:r>
            <a:endParaRPr lang="ko-KR" altLang="en-US" sz="16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ECC9EE89-3E4A-43FD-873B-AF5493C9BE38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B002C45-A1DE-41CF-BC2E-3FC58D88DEAA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FCB93F-2FF4-41BC-8790-5504C12FED32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1085850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주: 1H26은 반기 수치, 괄호는 </a:t>
            </a:r>
            <a:r>
              <a:rPr lang="en-US" altLang="ko-KR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1H26 </a:t>
            </a: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증감률은 전년 동기 대비. 자동화 부문 이익은 로봇 포함. 인수 후 비중은 추정치  |  출처: [출처 / 기준일 입력]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16910C4-7A50-46F4-B548-BDA9524DB2BC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8BE901-D570-4A99-AB72-70B8FFF02655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76083" y="1524000"/>
            <a:ext cx="514731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6" name="투자포인트 1 카드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92298" y="25146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5" name="투자포인트 2 카드">
            <a:extLst>
              <a:ext uri="{FF2B5EF4-FFF2-40B4-BE49-F238E27FC236}">
                <a16:creationId xmlns:a16="http://schemas.microsoft.com/office/drawing/2014/main" id="{BF09DEF9-7CAF-4300-B78C-192797DFF48A}"/>
              </a:ext>
            </a:extLst>
          </p:cNvPr>
          <p:cNvSpPr>
            <a:spLocks noGrp="1"/>
          </p:cNvSpPr>
          <p:nvPr/>
        </p:nvSpPr>
        <p:spPr>
          <a:xfrm>
            <a:off x="892298" y="43053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45A2FF-D30B-41BF-905D-F961BF4637A8}"/>
              </a:ext>
            </a:extLst>
          </p:cNvPr>
          <p:cNvSpPr>
            <a:spLocks noGrp="1"/>
          </p:cNvSpPr>
          <p:nvPr/>
        </p:nvSpPr>
        <p:spPr>
          <a:xfrm>
            <a:off x="1170432" y="1673995"/>
            <a:ext cx="889000" cy="215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Novanta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7424F7-2644-4EEA-A27C-C223F6BAC26E}"/>
              </a:ext>
            </a:extLst>
          </p:cNvPr>
          <p:cNvSpPr>
            <a:spLocks noGrp="1"/>
          </p:cNvSpPr>
          <p:nvPr/>
        </p:nvSpPr>
        <p:spPr>
          <a:xfrm>
            <a:off x="1905000" y="1669760"/>
            <a:ext cx="24003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0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</a:t>
            </a:r>
            <a:r>
              <a:rPr sz="10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lang="en-US" sz="10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143.93 USD</a:t>
            </a:r>
            <a:endParaRPr sz="10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924E26-807D-4928-B4FD-638F3008DEB7}"/>
              </a:ext>
            </a:extLst>
          </p:cNvPr>
          <p:cNvSpPr>
            <a:spLocks noGrp="1"/>
          </p:cNvSpPr>
          <p:nvPr/>
        </p:nvSpPr>
        <p:spPr>
          <a:xfrm>
            <a:off x="1168400" y="1988730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D8559F-0873-45BE-A1CD-D8670131AA4F}"/>
              </a:ext>
            </a:extLst>
          </p:cNvPr>
          <p:cNvSpPr>
            <a:spLocks noGrp="1"/>
          </p:cNvSpPr>
          <p:nvPr/>
        </p:nvSpPr>
        <p:spPr>
          <a:xfrm>
            <a:off x="1981200" y="1884815"/>
            <a:ext cx="4236208" cy="6370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자회사 </a:t>
            </a:r>
            <a:r>
              <a:rPr lang="en-US" altLang="ko-KR" sz="78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ATI</a:t>
            </a:r>
            <a:r>
              <a:rPr lang="ko-KR" altLang="en-US" sz="78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에서 </a:t>
            </a:r>
            <a:r>
              <a:rPr lang="ko-KR" altLang="en-US" sz="780" b="0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관절 부품을 파는 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비중국 공급자</a:t>
            </a: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 </a:t>
            </a:r>
            <a:br>
              <a:rPr lang="en-US" altLang="ko-KR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수주는 늘고 있지만, 로봇은 아직 매출의 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3분의 1</a:t>
            </a: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이라 실적은 의료가 좌우</a:t>
            </a:r>
            <a:endParaRPr lang="en-US" altLang="ko-KR" sz="780" b="0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endParaRPr lang="en-US" altLang="ko-KR" sz="780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 </a:t>
            </a:r>
            <a:r>
              <a:rPr lang="ko-KR" altLang="en-US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노출은 제한적</a:t>
            </a:r>
            <a:br>
              <a:rPr lang="en-US" altLang="ko-KR" sz="780" b="0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endParaRPr lang="ko-KR" altLang="en-US" sz="780" b="0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5473FBAA-A2CF-4007-B03F-A57F9F21C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51720" y="1498600"/>
            <a:ext cx="1770380" cy="44704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06DE21-9127-4CAA-AF14-7036FA6B6BB3}"/>
              </a:ext>
            </a:extLst>
          </p:cNvPr>
          <p:cNvSpPr>
            <a:spLocks/>
          </p:cNvSpPr>
          <p:nvPr/>
        </p:nvSpPr>
        <p:spPr>
          <a:xfrm>
            <a:off x="10129520" y="1727200"/>
            <a:ext cx="1422400" cy="1778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DE171C-C91B-439C-8595-A9111BBB98CF}"/>
              </a:ext>
            </a:extLst>
          </p:cNvPr>
          <p:cNvSpPr>
            <a:spLocks/>
          </p:cNvSpPr>
          <p:nvPr/>
        </p:nvSpPr>
        <p:spPr>
          <a:xfrm>
            <a:off x="10129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0FC2E3-DE1E-46AC-8C73-06A1CCDE84C4}"/>
              </a:ext>
            </a:extLst>
          </p:cNvPr>
          <p:cNvSpPr>
            <a:spLocks/>
          </p:cNvSpPr>
          <p:nvPr/>
        </p:nvSpPr>
        <p:spPr>
          <a:xfrm>
            <a:off x="10129520" y="264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</a:t>
            </a:r>
            <a:r>
              <a:rPr lang="en-US" altLang="ko-KR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7.4</a:t>
            </a: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 </a:t>
            </a:r>
            <a:r>
              <a:rPr lang="en-US" altLang="ko-KR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($5.44</a:t>
            </a: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B)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212C63-32BA-449B-897C-AD0B8CFB5105}"/>
              </a:ext>
            </a:extLst>
          </p:cNvPr>
          <p:cNvSpPr>
            <a:spLocks/>
          </p:cNvSpPr>
          <p:nvPr/>
        </p:nvSpPr>
        <p:spPr>
          <a:xfrm>
            <a:off x="10129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8CBBC7-189C-449C-AD4C-75A7EB11B8C1}"/>
              </a:ext>
            </a:extLst>
          </p:cNvPr>
          <p:cNvSpPr>
            <a:spLocks/>
          </p:cNvSpPr>
          <p:nvPr/>
        </p:nvSpPr>
        <p:spPr>
          <a:xfrm>
            <a:off x="10129520" y="391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</a:t>
            </a:r>
            <a:r>
              <a:rPr lang="en-US" altLang="ko-KR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8.4</a:t>
            </a: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 </a:t>
            </a:r>
            <a:r>
              <a:rPr lang="en-US" altLang="ko-KR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($6.16</a:t>
            </a: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B)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23497C-689B-465C-8DBF-7AD1B83EFB81}"/>
              </a:ext>
            </a:extLst>
          </p:cNvPr>
          <p:cNvSpPr>
            <a:spLocks/>
          </p:cNvSpPr>
          <p:nvPr/>
        </p:nvSpPr>
        <p:spPr>
          <a:xfrm>
            <a:off x="10891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순부채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07C51A-ED77-4319-8109-A3A4A94FE1C9}"/>
              </a:ext>
            </a:extLst>
          </p:cNvPr>
          <p:cNvSpPr>
            <a:spLocks/>
          </p:cNvSpPr>
          <p:nvPr/>
        </p:nvSpPr>
        <p:spPr>
          <a:xfrm>
            <a:off x="10891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</a:t>
            </a:r>
            <a:r>
              <a:rPr lang="en-US" altLang="ko-KR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1.0</a:t>
            </a: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 </a:t>
            </a:r>
            <a:r>
              <a:rPr lang="en-US" altLang="ko-KR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($0.72</a:t>
            </a: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B)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321411-6B9A-45FD-BDB0-31D531F86B93}"/>
              </a:ext>
            </a:extLst>
          </p:cNvPr>
          <p:cNvSpPr>
            <a:spLocks/>
          </p:cNvSpPr>
          <p:nvPr/>
        </p:nvSpPr>
        <p:spPr>
          <a:xfrm>
            <a:off x="10891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B30C59-29F5-4375-81C7-DA1711351F07}"/>
              </a:ext>
            </a:extLst>
          </p:cNvPr>
          <p:cNvSpPr>
            <a:spLocks/>
          </p:cNvSpPr>
          <p:nvPr/>
        </p:nvSpPr>
        <p:spPr>
          <a:xfrm>
            <a:off x="10891520" y="2641600"/>
            <a:ext cx="830580" cy="2159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38.8x</a:t>
            </a:r>
            <a:br>
              <a:rPr lang="en-US" sz="1200" b="1" dirty="0"/>
            </a:b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(조정, 26E)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AE0C94-6885-4267-AC57-E01248924A41}"/>
              </a:ext>
            </a:extLst>
          </p:cNvPr>
          <p:cNvSpPr>
            <a:spLocks/>
          </p:cNvSpPr>
          <p:nvPr/>
        </p:nvSpPr>
        <p:spPr>
          <a:xfrm>
            <a:off x="10129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29AB2C-AF28-41C9-B3E8-F792EC3DE8D1}"/>
              </a:ext>
            </a:extLst>
          </p:cNvPr>
          <p:cNvSpPr>
            <a:spLocks/>
          </p:cNvSpPr>
          <p:nvPr/>
        </p:nvSpPr>
        <p:spPr>
          <a:xfrm>
            <a:off x="10129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3.4x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0B53C2-287A-4620-BDAD-3F0D6CCB8EFC}"/>
              </a:ext>
            </a:extLst>
          </p:cNvPr>
          <p:cNvSpPr>
            <a:spLocks/>
          </p:cNvSpPr>
          <p:nvPr/>
        </p:nvSpPr>
        <p:spPr>
          <a:xfrm>
            <a:off x="10891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CD1B825-5AF0-45C6-8198-C9EDA98A024E}"/>
              </a:ext>
            </a:extLst>
          </p:cNvPr>
          <p:cNvSpPr>
            <a:spLocks/>
          </p:cNvSpPr>
          <p:nvPr/>
        </p:nvSpPr>
        <p:spPr>
          <a:xfrm>
            <a:off x="10891520" y="3911599"/>
            <a:ext cx="830580" cy="284479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22.4x (</a:t>
            </a:r>
            <a:r>
              <a:rPr lang="ko-KR" alt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조정</a:t>
            </a:r>
            <a:r>
              <a:rPr lang="en-US" altLang="ko-KR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26</a:t>
            </a:r>
            <a:r>
              <a:rPr lang="en-US"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E)</a:t>
            </a:r>
            <a:endParaRPr sz="12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D893474-0847-4E66-86A1-995354F1C518}"/>
              </a:ext>
            </a:extLst>
          </p:cNvPr>
          <p:cNvSpPr>
            <a:spLocks noGrp="1"/>
          </p:cNvSpPr>
          <p:nvPr/>
        </p:nvSpPr>
        <p:spPr>
          <a:xfrm>
            <a:off x="6167116" y="14986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482330D-9AC4-4C01-BDDD-97FB20BB0E4E}"/>
              </a:ext>
            </a:extLst>
          </p:cNvPr>
          <p:cNvSpPr>
            <a:spLocks noGrp="1"/>
          </p:cNvSpPr>
          <p:nvPr/>
        </p:nvSpPr>
        <p:spPr>
          <a:xfrm>
            <a:off x="6420709" y="1727200"/>
            <a:ext cx="3142826" cy="177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 구성 · 인수 전후 / 공급 구조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4E37510-5A83-4A66-843A-F1B4168F29EC}"/>
              </a:ext>
            </a:extLst>
          </p:cNvPr>
          <p:cNvSpPr>
            <a:spLocks noGrp="1"/>
          </p:cNvSpPr>
          <p:nvPr/>
        </p:nvSpPr>
        <p:spPr>
          <a:xfrm>
            <a:off x="6167116" y="37973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25B6CFC-AD2F-47D1-9DD5-86742363DBB2}"/>
              </a:ext>
            </a:extLst>
          </p:cNvPr>
          <p:cNvSpPr>
            <a:spLocks noGrp="1"/>
          </p:cNvSpPr>
          <p:nvPr/>
        </p:nvSpPr>
        <p:spPr>
          <a:xfrm>
            <a:off x="6440216" y="4016755"/>
            <a:ext cx="314282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영업이익 · 회사 전체 vs 자동화 부문</a:t>
            </a:r>
            <a:r>
              <a:rPr lang="ko-KR" altLang="en-US"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  $M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4426B41-9778-44EB-A9A4-70F3E127FAD5}"/>
              </a:ext>
            </a:extLst>
          </p:cNvPr>
          <p:cNvSpPr>
            <a:spLocks noGrp="1"/>
          </p:cNvSpPr>
          <p:nvPr/>
        </p:nvSpPr>
        <p:spPr>
          <a:xfrm>
            <a:off x="6426200" y="2819400"/>
            <a:ext cx="990600" cy="7366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744DE81-B215-4160-AB9B-684AC5E899D7}"/>
              </a:ext>
            </a:extLst>
          </p:cNvPr>
          <p:cNvSpPr>
            <a:spLocks noGrp="1"/>
          </p:cNvSpPr>
          <p:nvPr/>
        </p:nvSpPr>
        <p:spPr>
          <a:xfrm>
            <a:off x="6451600" y="2870200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2E9C419-C421-462F-A84B-FDB8EF28528E}"/>
              </a:ext>
            </a:extLst>
          </p:cNvPr>
          <p:cNvSpPr>
            <a:spLocks noGrp="1"/>
          </p:cNvSpPr>
          <p:nvPr/>
        </p:nvSpPr>
        <p:spPr>
          <a:xfrm>
            <a:off x="6451600" y="3035300"/>
            <a:ext cx="939800" cy="482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C039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희토류 자석</a:t>
            </a:r>
            <a:br>
              <a:rPr lang="ko-KR" altLang="en-US" sz="650" b="1" dirty="0">
                <a:solidFill>
                  <a:srgbClr val="C039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1" dirty="0">
                <a:solidFill>
                  <a:srgbClr val="C039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(일부 중국산)</a:t>
            </a:r>
          </a:p>
          <a:p>
            <a:pPr algn="ctr">
              <a:buNone/>
            </a:pPr>
            <a:r>
              <a:rPr lang="ko-KR" altLang="en-US"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모터 등 일부 제품 소재</a:t>
            </a:r>
            <a:br>
              <a:rPr lang="ko-KR" altLang="en-US"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수출 허가 지연 중</a:t>
            </a:r>
          </a:p>
        </p:txBody>
      </p:sp>
      <p:sp>
        <p:nvSpPr>
          <p:cNvPr id="102" name="화살표: 오른쪽 101">
            <a:extLst>
              <a:ext uri="{FF2B5EF4-FFF2-40B4-BE49-F238E27FC236}">
                <a16:creationId xmlns:a16="http://schemas.microsoft.com/office/drawing/2014/main" id="{A24E4B3E-12A3-4E2A-B542-507A347AA79C}"/>
              </a:ext>
            </a:extLst>
          </p:cNvPr>
          <p:cNvSpPr>
            <a:spLocks noGrp="1"/>
          </p:cNvSpPr>
          <p:nvPr/>
        </p:nvSpPr>
        <p:spPr>
          <a:xfrm>
            <a:off x="7429500" y="3136900"/>
            <a:ext cx="114300" cy="10160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BB817147-398D-405D-9CCB-C4FD4E4D2923}"/>
              </a:ext>
            </a:extLst>
          </p:cNvPr>
          <p:cNvSpPr>
            <a:spLocks noGrp="1"/>
          </p:cNvSpPr>
          <p:nvPr/>
        </p:nvSpPr>
        <p:spPr>
          <a:xfrm>
            <a:off x="7556500" y="2819400"/>
            <a:ext cx="990600" cy="7366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FD679F3-290B-4961-AECF-5A92C791EF1D}"/>
              </a:ext>
            </a:extLst>
          </p:cNvPr>
          <p:cNvSpPr>
            <a:spLocks noGrp="1"/>
          </p:cNvSpPr>
          <p:nvPr/>
        </p:nvSpPr>
        <p:spPr>
          <a:xfrm>
            <a:off x="7581900" y="2870200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21A64DA-9F88-4CBB-96D7-50F57E680DC4}"/>
              </a:ext>
            </a:extLst>
          </p:cNvPr>
          <p:cNvSpPr>
            <a:spLocks noGrp="1"/>
          </p:cNvSpPr>
          <p:nvPr/>
        </p:nvSpPr>
        <p:spPr>
          <a:xfrm>
            <a:off x="7581900" y="3035300"/>
            <a:ext cx="939800" cy="482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센서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드라이브</a:t>
            </a:r>
            <a:b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모터</a:t>
            </a:r>
            <a:r>
              <a:rPr lang="en-US" altLang="ko-KR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엔코더</a:t>
            </a:r>
            <a:endParaRPr lang="ko-KR" altLang="en-US" sz="65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ctr">
              <a:buNone/>
            </a:pPr>
            <a:r>
              <a:rPr lang="ko-KR" altLang="en-US"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관절 부품 세트로 통합</a:t>
            </a:r>
          </a:p>
        </p:txBody>
      </p:sp>
      <p:sp>
        <p:nvSpPr>
          <p:cNvPr id="106" name="화살표: 오른쪽 105">
            <a:extLst>
              <a:ext uri="{FF2B5EF4-FFF2-40B4-BE49-F238E27FC236}">
                <a16:creationId xmlns:a16="http://schemas.microsoft.com/office/drawing/2014/main" id="{EA473AF5-2382-4A93-8C4D-4278AF259DF0}"/>
              </a:ext>
            </a:extLst>
          </p:cNvPr>
          <p:cNvSpPr>
            <a:spLocks noGrp="1"/>
          </p:cNvSpPr>
          <p:nvPr/>
        </p:nvSpPr>
        <p:spPr>
          <a:xfrm>
            <a:off x="8559800" y="3136900"/>
            <a:ext cx="114300" cy="10160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28CB4289-0AD9-4592-9217-27A199BBF131}"/>
              </a:ext>
            </a:extLst>
          </p:cNvPr>
          <p:cNvSpPr>
            <a:spLocks noGrp="1"/>
          </p:cNvSpPr>
          <p:nvPr/>
        </p:nvSpPr>
        <p:spPr>
          <a:xfrm>
            <a:off x="8686800" y="2819400"/>
            <a:ext cx="990600" cy="7366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4644F35-F29E-4303-BDC6-406B4DA1D539}"/>
              </a:ext>
            </a:extLst>
          </p:cNvPr>
          <p:cNvSpPr>
            <a:spLocks noGrp="1"/>
          </p:cNvSpPr>
          <p:nvPr/>
        </p:nvSpPr>
        <p:spPr>
          <a:xfrm>
            <a:off x="8712200" y="2870200"/>
            <a:ext cx="939800" cy="1397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rIns="0"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258C7C4-6F70-418D-A69B-9083E9252B0F}"/>
              </a:ext>
            </a:extLst>
          </p:cNvPr>
          <p:cNvSpPr>
            <a:spLocks noGrp="1"/>
          </p:cNvSpPr>
          <p:nvPr/>
        </p:nvSpPr>
        <p:spPr>
          <a:xfrm>
            <a:off x="8712200" y="3035300"/>
            <a:ext cx="939800" cy="482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0" r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부품을 사서 쓰는</a:t>
            </a:r>
            <a:b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OEM에 판매</a:t>
            </a:r>
          </a:p>
          <a:p>
            <a:pPr algn="ctr">
              <a:buNone/>
            </a:pPr>
            <a:r>
              <a:rPr lang="ko-KR" altLang="en-US"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의료기기</a:t>
            </a:r>
            <a:r>
              <a:rPr lang="en-US" altLang="ko-KR"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장비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BF9A4325-AD8B-E513-9EE0-4BDEBF198B0F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2" name="TextBox 6">
            <a:extLst>
              <a:ext uri="{FF2B5EF4-FFF2-40B4-BE49-F238E27FC236}">
                <a16:creationId xmlns:a16="http://schemas.microsoft.com/office/drawing/2014/main" id="{02A40508-6CB7-3DA7-7F84-8662C0E434D8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4" name="TextBox 7">
            <a:extLst>
              <a:ext uri="{FF2B5EF4-FFF2-40B4-BE49-F238E27FC236}">
                <a16:creationId xmlns:a16="http://schemas.microsoft.com/office/drawing/2014/main" id="{7E87ED52-E65B-7184-6567-AD202AF31C44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8">
            <a:extLst>
              <a:ext uri="{FF2B5EF4-FFF2-40B4-BE49-F238E27FC236}">
                <a16:creationId xmlns:a16="http://schemas.microsoft.com/office/drawing/2014/main" id="{8B99047B-3B0D-F154-7F36-7C8C59EC8F88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8" name="TextBox 9">
            <a:extLst>
              <a:ext uri="{FF2B5EF4-FFF2-40B4-BE49-F238E27FC236}">
                <a16:creationId xmlns:a16="http://schemas.microsoft.com/office/drawing/2014/main" id="{83532CD5-5771-227C-16BB-6E1DB36855E6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02EC8C4C-83BA-2134-8718-0DDAB7E96AD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FCF6BF5F-4FBA-EBE1-C966-33AF985FB4A3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C7423DC4-F86B-0AD1-DBFB-2EE0110E1E14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BB7DFAC7-69AA-6C58-09CA-2553C8E41085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TextBox 4">
            <a:extLst>
              <a:ext uri="{FF2B5EF4-FFF2-40B4-BE49-F238E27FC236}">
                <a16:creationId xmlns:a16="http://schemas.microsoft.com/office/drawing/2014/main" id="{4E3D0EF3-4FA3-F4E2-2ECD-1BE450FEA21E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8" name="TextBox 5">
            <a:extLst>
              <a:ext uri="{FF2B5EF4-FFF2-40B4-BE49-F238E27FC236}">
                <a16:creationId xmlns:a16="http://schemas.microsoft.com/office/drawing/2014/main" id="{BD10E8CD-C269-6388-1ED5-590649878E3C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0" name="Rounded Rectangle 3">
            <a:extLst>
              <a:ext uri="{FF2B5EF4-FFF2-40B4-BE49-F238E27FC236}">
                <a16:creationId xmlns:a16="http://schemas.microsoft.com/office/drawing/2014/main" id="{8845BE3C-E570-FFE3-A89C-807667DEBE33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2" name="TextBox 6">
            <a:extLst>
              <a:ext uri="{FF2B5EF4-FFF2-40B4-BE49-F238E27FC236}">
                <a16:creationId xmlns:a16="http://schemas.microsoft.com/office/drawing/2014/main" id="{0F46A26F-C9BE-CB93-BBB9-959834963E9D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4" name="TextBox 7">
            <a:extLst>
              <a:ext uri="{FF2B5EF4-FFF2-40B4-BE49-F238E27FC236}">
                <a16:creationId xmlns:a16="http://schemas.microsoft.com/office/drawing/2014/main" id="{3AA4332D-A656-3A15-716C-45C10CB3521D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F79E73-452A-5AB5-C80F-0B794B264E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Valuation divider">
            <a:extLst>
              <a:ext uri="{FF2B5EF4-FFF2-40B4-BE49-F238E27FC236}">
                <a16:creationId xmlns:a16="http://schemas.microsoft.com/office/drawing/2014/main" id="{7F57D27E-B751-4181-A36A-E74396AFDB09}"/>
              </a:ext>
            </a:extLst>
          </p:cNvPr>
          <p:cNvSpPr/>
          <p:nvPr/>
        </p:nvSpPr>
        <p:spPr>
          <a:xfrm>
            <a:off x="10129520" y="330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Valuation divider">
            <a:extLst>
              <a:ext uri="{FF2B5EF4-FFF2-40B4-BE49-F238E27FC236}">
                <a16:creationId xmlns:a16="http://schemas.microsoft.com/office/drawing/2014/main" id="{5754821B-DDBA-4F2A-B5F4-295ED84CE94C}"/>
              </a:ext>
            </a:extLst>
          </p:cNvPr>
          <p:cNvSpPr/>
          <p:nvPr/>
        </p:nvSpPr>
        <p:spPr>
          <a:xfrm>
            <a:off x="10129520" y="457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625AB1-07A4-4897-8BD3-E749FC768D20}"/>
              </a:ext>
            </a:extLst>
          </p:cNvPr>
          <p:cNvSpPr>
            <a:spLocks noGrp="1"/>
          </p:cNvSpPr>
          <p:nvPr/>
        </p:nvSpPr>
        <p:spPr>
          <a:xfrm>
            <a:off x="1168400" y="26670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1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  중국 밖 시장이 커질수록 수혜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A09938-6A9F-4659-8D44-5A35DFE6BC83}"/>
              </a:ext>
            </a:extLst>
          </p:cNvPr>
          <p:cNvSpPr>
            <a:spLocks noGrp="1"/>
          </p:cNvSpPr>
          <p:nvPr/>
        </p:nvSpPr>
        <p:spPr>
          <a:xfrm>
            <a:off x="1168400" y="2870200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ATI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는 로봇 힘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토크 센서의 대표 브랜드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드라이브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모터</a:t>
            </a:r>
            <a:r>
              <a:rPr lang="en-US" altLang="ko-KR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엔코더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와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묶어 관절 부품 세트로 판매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수술로봇 납품 경험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NVIDIA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안전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인증랩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합류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(26.3), ISO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안전 표준 참여 </a:t>
            </a:r>
            <a:b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→ </a:t>
            </a:r>
            <a:r>
              <a:rPr lang="ko-KR" altLang="en-US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신뢰성 검증이 필요한 고객에게 강점</a:t>
            </a:r>
            <a:endParaRPr lang="en-US" altLang="ko-KR" sz="780" b="1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중국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시장은 가격 경쟁에서 밀림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중국 업체 상위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곳이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92.8%, ATI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가격은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2~3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배 이상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미국은 중국산 로봇 규제를 강화하는 중</a:t>
            </a:r>
            <a:r>
              <a:rPr lang="ko-KR" altLang="en-US" sz="78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→수혜 대상은 부품을 외부에서 사는 </a:t>
            </a:r>
            <a:r>
              <a:rPr lang="ko-KR" altLang="en-US" sz="780" b="1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비중국</a:t>
            </a:r>
            <a:r>
              <a:rPr lang="ko-KR" altLang="en-US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완성체</a:t>
            </a:r>
            <a:endParaRPr lang="ko-KR" altLang="en-US" sz="780" b="1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6BA3F8-9204-4902-B094-4A331E68F8E8}"/>
              </a:ext>
            </a:extLst>
          </p:cNvPr>
          <p:cNvSpPr>
            <a:spLocks noGrp="1"/>
          </p:cNvSpPr>
          <p:nvPr/>
        </p:nvSpPr>
        <p:spPr>
          <a:xfrm>
            <a:off x="1168400" y="44577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2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  로봇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자동화 수주 증가 </a:t>
            </a:r>
            <a:r>
              <a:rPr lang="en-US" altLang="ko-KR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 </a:t>
            </a:r>
            <a:r>
              <a:rPr lang="ko-KR" altLang="en-US"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첫 주문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218C94-28DE-46AC-BE53-A3C0340E2C92}"/>
              </a:ext>
            </a:extLst>
          </p:cNvPr>
          <p:cNvSpPr>
            <a:spLocks noGrp="1"/>
          </p:cNvSpPr>
          <p:nvPr/>
        </p:nvSpPr>
        <p:spPr>
          <a:xfrm>
            <a:off x="1168400" y="4660900"/>
            <a:ext cx="45720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지금 단계에서는 매출보다 수주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·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 수가 먼저 움직임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매출은 별도로 공시되지 않아 수주와 경영진 설명으로 판단</a:t>
            </a:r>
            <a:endParaRPr lang="en-US" altLang="ko-KR" sz="78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로봇·자동화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매출 </a:t>
            </a:r>
            <a:r>
              <a:rPr lang="ko-KR" altLang="en-US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+13.5%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자동화 부문 수주 </a:t>
            </a:r>
            <a:r>
              <a:rPr lang="ko-KR" altLang="en-US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+18%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B/B </a:t>
            </a:r>
            <a:r>
              <a:rPr lang="ko-KR" altLang="en-US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1.1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수백 대 규모 학습센터용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서보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드라이브 첫 의미 있는 주문 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(26.8). </a:t>
            </a:r>
            <a:b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 설명으로는 실적 영향이 아직 미미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경영진</a:t>
            </a:r>
            <a:r>
              <a:rPr lang="en-US" altLang="ko-KR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</a:t>
            </a:r>
            <a:r>
              <a:rPr lang="ko-KR" altLang="en-US" sz="78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휴머노이드의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의미 있는 매출은 </a:t>
            </a:r>
            <a:r>
              <a:rPr lang="en-US" altLang="ko-KR" sz="78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2027</a:t>
            </a:r>
            <a:r>
              <a:rPr lang="ko-KR" altLang="en-US"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년부터 예상</a:t>
            </a:r>
          </a:p>
        </p:txBody>
      </p:sp>
      <p:sp>
        <p:nvSpPr>
          <p:cNvPr id="300" name="TP1 결론 300"/>
          <p:cNvSpPr/>
          <p:nvPr/>
        </p:nvSpPr>
        <p:spPr>
          <a:xfrm>
            <a:off x="1066800" y="3784600"/>
            <a:ext cx="4791710" cy="304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검증된 부품 세트 </a:t>
            </a:r>
            <a:r>
              <a:rPr lang="en-US" altLang="ko-KR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+ 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중국 공급망 </a:t>
            </a:r>
            <a:r>
              <a:rPr lang="ko-KR" altLang="en-US"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비의존</a:t>
            </a: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부품을 사서 쓰는 중국 밖 완성체가 늘수록 수혜</a:t>
            </a:r>
          </a:p>
        </p:txBody>
      </p:sp>
      <p:sp>
        <p:nvSpPr>
          <p:cNvPr id="301" name="TP2 결론 301"/>
          <p:cNvSpPr/>
          <p:nvPr/>
        </p:nvSpPr>
        <p:spPr>
          <a:xfrm>
            <a:off x="1066800" y="5575300"/>
            <a:ext cx="4791710" cy="304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선행지표가 켜지는 중  →  수주가 매출로 넘어오면 로봇 비중과 이익이 함께 확대</a:t>
            </a:r>
          </a:p>
        </p:txBody>
      </p:sp>
      <p:sp>
        <p:nvSpPr>
          <p:cNvPr id="302" name="Row label 302"/>
          <p:cNvSpPr/>
          <p:nvPr/>
        </p:nvSpPr>
        <p:spPr>
          <a:xfrm>
            <a:off x="6426200" y="1930400"/>
            <a:ext cx="406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700" b="1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2025</a:t>
            </a:r>
          </a:p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제품군</a:t>
            </a:r>
          </a:p>
        </p:txBody>
      </p:sp>
      <p:sp>
        <p:nvSpPr>
          <p:cNvPr id="303" name="Row label 303"/>
          <p:cNvSpPr/>
          <p:nvPr/>
        </p:nvSpPr>
        <p:spPr>
          <a:xfrm>
            <a:off x="6426200" y="2235200"/>
            <a:ext cx="406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700" b="1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인수 후</a:t>
            </a:r>
          </a:p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최종시장</a:t>
            </a:r>
          </a:p>
        </p:txBody>
      </p:sp>
      <p:sp>
        <p:nvSpPr>
          <p:cNvPr id="304" name="Segment 304"/>
          <p:cNvSpPr/>
          <p:nvPr/>
        </p:nvSpPr>
        <p:spPr>
          <a:xfrm>
            <a:off x="6832600" y="1955800"/>
            <a:ext cx="1182370" cy="215900"/>
          </a:xfrm>
          <a:prstGeom prst="rect">
            <a:avLst/>
          </a:prstGeom>
          <a:solidFill>
            <a:srgbClr val="AEC4D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의료 제품 49%</a:t>
            </a:r>
          </a:p>
        </p:txBody>
      </p:sp>
      <p:sp>
        <p:nvSpPr>
          <p:cNvPr id="305" name="Segment 305"/>
          <p:cNvSpPr/>
          <p:nvPr/>
        </p:nvSpPr>
        <p:spPr>
          <a:xfrm>
            <a:off x="8014970" y="1955800"/>
            <a:ext cx="772160" cy="21590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로봇·자동화 32%</a:t>
            </a:r>
          </a:p>
        </p:txBody>
      </p:sp>
      <p:sp>
        <p:nvSpPr>
          <p:cNvPr id="306" name="Segment 306"/>
          <p:cNvSpPr/>
          <p:nvPr/>
        </p:nvSpPr>
        <p:spPr>
          <a:xfrm>
            <a:off x="8787130" y="1955800"/>
            <a:ext cx="458470" cy="2159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07" name="Segment 307"/>
          <p:cNvSpPr/>
          <p:nvPr/>
        </p:nvSpPr>
        <p:spPr>
          <a:xfrm>
            <a:off x="6832600" y="2260600"/>
            <a:ext cx="1447800" cy="215900"/>
          </a:xfrm>
          <a:prstGeom prst="rect">
            <a:avLst/>
          </a:prstGeom>
          <a:solidFill>
            <a:srgbClr val="AEC4D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의료 약 60%</a:t>
            </a:r>
          </a:p>
        </p:txBody>
      </p:sp>
      <p:sp>
        <p:nvSpPr>
          <p:cNvPr id="308" name="Segment 308"/>
          <p:cNvSpPr/>
          <p:nvPr/>
        </p:nvSpPr>
        <p:spPr>
          <a:xfrm>
            <a:off x="8280400" y="2260600"/>
            <a:ext cx="965200" cy="215900"/>
          </a:xfrm>
          <a:prstGeom prst="rect">
            <a:avLst/>
          </a:prstGeom>
          <a:solidFill>
            <a:srgbClr val="4785C7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65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산업 약 40%</a:t>
            </a:r>
          </a:p>
        </p:txBody>
      </p:sp>
      <p:sp>
        <p:nvSpPr>
          <p:cNvPr id="309" name="Bar note 309"/>
          <p:cNvSpPr/>
          <p:nvPr/>
        </p:nvSpPr>
        <p:spPr>
          <a:xfrm>
            <a:off x="6426200" y="2514600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제품군과 최종시장은 기준이 다름. 수술로봇용 모션 부품은 의료 시장으로 분류. </a:t>
            </a:r>
            <a:br>
              <a:rPr lang="en-US" altLang="ko-KR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endParaRPr lang="ko-KR" altLang="en-US" sz="65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1" name="Seg label 정밀"/>
          <p:cNvSpPr/>
          <p:nvPr/>
        </p:nvSpPr>
        <p:spPr>
          <a:xfrm>
            <a:off x="9296400" y="1930400"/>
            <a:ext cx="355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정밀제조</a:t>
            </a:r>
            <a:b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19%</a:t>
            </a:r>
          </a:p>
        </p:txBody>
      </p:sp>
      <p:sp>
        <p:nvSpPr>
          <p:cNvPr id="320" name="Bar note 2025"/>
          <p:cNvSpPr/>
          <p:nvPr/>
        </p:nvSpPr>
        <p:spPr>
          <a:xfrm>
            <a:off x="9296400" y="2235200"/>
            <a:ext cx="355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2025년</a:t>
            </a:r>
            <a:b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53%</a:t>
            </a:r>
          </a:p>
        </p:txBody>
      </p:sp>
      <p:sp>
        <p:nvSpPr>
          <p:cNvPr id="310" name="1H26 panel 310"/>
          <p:cNvSpPr/>
          <p:nvPr/>
        </p:nvSpPr>
        <p:spPr>
          <a:xfrm>
            <a:off x="8630325" y="4178300"/>
            <a:ext cx="863600" cy="13208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ko-KR" dirty="0"/>
          </a:p>
        </p:txBody>
      </p:sp>
      <p:sp>
        <p:nvSpPr>
          <p:cNvPr id="311" name="1H26 t 311"/>
          <p:cNvSpPr/>
          <p:nvPr/>
        </p:nvSpPr>
        <p:spPr>
          <a:xfrm>
            <a:off x="8706525" y="4254500"/>
            <a:ext cx="736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1H26</a:t>
            </a:r>
          </a:p>
        </p:txBody>
      </p:sp>
      <p:sp>
        <p:nvSpPr>
          <p:cNvPr id="312" name="1H26 s 312"/>
          <p:cNvSpPr/>
          <p:nvPr/>
        </p:nvSpPr>
        <p:spPr>
          <a:xfrm>
            <a:off x="9011760" y="4249815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r>
              <a:rPr lang="ko-KR" altLang="en-US" sz="8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전년 대비</a:t>
            </a:r>
          </a:p>
          <a:p>
            <a:endParaRPr lang="ko-KR" altLang="en-US" sz="80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13" name="1H26 a 313"/>
          <p:cNvSpPr/>
          <p:nvPr/>
        </p:nvSpPr>
        <p:spPr>
          <a:xfrm>
            <a:off x="8706525" y="51181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 전체</a:t>
            </a:r>
          </a:p>
        </p:txBody>
      </p:sp>
      <p:sp>
        <p:nvSpPr>
          <p:cNvPr id="314" name="1H26 av 314"/>
          <p:cNvSpPr/>
          <p:nvPr/>
        </p:nvSpPr>
        <p:spPr>
          <a:xfrm>
            <a:off x="8706525" y="52705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900" b="1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45.6   </a:t>
            </a:r>
            <a:r>
              <a:rPr lang="ko-KR" altLang="en-US"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▼ −4%</a:t>
            </a:r>
          </a:p>
        </p:txBody>
      </p:sp>
      <p:sp>
        <p:nvSpPr>
          <p:cNvPr id="315" name="1H26 b 315"/>
          <p:cNvSpPr/>
          <p:nvPr/>
        </p:nvSpPr>
        <p:spPr>
          <a:xfrm>
            <a:off x="8706525" y="4660900"/>
            <a:ext cx="7366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650" b="0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자동화 부문</a:t>
            </a:r>
          </a:p>
        </p:txBody>
      </p:sp>
      <p:sp>
        <p:nvSpPr>
          <p:cNvPr id="316" name="1H26 bv 316"/>
          <p:cNvSpPr/>
          <p:nvPr/>
        </p:nvSpPr>
        <p:spPr>
          <a:xfrm>
            <a:off x="8706525" y="48133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9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67.7   </a:t>
            </a:r>
            <a:r>
              <a:rPr lang="ko-KR" altLang="en-US" sz="700" b="1" dirty="0">
                <a:solidFill>
                  <a:srgbClr val="C0392B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▲ +16%</a:t>
            </a:r>
          </a:p>
        </p:txBody>
      </p:sp>
      <p:graphicFrame>
        <p:nvGraphicFramePr>
          <p:cNvPr id="317" name="Chart"/>
          <p:cNvGraphicFramePr/>
          <p:nvPr/>
        </p:nvGraphicFramePr>
        <p:xfrm>
          <a:off x="6273800" y="4241800"/>
          <a:ext cx="2514600" cy="132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2F864D8-9275-1D74-EEB2-3CD1932C2910}"/>
              </a:ext>
            </a:extLst>
          </p:cNvPr>
          <p:cNvCxnSpPr>
            <a:cxnSpLocks/>
          </p:cNvCxnSpPr>
          <p:nvPr/>
        </p:nvCxnSpPr>
        <p:spPr>
          <a:xfrm>
            <a:off x="3895344" y="5003800"/>
            <a:ext cx="329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FB9DBA-E770-05CE-183A-2ADF63D1A7E8}"/>
              </a:ext>
            </a:extLst>
          </p:cNvPr>
          <p:cNvSpPr txBox="1"/>
          <p:nvPr/>
        </p:nvSpPr>
        <p:spPr>
          <a:xfrm>
            <a:off x="4167959" y="4897617"/>
            <a:ext cx="4795242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80" dirty="0">
                <a:latin typeface="Noto Sans KR" panose="020B0200000000000000" pitchFamily="50" charset="-127"/>
                <a:ea typeface="Noto Sans KR" panose="020B0200000000000000" pitchFamily="50" charset="-127"/>
              </a:rPr>
              <a:t>B/B=</a:t>
            </a:r>
            <a:r>
              <a:rPr lang="ko-KR" altLang="ko-KR" sz="78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수주/매출</a:t>
            </a:r>
            <a:r>
              <a:rPr lang="en-US" altLang="ko-KR" sz="780" dirty="0">
                <a:latin typeface="Noto Sans KR" panose="020B0200000000000000" pitchFamily="50" charset="-127"/>
                <a:ea typeface="Noto Sans KR" panose="020B0200000000000000" pitchFamily="50" charset="-127"/>
              </a:rPr>
              <a:t>;</a:t>
            </a:r>
            <a:r>
              <a:rPr lang="ko-KR" altLang="ko-KR" sz="78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1 이상 = 주문이 쌓이는 중</a:t>
            </a:r>
            <a:endParaRPr lang="ko-KR" altLang="en-US" dirty="0"/>
          </a:p>
        </p:txBody>
      </p:sp>
      <p:sp>
        <p:nvSpPr>
          <p:cNvPr id="330" name="Chart takeaway 330"/>
          <p:cNvSpPr/>
          <p:nvPr/>
        </p:nvSpPr>
        <p:spPr>
          <a:xfrm>
            <a:off x="6350000" y="5556250"/>
            <a:ext cx="3302000" cy="3302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txBody>
          <a:bodyPr wrap="square" lIns="101600" tIns="0" rIns="101600" bIns="0" anchor="ctr">
            <a:noAutofit/>
          </a:bodyPr>
          <a:lstStyle/>
          <a:p>
            <a:pPr algn="l">
              <a:buNone/>
            </a:pPr>
            <a:r>
              <a:rPr lang="ko-KR" altLang="en-US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로봇 쪽 성장은 숫자로 확인되지만,</a:t>
            </a:r>
            <a:br>
              <a:rPr lang="ko-KR" altLang="en-US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</a:br>
            <a:r>
              <a:rPr lang="ko-KR" altLang="en-US"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본사 비용 등에 가려 회사 전체 실적에는 아직 드러나지 않는다.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16AC4-6208-574B-B576-3E8FCA6E9CD4}"/>
              </a:ext>
            </a:extLst>
          </p:cNvPr>
          <p:cNvSpPr txBox="1"/>
          <p:nvPr/>
        </p:nvSpPr>
        <p:spPr>
          <a:xfrm>
            <a:off x="892298" y="903349"/>
            <a:ext cx="6100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Nasdaq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4311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DF7B-AF8C-87E6-BC58-77508632B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FC0B92D-8315-9B85-A44F-BF5142423276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CC97E4-D398-5062-A241-1119EBC73A0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136749-BF4E-8DF1-8CAF-B90088DDFD2E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7BE602-2B47-D773-0838-674F47F5CF36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C55594-9F92-B5F9-276D-047BE9511420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8B83F5-1CDD-11D3-23E5-50E184D0B094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271828-8AD3-ACD7-8F6B-ED7AECE6867A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722169-86DB-6358-9A1F-E613D2F554A2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532748-1C7E-03A1-A854-A25881EC95F3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86E79E-707F-A41A-BE3D-FA8ECBA27D31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94224F-D65B-AF12-13A9-EFBFEE553696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3F8A86-39DE-8584-9525-3ECD6FAE722C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3B2FA2-F968-55FC-6F65-C721226BB661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74000F-8344-F830-A069-C22D4574956B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5967ED-B937-D5F9-A15C-2A800CA7012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사업구조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65C81002-6E6E-5654-B200-0702E5821E00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EB5CDC8-AB15-00A0-6AA2-A6A97D18A091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E49955-055C-7BED-C339-11470A78A749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02DB9B6-CFE4-0F2D-F4C7-C0897E246873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BB0BB7-100E-5E04-264E-70AFF4E770EC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A70EC97-2E3E-2BC0-01D2-38B85B8F801D}"/>
              </a:ext>
            </a:extLst>
          </p:cNvPr>
          <p:cNvSpPr>
            <a:spLocks noGrp="1"/>
          </p:cNvSpPr>
          <p:nvPr/>
        </p:nvSpPr>
        <p:spPr>
          <a:xfrm>
            <a:off x="892298" y="1498600"/>
            <a:ext cx="514731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6" name="투자포인트 1 카드">
            <a:extLst>
              <a:ext uri="{FF2B5EF4-FFF2-40B4-BE49-F238E27FC236}">
                <a16:creationId xmlns:a16="http://schemas.microsoft.com/office/drawing/2014/main" id="{2E865B38-89B5-EAE0-D8EB-7DBB7A8FAAF9}"/>
              </a:ext>
            </a:extLst>
          </p:cNvPr>
          <p:cNvSpPr>
            <a:spLocks noGrp="1"/>
          </p:cNvSpPr>
          <p:nvPr/>
        </p:nvSpPr>
        <p:spPr>
          <a:xfrm>
            <a:off x="892298" y="25146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5" name="투자포인트 2 카드">
            <a:extLst>
              <a:ext uri="{FF2B5EF4-FFF2-40B4-BE49-F238E27FC236}">
                <a16:creationId xmlns:a16="http://schemas.microsoft.com/office/drawing/2014/main" id="{B7762CDD-126A-8E46-DA85-DFA5FED43821}"/>
              </a:ext>
            </a:extLst>
          </p:cNvPr>
          <p:cNvSpPr>
            <a:spLocks noGrp="1"/>
          </p:cNvSpPr>
          <p:nvPr/>
        </p:nvSpPr>
        <p:spPr>
          <a:xfrm>
            <a:off x="892298" y="4305300"/>
            <a:ext cx="5147310" cy="1663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60AFE6-B9E0-B220-6A76-690B4224B76D}"/>
              </a:ext>
            </a:extLst>
          </p:cNvPr>
          <p:cNvSpPr>
            <a:spLocks noGrp="1"/>
          </p:cNvSpPr>
          <p:nvPr/>
        </p:nvSpPr>
        <p:spPr>
          <a:xfrm>
            <a:off x="1170432" y="1673995"/>
            <a:ext cx="118872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F2C1E9-C2B9-3B6D-A7A7-45A6CAA22CEA}"/>
              </a:ext>
            </a:extLst>
          </p:cNvPr>
          <p:cNvSpPr>
            <a:spLocks noGrp="1"/>
          </p:cNvSpPr>
          <p:nvPr/>
        </p:nvSpPr>
        <p:spPr>
          <a:xfrm>
            <a:off x="1654048" y="1669760"/>
            <a:ext cx="1089152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0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</a:t>
            </a:r>
            <a:r>
              <a:rPr sz="10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₩00,000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22D686-460D-E059-FD83-32CECB7E5B4C}"/>
              </a:ext>
            </a:extLst>
          </p:cNvPr>
          <p:cNvSpPr>
            <a:spLocks noGrp="1"/>
          </p:cNvSpPr>
          <p:nvPr/>
        </p:nvSpPr>
        <p:spPr>
          <a:xfrm>
            <a:off x="1168400" y="1988730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35CAC1-C113-6D61-F7E4-80DE4299B2D0}"/>
              </a:ext>
            </a:extLst>
          </p:cNvPr>
          <p:cNvSpPr>
            <a:spLocks noGrp="1"/>
          </p:cNvSpPr>
          <p:nvPr/>
        </p:nvSpPr>
        <p:spPr>
          <a:xfrm>
            <a:off x="1975104" y="1970442"/>
            <a:ext cx="3594100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무엇으로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돈을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벌고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1문장]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1D67D6B-1374-C1B9-7080-B79E15FBF7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51720" y="1498600"/>
            <a:ext cx="1770380" cy="44704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B55A5B-C9BA-1DE9-7069-5D19A93F99B0}"/>
              </a:ext>
            </a:extLst>
          </p:cNvPr>
          <p:cNvSpPr>
            <a:spLocks/>
          </p:cNvSpPr>
          <p:nvPr/>
        </p:nvSpPr>
        <p:spPr>
          <a:xfrm>
            <a:off x="10129520" y="1727200"/>
            <a:ext cx="1422400" cy="1778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F459E3-D07F-5FE1-37CE-06194CB58457}"/>
              </a:ext>
            </a:extLst>
          </p:cNvPr>
          <p:cNvSpPr>
            <a:spLocks/>
          </p:cNvSpPr>
          <p:nvPr/>
        </p:nvSpPr>
        <p:spPr>
          <a:xfrm>
            <a:off x="10129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681F92-F7B8-91E9-20CA-DC4DF1980D4B}"/>
              </a:ext>
            </a:extLst>
          </p:cNvPr>
          <p:cNvSpPr>
            <a:spLocks/>
          </p:cNvSpPr>
          <p:nvPr/>
        </p:nvSpPr>
        <p:spPr>
          <a:xfrm>
            <a:off x="10129520" y="264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43815B-FCAD-8569-B451-BC78E10989A9}"/>
              </a:ext>
            </a:extLst>
          </p:cNvPr>
          <p:cNvSpPr>
            <a:spLocks/>
          </p:cNvSpPr>
          <p:nvPr/>
        </p:nvSpPr>
        <p:spPr>
          <a:xfrm>
            <a:off x="10129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BA1BC8-0C3A-61FA-038D-FCAD329E0038}"/>
              </a:ext>
            </a:extLst>
          </p:cNvPr>
          <p:cNvSpPr>
            <a:spLocks/>
          </p:cNvSpPr>
          <p:nvPr/>
        </p:nvSpPr>
        <p:spPr>
          <a:xfrm>
            <a:off x="10129520" y="391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5E3DA1F-B5FA-6D16-DB74-E2B14150CAF1}"/>
              </a:ext>
            </a:extLst>
          </p:cNvPr>
          <p:cNvSpPr>
            <a:spLocks/>
          </p:cNvSpPr>
          <p:nvPr/>
        </p:nvSpPr>
        <p:spPr>
          <a:xfrm>
            <a:off x="10891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순현금</a:t>
            </a: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90" dirty="0" err="1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부채</a:t>
            </a:r>
            <a:endParaRPr sz="790" dirty="0">
              <a:solidFill>
                <a:srgbClr val="4A5563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B5EA19-0329-7C23-D530-4BFB5728D329}"/>
              </a:ext>
            </a:extLst>
          </p:cNvPr>
          <p:cNvSpPr>
            <a:spLocks/>
          </p:cNvSpPr>
          <p:nvPr/>
        </p:nvSpPr>
        <p:spPr>
          <a:xfrm>
            <a:off x="10891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410479-694F-8FB4-78BD-AB10C6D6DED8}"/>
              </a:ext>
            </a:extLst>
          </p:cNvPr>
          <p:cNvSpPr>
            <a:spLocks/>
          </p:cNvSpPr>
          <p:nvPr/>
        </p:nvSpPr>
        <p:spPr>
          <a:xfrm>
            <a:off x="10891520" y="246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0B347E-7EAB-2D49-0412-D91D12462922}"/>
              </a:ext>
            </a:extLst>
          </p:cNvPr>
          <p:cNvSpPr>
            <a:spLocks/>
          </p:cNvSpPr>
          <p:nvPr/>
        </p:nvSpPr>
        <p:spPr>
          <a:xfrm>
            <a:off x="10891520" y="264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1AC17A-8804-6CCE-AA1B-DDBD98B39D83}"/>
              </a:ext>
            </a:extLst>
          </p:cNvPr>
          <p:cNvSpPr>
            <a:spLocks/>
          </p:cNvSpPr>
          <p:nvPr/>
        </p:nvSpPr>
        <p:spPr>
          <a:xfrm>
            <a:off x="10129520" y="500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B5805C-1808-F7CB-011B-23C38022160D}"/>
              </a:ext>
            </a:extLst>
          </p:cNvPr>
          <p:cNvSpPr>
            <a:spLocks/>
          </p:cNvSpPr>
          <p:nvPr/>
        </p:nvSpPr>
        <p:spPr>
          <a:xfrm>
            <a:off x="10129520" y="518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0.0x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A38796-25BA-D149-CA58-0F3ECB004398}"/>
              </a:ext>
            </a:extLst>
          </p:cNvPr>
          <p:cNvSpPr>
            <a:spLocks/>
          </p:cNvSpPr>
          <p:nvPr/>
        </p:nvSpPr>
        <p:spPr>
          <a:xfrm>
            <a:off x="10891520" y="3733800"/>
            <a:ext cx="685800" cy="1524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790" dirty="0">
                <a:solidFill>
                  <a:srgbClr val="4A5563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89E1EE-324F-D065-0803-2EB805776ECC}"/>
              </a:ext>
            </a:extLst>
          </p:cNvPr>
          <p:cNvSpPr>
            <a:spLocks/>
          </p:cNvSpPr>
          <p:nvPr/>
        </p:nvSpPr>
        <p:spPr>
          <a:xfrm>
            <a:off x="10891520" y="3911600"/>
            <a:ext cx="685800" cy="228600"/>
          </a:xfrm>
          <a:prstGeom prst="rect">
            <a:avLst/>
          </a:prstGeom>
          <a:noFill/>
        </p:spPr>
        <p:txBody>
          <a:bodyPr wrap="square" lIns="18288" tIns="18288" rIns="18288" bIns="18288" anchor="t" anchorCtr="0">
            <a:noAutofit/>
          </a:bodyPr>
          <a:lstStyle/>
          <a:p>
            <a:pPr>
              <a:buNone/>
            </a:pP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B3D3F200-C5C8-D00B-45D5-6E24408F3688}"/>
              </a:ext>
            </a:extLst>
          </p:cNvPr>
          <p:cNvSpPr>
            <a:spLocks noGrp="1"/>
          </p:cNvSpPr>
          <p:nvPr/>
        </p:nvSpPr>
        <p:spPr>
          <a:xfrm>
            <a:off x="6167116" y="14986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050FD7-C862-BF70-21F0-793B5964B398}"/>
              </a:ext>
            </a:extLst>
          </p:cNvPr>
          <p:cNvSpPr>
            <a:spLocks noGrp="1"/>
          </p:cNvSpPr>
          <p:nvPr/>
        </p:nvSpPr>
        <p:spPr>
          <a:xfrm>
            <a:off x="6420709" y="1727200"/>
            <a:ext cx="3142826" cy="177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Input / Output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6B4B40-BDFF-E174-D0C4-6B724237CB42}"/>
              </a:ext>
            </a:extLst>
          </p:cNvPr>
          <p:cNvSpPr>
            <a:spLocks noGrp="1"/>
          </p:cNvSpPr>
          <p:nvPr/>
        </p:nvSpPr>
        <p:spPr>
          <a:xfrm>
            <a:off x="6479230" y="2202688"/>
            <a:ext cx="1511808" cy="3108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5B3003C-9F7F-29A6-8CCC-5B341818A0D8}"/>
              </a:ext>
            </a:extLst>
          </p:cNvPr>
          <p:cNvSpPr>
            <a:spLocks noGrp="1"/>
          </p:cNvSpPr>
          <p:nvPr/>
        </p:nvSpPr>
        <p:spPr>
          <a:xfrm>
            <a:off x="7991038" y="2202688"/>
            <a:ext cx="926592" cy="310896"/>
          </a:xfrm>
          <a:prstGeom prst="rect">
            <a:avLst/>
          </a:prstGeom>
          <a:solidFill>
            <a:srgbClr val="4785C7"/>
          </a:solidFill>
          <a:ln>
            <a:solidFill>
              <a:srgbClr val="4785C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FD03550-7470-368B-0288-5A883AF1B0C8}"/>
              </a:ext>
            </a:extLst>
          </p:cNvPr>
          <p:cNvSpPr>
            <a:spLocks noGrp="1"/>
          </p:cNvSpPr>
          <p:nvPr/>
        </p:nvSpPr>
        <p:spPr>
          <a:xfrm>
            <a:off x="8917630" y="2202688"/>
            <a:ext cx="682752" cy="310896"/>
          </a:xfrm>
          <a:prstGeom prst="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7267E2-6365-35EC-E8D8-87B056CE0C5E}"/>
              </a:ext>
            </a:extLst>
          </p:cNvPr>
          <p:cNvSpPr>
            <a:spLocks noGrp="1"/>
          </p:cNvSpPr>
          <p:nvPr/>
        </p:nvSpPr>
        <p:spPr>
          <a:xfrm>
            <a:off x="6479230" y="2605024"/>
            <a:ext cx="3140659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1 50%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2 30%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3 20%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9D0FFFB-69B5-2DEF-625F-0B3D03BFA9D8}"/>
              </a:ext>
            </a:extLst>
          </p:cNvPr>
          <p:cNvSpPr>
            <a:spLocks noGrp="1"/>
          </p:cNvSpPr>
          <p:nvPr/>
        </p:nvSpPr>
        <p:spPr>
          <a:xfrm>
            <a:off x="6167116" y="3797300"/>
            <a:ext cx="36576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886405F-4A0F-AA0A-9087-2A5EFEB36EE4}"/>
              </a:ext>
            </a:extLst>
          </p:cNvPr>
          <p:cNvSpPr>
            <a:spLocks noGrp="1"/>
          </p:cNvSpPr>
          <p:nvPr/>
        </p:nvSpPr>
        <p:spPr>
          <a:xfrm>
            <a:off x="6440216" y="4016755"/>
            <a:ext cx="3142826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3" name="Connector 72">
            <a:extLst>
              <a:ext uri="{FF2B5EF4-FFF2-40B4-BE49-F238E27FC236}">
                <a16:creationId xmlns:a16="http://schemas.microsoft.com/office/drawing/2014/main" id="{491B9161-BB55-69D6-7C44-68254CEC945D}"/>
              </a:ext>
            </a:extLst>
          </p:cNvPr>
          <p:cNvSpPr>
            <a:spLocks noGrp="1"/>
          </p:cNvSpPr>
          <p:nvPr/>
        </p:nvSpPr>
        <p:spPr>
          <a:xfrm>
            <a:off x="6775365" y="5588000"/>
            <a:ext cx="2858346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002D84A-0A76-77A9-3075-0906D815321F}"/>
              </a:ext>
            </a:extLst>
          </p:cNvPr>
          <p:cNvSpPr>
            <a:spLocks noGrp="1"/>
          </p:cNvSpPr>
          <p:nvPr/>
        </p:nvSpPr>
        <p:spPr>
          <a:xfrm>
            <a:off x="6849872" y="5073952"/>
            <a:ext cx="325120" cy="514048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EF55A7-A6BF-62FD-70A1-0DF0904AA6C9}"/>
              </a:ext>
            </a:extLst>
          </p:cNvPr>
          <p:cNvSpPr>
            <a:spLocks noGrp="1"/>
          </p:cNvSpPr>
          <p:nvPr/>
        </p:nvSpPr>
        <p:spPr>
          <a:xfrm>
            <a:off x="6802458" y="4896152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861E3C-0E86-8185-DC46-CBD91C680F92}"/>
              </a:ext>
            </a:extLst>
          </p:cNvPr>
          <p:cNvSpPr>
            <a:spLocks noGrp="1"/>
          </p:cNvSpPr>
          <p:nvPr/>
        </p:nvSpPr>
        <p:spPr>
          <a:xfrm>
            <a:off x="6782138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1EBEB5B-DC86-66DC-D26C-4D416B6DCDAC}"/>
              </a:ext>
            </a:extLst>
          </p:cNvPr>
          <p:cNvSpPr>
            <a:spLocks noGrp="1"/>
          </p:cNvSpPr>
          <p:nvPr/>
        </p:nvSpPr>
        <p:spPr>
          <a:xfrm>
            <a:off x="7418832" y="4919738"/>
            <a:ext cx="325120" cy="668262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5831F74-6C39-DE0B-8907-60FFF5A6A9FC}"/>
              </a:ext>
            </a:extLst>
          </p:cNvPr>
          <p:cNvSpPr>
            <a:spLocks noGrp="1"/>
          </p:cNvSpPr>
          <p:nvPr/>
        </p:nvSpPr>
        <p:spPr>
          <a:xfrm>
            <a:off x="7371418" y="4741938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60D81F-91C6-8389-A6DE-F06B050225CD}"/>
              </a:ext>
            </a:extLst>
          </p:cNvPr>
          <p:cNvSpPr>
            <a:spLocks noGrp="1"/>
          </p:cNvSpPr>
          <p:nvPr/>
        </p:nvSpPr>
        <p:spPr>
          <a:xfrm>
            <a:off x="7351098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FFF84DD-2926-A1DC-3518-BB0365AF16D6}"/>
              </a:ext>
            </a:extLst>
          </p:cNvPr>
          <p:cNvSpPr>
            <a:spLocks noGrp="1"/>
          </p:cNvSpPr>
          <p:nvPr/>
        </p:nvSpPr>
        <p:spPr>
          <a:xfrm>
            <a:off x="8001338" y="4799794"/>
            <a:ext cx="325120" cy="788206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A1E6B12-9617-FA58-F914-B1555368AAC0}"/>
              </a:ext>
            </a:extLst>
          </p:cNvPr>
          <p:cNvSpPr>
            <a:spLocks noGrp="1"/>
          </p:cNvSpPr>
          <p:nvPr/>
        </p:nvSpPr>
        <p:spPr>
          <a:xfrm>
            <a:off x="7953925" y="4621994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6AAC21-EE6C-3FEA-8AE6-C80CA13E81C9}"/>
              </a:ext>
            </a:extLst>
          </p:cNvPr>
          <p:cNvSpPr>
            <a:spLocks noGrp="1"/>
          </p:cNvSpPr>
          <p:nvPr/>
        </p:nvSpPr>
        <p:spPr>
          <a:xfrm>
            <a:off x="7933605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246FE34-376C-9378-13A9-57AF63304EE7}"/>
              </a:ext>
            </a:extLst>
          </p:cNvPr>
          <p:cNvSpPr>
            <a:spLocks noGrp="1"/>
          </p:cNvSpPr>
          <p:nvPr/>
        </p:nvSpPr>
        <p:spPr>
          <a:xfrm>
            <a:off x="8583845" y="4662714"/>
            <a:ext cx="325120" cy="92528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E3A0A31-459B-C063-80FD-F4C02CCF1C8C}"/>
              </a:ext>
            </a:extLst>
          </p:cNvPr>
          <p:cNvSpPr>
            <a:spLocks noGrp="1"/>
          </p:cNvSpPr>
          <p:nvPr/>
        </p:nvSpPr>
        <p:spPr>
          <a:xfrm>
            <a:off x="8536432" y="4484914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D7275FF-B0B1-A5F2-A8D5-611DCAE0991C}"/>
              </a:ext>
            </a:extLst>
          </p:cNvPr>
          <p:cNvSpPr>
            <a:spLocks noGrp="1"/>
          </p:cNvSpPr>
          <p:nvPr/>
        </p:nvSpPr>
        <p:spPr>
          <a:xfrm>
            <a:off x="8516112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361C5F8-462D-74CF-429E-FB2FB9D11A70}"/>
              </a:ext>
            </a:extLst>
          </p:cNvPr>
          <p:cNvSpPr>
            <a:spLocks noGrp="1"/>
          </p:cNvSpPr>
          <p:nvPr/>
        </p:nvSpPr>
        <p:spPr>
          <a:xfrm>
            <a:off x="9166352" y="4508500"/>
            <a:ext cx="325120" cy="107950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F6DC0FD-E414-7C8D-3959-D4F5F6D3BCCE}"/>
              </a:ext>
            </a:extLst>
          </p:cNvPr>
          <p:cNvSpPr>
            <a:spLocks noGrp="1"/>
          </p:cNvSpPr>
          <p:nvPr/>
        </p:nvSpPr>
        <p:spPr>
          <a:xfrm>
            <a:off x="9118938" y="4330700"/>
            <a:ext cx="419946" cy="1397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690201-6749-D675-190D-85672F6D7248}"/>
              </a:ext>
            </a:extLst>
          </p:cNvPr>
          <p:cNvSpPr>
            <a:spLocks noGrp="1"/>
          </p:cNvSpPr>
          <p:nvPr/>
        </p:nvSpPr>
        <p:spPr>
          <a:xfrm>
            <a:off x="9098618" y="5651500"/>
            <a:ext cx="460586" cy="127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61A01AEF-5D01-726C-C695-B52FFDAB49C5}"/>
              </a:ext>
            </a:extLst>
          </p:cNvPr>
          <p:cNvSpPr>
            <a:spLocks noGrp="1"/>
          </p:cNvSpPr>
          <p:nvPr/>
        </p:nvSpPr>
        <p:spPr>
          <a:xfrm>
            <a:off x="6472727" y="2857246"/>
            <a:ext cx="934719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50734A8B-60ED-C214-1C0E-055400F8294F}"/>
              </a:ext>
            </a:extLst>
          </p:cNvPr>
          <p:cNvSpPr>
            <a:spLocks noGrp="1"/>
          </p:cNvSpPr>
          <p:nvPr/>
        </p:nvSpPr>
        <p:spPr>
          <a:xfrm>
            <a:off x="6513367" y="2895346"/>
            <a:ext cx="85344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5C5A043-D621-2567-EC02-B25DEDEF7342}"/>
              </a:ext>
            </a:extLst>
          </p:cNvPr>
          <p:cNvSpPr>
            <a:spLocks noGrp="1"/>
          </p:cNvSpPr>
          <p:nvPr/>
        </p:nvSpPr>
        <p:spPr>
          <a:xfrm>
            <a:off x="6513367" y="3047746"/>
            <a:ext cx="8534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고객수요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2" name="화살표: 오른쪽 101">
            <a:extLst>
              <a:ext uri="{FF2B5EF4-FFF2-40B4-BE49-F238E27FC236}">
                <a16:creationId xmlns:a16="http://schemas.microsoft.com/office/drawing/2014/main" id="{D8970458-51E5-7B66-1758-E5CB3EB3CA3B}"/>
              </a:ext>
            </a:extLst>
          </p:cNvPr>
          <p:cNvSpPr>
            <a:spLocks noGrp="1"/>
          </p:cNvSpPr>
          <p:nvPr/>
        </p:nvSpPr>
        <p:spPr>
          <a:xfrm>
            <a:off x="7448087" y="3019171"/>
            <a:ext cx="12192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67481C6C-AC03-1A47-19B8-426CA5420C23}"/>
              </a:ext>
            </a:extLst>
          </p:cNvPr>
          <p:cNvSpPr>
            <a:spLocks noGrp="1"/>
          </p:cNvSpPr>
          <p:nvPr/>
        </p:nvSpPr>
        <p:spPr>
          <a:xfrm>
            <a:off x="7590327" y="2857246"/>
            <a:ext cx="934719" cy="4572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BF40B6BD-407F-13FE-380E-EC07EFADEC19}"/>
              </a:ext>
            </a:extLst>
          </p:cNvPr>
          <p:cNvSpPr>
            <a:spLocks noGrp="1"/>
          </p:cNvSpPr>
          <p:nvPr/>
        </p:nvSpPr>
        <p:spPr>
          <a:xfrm>
            <a:off x="7630967" y="2895346"/>
            <a:ext cx="85344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A854B00-FAFD-A988-F324-6BAD8947222C}"/>
              </a:ext>
            </a:extLst>
          </p:cNvPr>
          <p:cNvSpPr>
            <a:spLocks noGrp="1"/>
          </p:cNvSpPr>
          <p:nvPr/>
        </p:nvSpPr>
        <p:spPr>
          <a:xfrm>
            <a:off x="7630967" y="3047746"/>
            <a:ext cx="8534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가공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06" name="화살표: 오른쪽 105">
            <a:extLst>
              <a:ext uri="{FF2B5EF4-FFF2-40B4-BE49-F238E27FC236}">
                <a16:creationId xmlns:a16="http://schemas.microsoft.com/office/drawing/2014/main" id="{6B245E9C-6EF1-107B-92AF-8951E5251544}"/>
              </a:ext>
            </a:extLst>
          </p:cNvPr>
          <p:cNvSpPr>
            <a:spLocks noGrp="1"/>
          </p:cNvSpPr>
          <p:nvPr/>
        </p:nvSpPr>
        <p:spPr>
          <a:xfrm>
            <a:off x="8565687" y="3019171"/>
            <a:ext cx="12192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B91A15E7-0C8D-C3D1-8E0E-61A6B8F484E0}"/>
              </a:ext>
            </a:extLst>
          </p:cNvPr>
          <p:cNvSpPr>
            <a:spLocks noGrp="1"/>
          </p:cNvSpPr>
          <p:nvPr/>
        </p:nvSpPr>
        <p:spPr>
          <a:xfrm>
            <a:off x="8707927" y="2857246"/>
            <a:ext cx="934719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E2739DC7-59D9-71BE-0E4E-842FBAB9A94B}"/>
              </a:ext>
            </a:extLst>
          </p:cNvPr>
          <p:cNvSpPr>
            <a:spLocks noGrp="1"/>
          </p:cNvSpPr>
          <p:nvPr/>
        </p:nvSpPr>
        <p:spPr>
          <a:xfrm>
            <a:off x="8748567" y="2895346"/>
            <a:ext cx="85344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B8DB75E-0381-4FF4-C335-4BD7088C97B9}"/>
              </a:ext>
            </a:extLst>
          </p:cNvPr>
          <p:cNvSpPr>
            <a:spLocks noGrp="1"/>
          </p:cNvSpPr>
          <p:nvPr/>
        </p:nvSpPr>
        <p:spPr>
          <a:xfrm>
            <a:off x="8748567" y="3047746"/>
            <a:ext cx="8534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18E68299-F0D1-9503-14C6-D0FCE842863F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2" name="TextBox 6">
            <a:extLst>
              <a:ext uri="{FF2B5EF4-FFF2-40B4-BE49-F238E27FC236}">
                <a16:creationId xmlns:a16="http://schemas.microsoft.com/office/drawing/2014/main" id="{76F96D2E-77B9-8F2F-0CD9-813865EDE016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4" name="TextBox 7">
            <a:extLst>
              <a:ext uri="{FF2B5EF4-FFF2-40B4-BE49-F238E27FC236}">
                <a16:creationId xmlns:a16="http://schemas.microsoft.com/office/drawing/2014/main" id="{FC86F11C-F260-3E66-C5EC-76A10F4DDF7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8">
            <a:extLst>
              <a:ext uri="{FF2B5EF4-FFF2-40B4-BE49-F238E27FC236}">
                <a16:creationId xmlns:a16="http://schemas.microsoft.com/office/drawing/2014/main" id="{33B6A0C2-765B-A802-F70F-F6665C858A27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8" name="TextBox 9">
            <a:extLst>
              <a:ext uri="{FF2B5EF4-FFF2-40B4-BE49-F238E27FC236}">
                <a16:creationId xmlns:a16="http://schemas.microsoft.com/office/drawing/2014/main" id="{4CC13574-1AAF-2AF3-7475-49701D4E8FF3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7417A324-5F6D-DED0-C613-548C180ACEA7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0455A397-5686-D0A5-1576-EF14444D09F4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6BD9D2AD-E48E-8DB4-D7EB-EDB3C11301A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73E566D7-F20B-89BA-3110-5EB614A4692B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TextBox 4">
            <a:extLst>
              <a:ext uri="{FF2B5EF4-FFF2-40B4-BE49-F238E27FC236}">
                <a16:creationId xmlns:a16="http://schemas.microsoft.com/office/drawing/2014/main" id="{162236AD-C122-1EE0-651D-BE5B98C61ED3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8" name="TextBox 5">
            <a:extLst>
              <a:ext uri="{FF2B5EF4-FFF2-40B4-BE49-F238E27FC236}">
                <a16:creationId xmlns:a16="http://schemas.microsoft.com/office/drawing/2014/main" id="{9D60CC26-319A-F7D4-D0F2-A370738E4421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0" name="Rounded Rectangle 3">
            <a:extLst>
              <a:ext uri="{FF2B5EF4-FFF2-40B4-BE49-F238E27FC236}">
                <a16:creationId xmlns:a16="http://schemas.microsoft.com/office/drawing/2014/main" id="{4E1C90FE-32DB-015B-97A0-C0C8D59FC125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2" name="TextBox 6">
            <a:extLst>
              <a:ext uri="{FF2B5EF4-FFF2-40B4-BE49-F238E27FC236}">
                <a16:creationId xmlns:a16="http://schemas.microsoft.com/office/drawing/2014/main" id="{80EFBF52-DF79-5F61-2109-BE962F2084E8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4" name="TextBox 7">
            <a:extLst>
              <a:ext uri="{FF2B5EF4-FFF2-40B4-BE49-F238E27FC236}">
                <a16:creationId xmlns:a16="http://schemas.microsoft.com/office/drawing/2014/main" id="{ECC5E6F1-3132-5E66-AEB3-3E86F832A4E5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4153F8-6162-F6BE-1821-EB3AAC3D04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Valuation divider">
            <a:extLst>
              <a:ext uri="{FF2B5EF4-FFF2-40B4-BE49-F238E27FC236}">
                <a16:creationId xmlns:a16="http://schemas.microsoft.com/office/drawing/2014/main" id="{522D770B-A4EE-9255-918C-0DB3BABBA732}"/>
              </a:ext>
            </a:extLst>
          </p:cNvPr>
          <p:cNvSpPr/>
          <p:nvPr/>
        </p:nvSpPr>
        <p:spPr>
          <a:xfrm>
            <a:off x="10129520" y="330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Valuation divider">
            <a:extLst>
              <a:ext uri="{FF2B5EF4-FFF2-40B4-BE49-F238E27FC236}">
                <a16:creationId xmlns:a16="http://schemas.microsoft.com/office/drawing/2014/main" id="{5078E1BA-2BD6-A304-743A-BF29464C05F7}"/>
              </a:ext>
            </a:extLst>
          </p:cNvPr>
          <p:cNvSpPr/>
          <p:nvPr/>
        </p:nvSpPr>
        <p:spPr>
          <a:xfrm>
            <a:off x="10129520" y="4572000"/>
            <a:ext cx="1414780" cy="12700"/>
          </a:xfrm>
          <a:prstGeom prst="rect">
            <a:avLst/>
          </a:prstGeom>
          <a:solidFill>
            <a:srgbClr val="C9D6EA"/>
          </a:solidFill>
          <a:ln w="254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4E781E-8AAC-476E-E03D-14F404628BA8}"/>
              </a:ext>
            </a:extLst>
          </p:cNvPr>
          <p:cNvSpPr>
            <a:spLocks noGrp="1"/>
          </p:cNvSpPr>
          <p:nvPr/>
        </p:nvSpPr>
        <p:spPr>
          <a:xfrm>
            <a:off x="1168400" y="2692400"/>
            <a:ext cx="4318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B1EC9D-F057-2709-2359-7057D6C43902}"/>
              </a:ext>
            </a:extLst>
          </p:cNvPr>
          <p:cNvSpPr>
            <a:spLocks noGrp="1"/>
          </p:cNvSpPr>
          <p:nvPr/>
        </p:nvSpPr>
        <p:spPr>
          <a:xfrm>
            <a:off x="1168400" y="2946400"/>
            <a:ext cx="4318000" cy="1130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[구조적 강점/점유율/고객/수주]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[근거 데이터/수치 입력]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[추가 근거 입력]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2BA40E-9091-030E-1C95-0322406BC491}"/>
              </a:ext>
            </a:extLst>
          </p:cNvPr>
          <p:cNvSpPr>
            <a:spLocks noGrp="1"/>
          </p:cNvSpPr>
          <p:nvPr/>
        </p:nvSpPr>
        <p:spPr>
          <a:xfrm>
            <a:off x="1168400" y="4483100"/>
            <a:ext cx="4318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B1E1E9-1F9B-028D-EC2A-1AEE4F1516F3}"/>
              </a:ext>
            </a:extLst>
          </p:cNvPr>
          <p:cNvSpPr>
            <a:spLocks noGrp="1"/>
          </p:cNvSpPr>
          <p:nvPr/>
        </p:nvSpPr>
        <p:spPr>
          <a:xfrm>
            <a:off x="1168400" y="4737100"/>
            <a:ext cx="4318000" cy="1130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[실적 상향 요인/믹스/ASP/가동률]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[근거 데이터/수치 입력]</a:t>
            </a:r>
          </a:p>
          <a:p>
            <a:pPr marL="114300" indent="-114300">
              <a:spcBef>
                <a:spcPts val="400"/>
              </a:spcBef>
              <a:buFont typeface="Arial"/>
              <a:buChar char="•"/>
            </a:pPr>
            <a:r>
              <a:rPr sz="78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[추가 근거 입력]</a:t>
            </a:r>
          </a:p>
        </p:txBody>
      </p:sp>
    </p:spTree>
    <p:extLst>
      <p:ext uri="{BB962C8B-B14F-4D97-AF65-F5344CB8AC3E}">
        <p14:creationId xmlns:p14="http://schemas.microsoft.com/office/powerpoint/2010/main" val="34756775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7CEA0C3-1D49-4FC3-8E46-EF28E57B9E33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C439-4C4D-43EE-9495-8178C4B497EE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0A63C-AF94-4283-ABED-9D6894206EE3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BFA943-5F14-4797-9B6D-806F8EE0A311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166577-0943-42B4-BF3A-2C9C17C53309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977EFB-E344-4FC4-B8CD-F97AC05AA43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5FA0A4-4E45-4918-85DA-7DBF1CE0CD50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065391-7AC0-4BDE-9AF1-1E76AB66EC25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691B19-BE79-41F6-ADCB-AB578E035386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D78DF8-7ABB-4C66-AA41-8278F8DE523E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77918A-A10D-46F7-94EA-2DB2750CCC7D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032380-3A26-4E69-B566-4850AB2E489B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7DF777-0F75-4E4F-ABDF-8610BABAE2E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47D9C1-E3DE-4133-9DD0-90E9EDCACF3F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60D04E-789B-4923-B909-F903C7D68D0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사업구조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44506041-3BF1-4095-A481-64D7F46E0115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F03AFC6-5A9C-4E01-BED0-A8419D17DD3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7BB88A-D1D3-4EEB-9B35-A331349F1E25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DEA3754-70BE-49F2-8839-C1CC017C7F8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97CABC-AEB3-421D-BA65-8722063DEF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21FD0D1-8A03-4BA4-A344-CD5B9549ED64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4645152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B1659F-05D5-4B38-9240-11A208B0389B}"/>
              </a:ext>
            </a:extLst>
          </p:cNvPr>
          <p:cNvSpPr>
            <a:spLocks noGrp="1"/>
          </p:cNvSpPr>
          <p:nvPr/>
        </p:nvSpPr>
        <p:spPr>
          <a:xfrm>
            <a:off x="1170432" y="1682496"/>
            <a:ext cx="118872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D72F9F-7FF4-4982-90CD-8B144EAC816D}"/>
              </a:ext>
            </a:extLst>
          </p:cNvPr>
          <p:cNvSpPr>
            <a:spLocks noGrp="1"/>
          </p:cNvSpPr>
          <p:nvPr/>
        </p:nvSpPr>
        <p:spPr>
          <a:xfrm>
            <a:off x="1170432" y="2011680"/>
            <a:ext cx="407822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₩00,000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₩0.0조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대표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00.0x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F25E46A-00F6-46B7-BB2F-A69A12CEF237}"/>
              </a:ext>
            </a:extLst>
          </p:cNvPr>
          <p:cNvSpPr>
            <a:spLocks noGrp="1"/>
          </p:cNvSpPr>
          <p:nvPr/>
        </p:nvSpPr>
        <p:spPr>
          <a:xfrm>
            <a:off x="1170432" y="2395728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94ABAC-6E3C-41F3-B242-6749E87AEFAC}"/>
              </a:ext>
            </a:extLst>
          </p:cNvPr>
          <p:cNvSpPr>
            <a:spLocks noGrp="1"/>
          </p:cNvSpPr>
          <p:nvPr/>
        </p:nvSpPr>
        <p:spPr>
          <a:xfrm>
            <a:off x="1956816" y="2377440"/>
            <a:ext cx="336499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무엇으로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돈을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벌고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1문장]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81F0B3-0112-4236-9DDF-D54153EF0CD4}"/>
              </a:ext>
            </a:extLst>
          </p:cNvPr>
          <p:cNvSpPr>
            <a:spLocks noGrp="1"/>
          </p:cNvSpPr>
          <p:nvPr/>
        </p:nvSpPr>
        <p:spPr>
          <a:xfrm>
            <a:off x="1170432" y="2743200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C876DB-AAE9-4490-9F64-95CDC0DE3B4D}"/>
              </a:ext>
            </a:extLst>
          </p:cNvPr>
          <p:cNvSpPr>
            <a:spLocks noGrp="1"/>
          </p:cNvSpPr>
          <p:nvPr/>
        </p:nvSpPr>
        <p:spPr>
          <a:xfrm>
            <a:off x="2029968" y="2724912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381580-37FD-4D4F-BBB6-DFF2623FDB2F}"/>
              </a:ext>
            </a:extLst>
          </p:cNvPr>
          <p:cNvSpPr>
            <a:spLocks noGrp="1"/>
          </p:cNvSpPr>
          <p:nvPr/>
        </p:nvSpPr>
        <p:spPr>
          <a:xfrm>
            <a:off x="1170432" y="3026664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963F66-2AC5-45EE-AEBB-60C98AD710B4}"/>
              </a:ext>
            </a:extLst>
          </p:cNvPr>
          <p:cNvSpPr>
            <a:spLocks noGrp="1"/>
          </p:cNvSpPr>
          <p:nvPr/>
        </p:nvSpPr>
        <p:spPr>
          <a:xfrm>
            <a:off x="2029968" y="3008376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/ASP/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2E29E36-B74F-4EE2-BAB3-539E25A2010B}"/>
              </a:ext>
            </a:extLst>
          </p:cNvPr>
          <p:cNvSpPr>
            <a:spLocks noGrp="1"/>
          </p:cNvSpPr>
          <p:nvPr/>
        </p:nvSpPr>
        <p:spPr>
          <a:xfrm>
            <a:off x="5815584" y="1463040"/>
            <a:ext cx="5266944" cy="186537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8C61E6-1AEF-4B50-9BF8-86D99A857502}"/>
              </a:ext>
            </a:extLst>
          </p:cNvPr>
          <p:cNvSpPr>
            <a:spLocks noGrp="1"/>
          </p:cNvSpPr>
          <p:nvPr/>
        </p:nvSpPr>
        <p:spPr>
          <a:xfrm>
            <a:off x="6071616" y="1682496"/>
            <a:ext cx="1408176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5DD1C0-DFE8-42C3-9265-E5BF784D5418}"/>
              </a:ext>
            </a:extLst>
          </p:cNvPr>
          <p:cNvSpPr>
            <a:spLocks noGrp="1"/>
          </p:cNvSpPr>
          <p:nvPr/>
        </p:nvSpPr>
        <p:spPr>
          <a:xfrm>
            <a:off x="6071616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6CA14A-EAE8-4D59-901A-4C00108DD128}"/>
              </a:ext>
            </a:extLst>
          </p:cNvPr>
          <p:cNvSpPr>
            <a:spLocks noGrp="1"/>
          </p:cNvSpPr>
          <p:nvPr/>
        </p:nvSpPr>
        <p:spPr>
          <a:xfrm>
            <a:off x="6071616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142761-89E3-47B6-A8D9-BCD5DC42F14B}"/>
              </a:ext>
            </a:extLst>
          </p:cNvPr>
          <p:cNvSpPr>
            <a:spLocks noGrp="1"/>
          </p:cNvSpPr>
          <p:nvPr/>
        </p:nvSpPr>
        <p:spPr>
          <a:xfrm>
            <a:off x="7598663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8030B7-469A-473B-B6EB-5685E3009073}"/>
              </a:ext>
            </a:extLst>
          </p:cNvPr>
          <p:cNvSpPr>
            <a:spLocks noGrp="1"/>
          </p:cNvSpPr>
          <p:nvPr/>
        </p:nvSpPr>
        <p:spPr>
          <a:xfrm>
            <a:off x="7598663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9F56EE-C61F-4DB4-AE54-2E8EECD2D354}"/>
              </a:ext>
            </a:extLst>
          </p:cNvPr>
          <p:cNvSpPr>
            <a:spLocks noGrp="1"/>
          </p:cNvSpPr>
          <p:nvPr/>
        </p:nvSpPr>
        <p:spPr>
          <a:xfrm>
            <a:off x="9125712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순현금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부채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78EEE0-B70F-49F1-95C7-276C11E20A36}"/>
              </a:ext>
            </a:extLst>
          </p:cNvPr>
          <p:cNvSpPr>
            <a:spLocks noGrp="1"/>
          </p:cNvSpPr>
          <p:nvPr/>
        </p:nvSpPr>
        <p:spPr>
          <a:xfrm>
            <a:off x="9125712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71859D-6C12-4050-8764-095262D1331F}"/>
              </a:ext>
            </a:extLst>
          </p:cNvPr>
          <p:cNvSpPr>
            <a:spLocks noGrp="1"/>
          </p:cNvSpPr>
          <p:nvPr/>
        </p:nvSpPr>
        <p:spPr>
          <a:xfrm>
            <a:off x="6071616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C50A91-4F9D-4737-98E5-560CC6DA7591}"/>
              </a:ext>
            </a:extLst>
          </p:cNvPr>
          <p:cNvSpPr>
            <a:spLocks noGrp="1"/>
          </p:cNvSpPr>
          <p:nvPr/>
        </p:nvSpPr>
        <p:spPr>
          <a:xfrm>
            <a:off x="6071616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B1CD02-A6E8-4A6B-959D-1F837295EE12}"/>
              </a:ext>
            </a:extLst>
          </p:cNvPr>
          <p:cNvSpPr>
            <a:spLocks noGrp="1"/>
          </p:cNvSpPr>
          <p:nvPr/>
        </p:nvSpPr>
        <p:spPr>
          <a:xfrm>
            <a:off x="7598663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54AF8B-4082-4572-B059-2197C51F6926}"/>
              </a:ext>
            </a:extLst>
          </p:cNvPr>
          <p:cNvSpPr>
            <a:spLocks noGrp="1"/>
          </p:cNvSpPr>
          <p:nvPr/>
        </p:nvSpPr>
        <p:spPr>
          <a:xfrm>
            <a:off x="7598663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0.0x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1B4470-64F7-49EF-9759-6BDBF69A2D7F}"/>
              </a:ext>
            </a:extLst>
          </p:cNvPr>
          <p:cNvSpPr>
            <a:spLocks noGrp="1"/>
          </p:cNvSpPr>
          <p:nvPr/>
        </p:nvSpPr>
        <p:spPr>
          <a:xfrm>
            <a:off x="9125712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3F7AC6-9D2A-4C8A-A69D-17F7239B21DD}"/>
              </a:ext>
            </a:extLst>
          </p:cNvPr>
          <p:cNvSpPr>
            <a:spLocks noGrp="1"/>
          </p:cNvSpPr>
          <p:nvPr/>
        </p:nvSpPr>
        <p:spPr>
          <a:xfrm>
            <a:off x="9125712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09F5DB-C2C9-4CC8-A896-8A4C9AB08C38}"/>
              </a:ext>
            </a:extLst>
          </p:cNvPr>
          <p:cNvSpPr>
            <a:spLocks noGrp="1"/>
          </p:cNvSpPr>
          <p:nvPr/>
        </p:nvSpPr>
        <p:spPr>
          <a:xfrm>
            <a:off x="6071616" y="3035808"/>
            <a:ext cx="1408176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가격이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기대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8A8E1C-1EFC-441E-8FA4-17891E3534A8}"/>
              </a:ext>
            </a:extLst>
          </p:cNvPr>
          <p:cNvSpPr>
            <a:spLocks noGrp="1"/>
          </p:cNvSpPr>
          <p:nvPr/>
        </p:nvSpPr>
        <p:spPr>
          <a:xfrm>
            <a:off x="7498079" y="3008376"/>
            <a:ext cx="316382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가정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C5326CE1-D755-4A22-8BEC-7CDCC52F83B8}"/>
              </a:ext>
            </a:extLst>
          </p:cNvPr>
          <p:cNvSpPr>
            <a:spLocks noGrp="1"/>
          </p:cNvSpPr>
          <p:nvPr/>
        </p:nvSpPr>
        <p:spPr>
          <a:xfrm>
            <a:off x="932688" y="3575304"/>
            <a:ext cx="371246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0D9DCC7A-A5BD-F2D8-4AB5-B86F7518D772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6DF83506-437B-4F5F-E23D-CED258E4E14B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2D5365A6-561A-355D-90C0-8EAFDFE23FEE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2AE92283-80E4-F4B9-1F8F-41D295D8AAC1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ADE5BAA3-AB4E-49AC-E0CC-459012EF1DEE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0" name="TextBox 6">
            <a:extLst>
              <a:ext uri="{FF2B5EF4-FFF2-40B4-BE49-F238E27FC236}">
                <a16:creationId xmlns:a16="http://schemas.microsoft.com/office/drawing/2014/main" id="{8548DE3A-26AE-88A4-4C48-F013A1FA0243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62" name="TextBox 7">
            <a:extLst>
              <a:ext uri="{FF2B5EF4-FFF2-40B4-BE49-F238E27FC236}">
                <a16:creationId xmlns:a16="http://schemas.microsoft.com/office/drawing/2014/main" id="{CED9AF58-E698-E21A-AC02-EA98286A7D9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4" name="TextBox 8">
            <a:extLst>
              <a:ext uri="{FF2B5EF4-FFF2-40B4-BE49-F238E27FC236}">
                <a16:creationId xmlns:a16="http://schemas.microsoft.com/office/drawing/2014/main" id="{55163C2D-049E-077E-1FC8-565CA279C044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66" name="TextBox 9">
            <a:extLst>
              <a:ext uri="{FF2B5EF4-FFF2-40B4-BE49-F238E27FC236}">
                <a16:creationId xmlns:a16="http://schemas.microsoft.com/office/drawing/2014/main" id="{A2283BF5-807A-2652-BCBA-56F58A139292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8" name="TextBox 4">
            <a:extLst>
              <a:ext uri="{FF2B5EF4-FFF2-40B4-BE49-F238E27FC236}">
                <a16:creationId xmlns:a16="http://schemas.microsoft.com/office/drawing/2014/main" id="{6CEA08F0-AF46-71E8-6A84-7A2F2C89410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70" name="TextBox 5">
            <a:extLst>
              <a:ext uri="{FF2B5EF4-FFF2-40B4-BE49-F238E27FC236}">
                <a16:creationId xmlns:a16="http://schemas.microsoft.com/office/drawing/2014/main" id="{074D9E3B-C956-5A68-9A21-DCC88D9AECF1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2" name="Rounded Rectangle 3">
            <a:extLst>
              <a:ext uri="{FF2B5EF4-FFF2-40B4-BE49-F238E27FC236}">
                <a16:creationId xmlns:a16="http://schemas.microsoft.com/office/drawing/2014/main" id="{6D390B41-76F8-601E-D58B-60B62EBC0E9C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4" name="TextBox 6">
            <a:extLst>
              <a:ext uri="{FF2B5EF4-FFF2-40B4-BE49-F238E27FC236}">
                <a16:creationId xmlns:a16="http://schemas.microsoft.com/office/drawing/2014/main" id="{CB847A1F-5A56-C7A5-C300-CECE8CD87359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6" name="TextBox 7">
            <a:extLst>
              <a:ext uri="{FF2B5EF4-FFF2-40B4-BE49-F238E27FC236}">
                <a16:creationId xmlns:a16="http://schemas.microsoft.com/office/drawing/2014/main" id="{5CB6BA4D-18BF-A0F8-216D-9B3625835400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75EBF3-F121-D77B-CB5D-6939DD1657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64">
            <a:extLst>
              <a:ext uri="{FF2B5EF4-FFF2-40B4-BE49-F238E27FC236}">
                <a16:creationId xmlns:a16="http://schemas.microsoft.com/office/drawing/2014/main" id="{CD548BBB-8BCC-9824-8A6F-6705B0FAA2AE}"/>
              </a:ext>
            </a:extLst>
          </p:cNvPr>
          <p:cNvSpPr>
            <a:spLocks noGrp="1"/>
          </p:cNvSpPr>
          <p:nvPr/>
        </p:nvSpPr>
        <p:spPr>
          <a:xfrm>
            <a:off x="1170432" y="3803904"/>
            <a:ext cx="1207008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Input / Output</a:t>
            </a:r>
          </a:p>
        </p:txBody>
      </p:sp>
      <p:sp>
        <p:nvSpPr>
          <p:cNvPr id="6" name="Rectangle 65">
            <a:extLst>
              <a:ext uri="{FF2B5EF4-FFF2-40B4-BE49-F238E27FC236}">
                <a16:creationId xmlns:a16="http://schemas.microsoft.com/office/drawing/2014/main" id="{846D7AE4-F132-F9B7-94AA-681C9C95A13B}"/>
              </a:ext>
            </a:extLst>
          </p:cNvPr>
          <p:cNvSpPr>
            <a:spLocks noGrp="1"/>
          </p:cNvSpPr>
          <p:nvPr/>
        </p:nvSpPr>
        <p:spPr>
          <a:xfrm>
            <a:off x="1225296" y="4279392"/>
            <a:ext cx="1417320" cy="3108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1B05A56E-D144-7F56-C120-ABAF26137BBE}"/>
              </a:ext>
            </a:extLst>
          </p:cNvPr>
          <p:cNvSpPr>
            <a:spLocks noGrp="1"/>
          </p:cNvSpPr>
          <p:nvPr/>
        </p:nvSpPr>
        <p:spPr>
          <a:xfrm>
            <a:off x="2642616" y="4279392"/>
            <a:ext cx="868680" cy="310896"/>
          </a:xfrm>
          <a:prstGeom prst="rect">
            <a:avLst/>
          </a:prstGeom>
          <a:solidFill>
            <a:srgbClr val="4785C7"/>
          </a:solidFill>
          <a:ln>
            <a:solidFill>
              <a:srgbClr val="4785C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" name="Rectangle 67">
            <a:extLst>
              <a:ext uri="{FF2B5EF4-FFF2-40B4-BE49-F238E27FC236}">
                <a16:creationId xmlns:a16="http://schemas.microsoft.com/office/drawing/2014/main" id="{E9A9D922-AE43-5491-7DE7-184A5E64CC52}"/>
              </a:ext>
            </a:extLst>
          </p:cNvPr>
          <p:cNvSpPr>
            <a:spLocks noGrp="1"/>
          </p:cNvSpPr>
          <p:nvPr/>
        </p:nvSpPr>
        <p:spPr>
          <a:xfrm>
            <a:off x="3511296" y="4279392"/>
            <a:ext cx="640080" cy="310896"/>
          </a:xfrm>
          <a:prstGeom prst="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" name="TextBox 68">
            <a:extLst>
              <a:ext uri="{FF2B5EF4-FFF2-40B4-BE49-F238E27FC236}">
                <a16:creationId xmlns:a16="http://schemas.microsoft.com/office/drawing/2014/main" id="{20ADB838-5BE6-38A7-A3E8-1F555C18C96F}"/>
              </a:ext>
            </a:extLst>
          </p:cNvPr>
          <p:cNvSpPr>
            <a:spLocks noGrp="1"/>
          </p:cNvSpPr>
          <p:nvPr/>
        </p:nvSpPr>
        <p:spPr>
          <a:xfrm>
            <a:off x="1225296" y="4681728"/>
            <a:ext cx="2944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1 50%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2 30%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3 20%</a:t>
            </a:r>
          </a:p>
        </p:txBody>
      </p:sp>
      <p:sp>
        <p:nvSpPr>
          <p:cNvPr id="16" name="Rounded Rectangle 70">
            <a:extLst>
              <a:ext uri="{FF2B5EF4-FFF2-40B4-BE49-F238E27FC236}">
                <a16:creationId xmlns:a16="http://schemas.microsoft.com/office/drawing/2014/main" id="{885F4BD8-C857-EC66-A574-EDA59920B10B}"/>
              </a:ext>
            </a:extLst>
          </p:cNvPr>
          <p:cNvSpPr>
            <a:spLocks noGrp="1"/>
          </p:cNvSpPr>
          <p:nvPr/>
        </p:nvSpPr>
        <p:spPr>
          <a:xfrm>
            <a:off x="4882896" y="3575304"/>
            <a:ext cx="38953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TextBox 71">
            <a:extLst>
              <a:ext uri="{FF2B5EF4-FFF2-40B4-BE49-F238E27FC236}">
                <a16:creationId xmlns:a16="http://schemas.microsoft.com/office/drawing/2014/main" id="{33F8CDBC-67FB-7281-D8F2-13F60231318D}"/>
              </a:ext>
            </a:extLst>
          </p:cNvPr>
          <p:cNvSpPr>
            <a:spLocks noGrp="1"/>
          </p:cNvSpPr>
          <p:nvPr/>
        </p:nvSpPr>
        <p:spPr>
          <a:xfrm>
            <a:off x="5138928" y="3794760"/>
            <a:ext cx="340156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Connector 72">
            <a:extLst>
              <a:ext uri="{FF2B5EF4-FFF2-40B4-BE49-F238E27FC236}">
                <a16:creationId xmlns:a16="http://schemas.microsoft.com/office/drawing/2014/main" id="{E5CE7DC7-8F13-A805-247F-CA28D0D8A75E}"/>
              </a:ext>
            </a:extLst>
          </p:cNvPr>
          <p:cNvSpPr>
            <a:spLocks noGrp="1"/>
          </p:cNvSpPr>
          <p:nvPr/>
        </p:nvSpPr>
        <p:spPr>
          <a:xfrm>
            <a:off x="5458968" y="5193792"/>
            <a:ext cx="2971800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16" name="Rectangle 73">
            <a:extLst>
              <a:ext uri="{FF2B5EF4-FFF2-40B4-BE49-F238E27FC236}">
                <a16:creationId xmlns:a16="http://schemas.microsoft.com/office/drawing/2014/main" id="{4E7720E6-3479-0E57-0CEF-D238FD5AB6DC}"/>
              </a:ext>
            </a:extLst>
          </p:cNvPr>
          <p:cNvSpPr>
            <a:spLocks noGrp="1"/>
          </p:cNvSpPr>
          <p:nvPr/>
        </p:nvSpPr>
        <p:spPr>
          <a:xfrm>
            <a:off x="5550408" y="4864380"/>
            <a:ext cx="244419" cy="329411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74">
            <a:extLst>
              <a:ext uri="{FF2B5EF4-FFF2-40B4-BE49-F238E27FC236}">
                <a16:creationId xmlns:a16="http://schemas.microsoft.com/office/drawing/2014/main" id="{1EBAD1F3-E7DE-A812-3B27-EB2CBD570164}"/>
              </a:ext>
            </a:extLst>
          </p:cNvPr>
          <p:cNvSpPr>
            <a:spLocks noGrp="1"/>
          </p:cNvSpPr>
          <p:nvPr/>
        </p:nvSpPr>
        <p:spPr>
          <a:xfrm>
            <a:off x="5477256" y="4681500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60</a:t>
            </a:r>
          </a:p>
        </p:txBody>
      </p:sp>
      <p:sp>
        <p:nvSpPr>
          <p:cNvPr id="120" name="TextBox 75">
            <a:extLst>
              <a:ext uri="{FF2B5EF4-FFF2-40B4-BE49-F238E27FC236}">
                <a16:creationId xmlns:a16="http://schemas.microsoft.com/office/drawing/2014/main" id="{68E54257-407D-7736-18B9-8EBA51388154}"/>
              </a:ext>
            </a:extLst>
          </p:cNvPr>
          <p:cNvSpPr>
            <a:spLocks noGrp="1"/>
          </p:cNvSpPr>
          <p:nvPr/>
        </p:nvSpPr>
        <p:spPr>
          <a:xfrm>
            <a:off x="545896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122" name="Rectangle 76">
            <a:extLst>
              <a:ext uri="{FF2B5EF4-FFF2-40B4-BE49-F238E27FC236}">
                <a16:creationId xmlns:a16="http://schemas.microsoft.com/office/drawing/2014/main" id="{FFB18B6F-5078-FFC9-9CDE-DD81257EED8A}"/>
              </a:ext>
            </a:extLst>
          </p:cNvPr>
          <p:cNvSpPr>
            <a:spLocks noGrp="1"/>
          </p:cNvSpPr>
          <p:nvPr/>
        </p:nvSpPr>
        <p:spPr>
          <a:xfrm>
            <a:off x="6093561" y="4765557"/>
            <a:ext cx="244419" cy="428234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4" name="TextBox 77">
            <a:extLst>
              <a:ext uri="{FF2B5EF4-FFF2-40B4-BE49-F238E27FC236}">
                <a16:creationId xmlns:a16="http://schemas.microsoft.com/office/drawing/2014/main" id="{6E8382D8-FF10-E9E3-6264-508CEDB5DDF4}"/>
              </a:ext>
            </a:extLst>
          </p:cNvPr>
          <p:cNvSpPr>
            <a:spLocks noGrp="1"/>
          </p:cNvSpPr>
          <p:nvPr/>
        </p:nvSpPr>
        <p:spPr>
          <a:xfrm>
            <a:off x="6020409" y="4582677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78</a:t>
            </a:r>
          </a:p>
        </p:txBody>
      </p:sp>
      <p:sp>
        <p:nvSpPr>
          <p:cNvPr id="126" name="TextBox 78">
            <a:extLst>
              <a:ext uri="{FF2B5EF4-FFF2-40B4-BE49-F238E27FC236}">
                <a16:creationId xmlns:a16="http://schemas.microsoft.com/office/drawing/2014/main" id="{87C86673-A458-F006-BFAB-CAA6C1C28A0A}"/>
              </a:ext>
            </a:extLst>
          </p:cNvPr>
          <p:cNvSpPr>
            <a:spLocks noGrp="1"/>
          </p:cNvSpPr>
          <p:nvPr/>
        </p:nvSpPr>
        <p:spPr>
          <a:xfrm>
            <a:off x="6002121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128" name="Rectangle 79">
            <a:extLst>
              <a:ext uri="{FF2B5EF4-FFF2-40B4-BE49-F238E27FC236}">
                <a16:creationId xmlns:a16="http://schemas.microsoft.com/office/drawing/2014/main" id="{DE3777C0-C7B6-C130-761D-D878E1F1ADBF}"/>
              </a:ext>
            </a:extLst>
          </p:cNvPr>
          <p:cNvSpPr>
            <a:spLocks noGrp="1"/>
          </p:cNvSpPr>
          <p:nvPr/>
        </p:nvSpPr>
        <p:spPr>
          <a:xfrm>
            <a:off x="6636715" y="4688694"/>
            <a:ext cx="244419" cy="505097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0" name="TextBox 80">
            <a:extLst>
              <a:ext uri="{FF2B5EF4-FFF2-40B4-BE49-F238E27FC236}">
                <a16:creationId xmlns:a16="http://schemas.microsoft.com/office/drawing/2014/main" id="{CDBD2A7B-08C0-71A5-D85C-8A19AAFD961E}"/>
              </a:ext>
            </a:extLst>
          </p:cNvPr>
          <p:cNvSpPr>
            <a:spLocks noGrp="1"/>
          </p:cNvSpPr>
          <p:nvPr/>
        </p:nvSpPr>
        <p:spPr>
          <a:xfrm>
            <a:off x="6563563" y="4505814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</a:t>
            </a:r>
          </a:p>
        </p:txBody>
      </p:sp>
      <p:sp>
        <p:nvSpPr>
          <p:cNvPr id="132" name="TextBox 81">
            <a:extLst>
              <a:ext uri="{FF2B5EF4-FFF2-40B4-BE49-F238E27FC236}">
                <a16:creationId xmlns:a16="http://schemas.microsoft.com/office/drawing/2014/main" id="{AF481748-53C9-5613-FA5B-087047F0A725}"/>
              </a:ext>
            </a:extLst>
          </p:cNvPr>
          <p:cNvSpPr>
            <a:spLocks noGrp="1"/>
          </p:cNvSpPr>
          <p:nvPr/>
        </p:nvSpPr>
        <p:spPr>
          <a:xfrm>
            <a:off x="6545275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135" name="Rectangle 82">
            <a:extLst>
              <a:ext uri="{FF2B5EF4-FFF2-40B4-BE49-F238E27FC236}">
                <a16:creationId xmlns:a16="http://schemas.microsoft.com/office/drawing/2014/main" id="{1A4A89B8-E24A-2382-2725-867CBFA36E6C}"/>
              </a:ext>
            </a:extLst>
          </p:cNvPr>
          <p:cNvSpPr>
            <a:spLocks noGrp="1"/>
          </p:cNvSpPr>
          <p:nvPr/>
        </p:nvSpPr>
        <p:spPr>
          <a:xfrm>
            <a:off x="7179868" y="4600851"/>
            <a:ext cx="244419" cy="5929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9" name="TextBox 83">
            <a:extLst>
              <a:ext uri="{FF2B5EF4-FFF2-40B4-BE49-F238E27FC236}">
                <a16:creationId xmlns:a16="http://schemas.microsoft.com/office/drawing/2014/main" id="{A12E0ED7-AD21-CAA1-31C9-3DF317317104}"/>
              </a:ext>
            </a:extLst>
          </p:cNvPr>
          <p:cNvSpPr>
            <a:spLocks noGrp="1"/>
          </p:cNvSpPr>
          <p:nvPr/>
        </p:nvSpPr>
        <p:spPr>
          <a:xfrm>
            <a:off x="7106716" y="4417971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108</a:t>
            </a:r>
          </a:p>
        </p:txBody>
      </p:sp>
      <p:sp>
        <p:nvSpPr>
          <p:cNvPr id="142" name="TextBox 84">
            <a:extLst>
              <a:ext uri="{FF2B5EF4-FFF2-40B4-BE49-F238E27FC236}">
                <a16:creationId xmlns:a16="http://schemas.microsoft.com/office/drawing/2014/main" id="{71D9BDCF-F261-893F-28E4-B31903E59267}"/>
              </a:ext>
            </a:extLst>
          </p:cNvPr>
          <p:cNvSpPr>
            <a:spLocks noGrp="1"/>
          </p:cNvSpPr>
          <p:nvPr/>
        </p:nvSpPr>
        <p:spPr>
          <a:xfrm>
            <a:off x="708842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144" name="Rectangle 85">
            <a:extLst>
              <a:ext uri="{FF2B5EF4-FFF2-40B4-BE49-F238E27FC236}">
                <a16:creationId xmlns:a16="http://schemas.microsoft.com/office/drawing/2014/main" id="{6DDF1805-0DB5-20E5-C66F-657DDC89B602}"/>
              </a:ext>
            </a:extLst>
          </p:cNvPr>
          <p:cNvSpPr>
            <a:spLocks noGrp="1"/>
          </p:cNvSpPr>
          <p:nvPr/>
        </p:nvSpPr>
        <p:spPr>
          <a:xfrm>
            <a:off x="7723022" y="4502028"/>
            <a:ext cx="244419" cy="691763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6" name="TextBox 86">
            <a:extLst>
              <a:ext uri="{FF2B5EF4-FFF2-40B4-BE49-F238E27FC236}">
                <a16:creationId xmlns:a16="http://schemas.microsoft.com/office/drawing/2014/main" id="{D953F65E-7877-52C9-1BE3-73457F57D5B8}"/>
              </a:ext>
            </a:extLst>
          </p:cNvPr>
          <p:cNvSpPr>
            <a:spLocks noGrp="1"/>
          </p:cNvSpPr>
          <p:nvPr/>
        </p:nvSpPr>
        <p:spPr>
          <a:xfrm>
            <a:off x="7649870" y="4319148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126</a:t>
            </a:r>
          </a:p>
        </p:txBody>
      </p:sp>
      <p:sp>
        <p:nvSpPr>
          <p:cNvPr id="148" name="TextBox 87">
            <a:extLst>
              <a:ext uri="{FF2B5EF4-FFF2-40B4-BE49-F238E27FC236}">
                <a16:creationId xmlns:a16="http://schemas.microsoft.com/office/drawing/2014/main" id="{2A510F5A-15BA-50EC-741E-A291172FB720}"/>
              </a:ext>
            </a:extLst>
          </p:cNvPr>
          <p:cNvSpPr>
            <a:spLocks noGrp="1"/>
          </p:cNvSpPr>
          <p:nvPr/>
        </p:nvSpPr>
        <p:spPr>
          <a:xfrm>
            <a:off x="7631582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150" name="Rounded Rectangle 88">
            <a:extLst>
              <a:ext uri="{FF2B5EF4-FFF2-40B4-BE49-F238E27FC236}">
                <a16:creationId xmlns:a16="http://schemas.microsoft.com/office/drawing/2014/main" id="{4137D5C4-0DA9-9180-8D78-A0D9DB99F0B9}"/>
              </a:ext>
            </a:extLst>
          </p:cNvPr>
          <p:cNvSpPr>
            <a:spLocks noGrp="1"/>
          </p:cNvSpPr>
          <p:nvPr/>
        </p:nvSpPr>
        <p:spPr>
          <a:xfrm>
            <a:off x="9015984" y="3575304"/>
            <a:ext cx="2066543" cy="219456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762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2" name="TextBox 89">
            <a:extLst>
              <a:ext uri="{FF2B5EF4-FFF2-40B4-BE49-F238E27FC236}">
                <a16:creationId xmlns:a16="http://schemas.microsoft.com/office/drawing/2014/main" id="{090BAE45-C34E-67DE-CAFE-E7CE6B5F6EFF}"/>
              </a:ext>
            </a:extLst>
          </p:cNvPr>
          <p:cNvSpPr>
            <a:spLocks noGrp="1"/>
          </p:cNvSpPr>
          <p:nvPr/>
        </p:nvSpPr>
        <p:spPr>
          <a:xfrm>
            <a:off x="9253728" y="3813048"/>
            <a:ext cx="1078992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86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86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4" name="TextBox 90">
            <a:extLst>
              <a:ext uri="{FF2B5EF4-FFF2-40B4-BE49-F238E27FC236}">
                <a16:creationId xmlns:a16="http://schemas.microsoft.com/office/drawing/2014/main" id="{A000532F-7813-D1AB-842E-27BF29D97A6C}"/>
              </a:ext>
            </a:extLst>
          </p:cNvPr>
          <p:cNvSpPr>
            <a:spLocks noGrp="1"/>
          </p:cNvSpPr>
          <p:nvPr/>
        </p:nvSpPr>
        <p:spPr>
          <a:xfrm>
            <a:off x="9253728" y="4206240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TextBox 91">
            <a:extLst>
              <a:ext uri="{FF2B5EF4-FFF2-40B4-BE49-F238E27FC236}">
                <a16:creationId xmlns:a16="http://schemas.microsoft.com/office/drawing/2014/main" id="{20A50EA8-55DE-28D6-A163-D48DD46CE0C7}"/>
              </a:ext>
            </a:extLst>
          </p:cNvPr>
          <p:cNvSpPr>
            <a:spLocks noGrp="1"/>
          </p:cNvSpPr>
          <p:nvPr/>
        </p:nvSpPr>
        <p:spPr>
          <a:xfrm>
            <a:off x="9765792" y="4187952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58" name="TextBox 92">
            <a:extLst>
              <a:ext uri="{FF2B5EF4-FFF2-40B4-BE49-F238E27FC236}">
                <a16:creationId xmlns:a16="http://schemas.microsoft.com/office/drawing/2014/main" id="{00609191-96FA-1221-68C3-A02E54DEB832}"/>
              </a:ext>
            </a:extLst>
          </p:cNvPr>
          <p:cNvSpPr>
            <a:spLocks noGrp="1"/>
          </p:cNvSpPr>
          <p:nvPr/>
        </p:nvSpPr>
        <p:spPr>
          <a:xfrm>
            <a:off x="9253728" y="4553712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1" name="TextBox 93">
            <a:extLst>
              <a:ext uri="{FF2B5EF4-FFF2-40B4-BE49-F238E27FC236}">
                <a16:creationId xmlns:a16="http://schemas.microsoft.com/office/drawing/2014/main" id="{DC3568F0-214B-95FC-622B-BE7A4D22D2AC}"/>
              </a:ext>
            </a:extLst>
          </p:cNvPr>
          <p:cNvSpPr>
            <a:spLocks noGrp="1"/>
          </p:cNvSpPr>
          <p:nvPr/>
        </p:nvSpPr>
        <p:spPr>
          <a:xfrm>
            <a:off x="9765792" y="4535424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65" name="TextBox 94">
            <a:extLst>
              <a:ext uri="{FF2B5EF4-FFF2-40B4-BE49-F238E27FC236}">
                <a16:creationId xmlns:a16="http://schemas.microsoft.com/office/drawing/2014/main" id="{51E76EA3-4B76-92F3-D37F-3A50E09AF3A3}"/>
              </a:ext>
            </a:extLst>
          </p:cNvPr>
          <p:cNvSpPr>
            <a:spLocks noGrp="1"/>
          </p:cNvSpPr>
          <p:nvPr/>
        </p:nvSpPr>
        <p:spPr>
          <a:xfrm>
            <a:off x="9253728" y="4901184"/>
            <a:ext cx="457200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9" name="TextBox 95">
            <a:extLst>
              <a:ext uri="{FF2B5EF4-FFF2-40B4-BE49-F238E27FC236}">
                <a16:creationId xmlns:a16="http://schemas.microsoft.com/office/drawing/2014/main" id="{ADCD1290-8FB2-B876-9BFF-9BB24FEF1CED}"/>
              </a:ext>
            </a:extLst>
          </p:cNvPr>
          <p:cNvSpPr>
            <a:spLocks noGrp="1"/>
          </p:cNvSpPr>
          <p:nvPr/>
        </p:nvSpPr>
        <p:spPr>
          <a:xfrm>
            <a:off x="9765792" y="4882896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3" name="TextBox 96">
            <a:extLst>
              <a:ext uri="{FF2B5EF4-FFF2-40B4-BE49-F238E27FC236}">
                <a16:creationId xmlns:a16="http://schemas.microsoft.com/office/drawing/2014/main" id="{DB44252F-08A9-D11A-F022-F37B46BA8F4F}"/>
              </a:ext>
            </a:extLst>
          </p:cNvPr>
          <p:cNvSpPr>
            <a:spLocks noGrp="1"/>
          </p:cNvSpPr>
          <p:nvPr/>
        </p:nvSpPr>
        <p:spPr>
          <a:xfrm>
            <a:off x="9253728" y="5248656"/>
            <a:ext cx="621792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투자논리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7" name="TextBox 97">
            <a:extLst>
              <a:ext uri="{FF2B5EF4-FFF2-40B4-BE49-F238E27FC236}">
                <a16:creationId xmlns:a16="http://schemas.microsoft.com/office/drawing/2014/main" id="{67375662-A7D6-1FF5-F536-50BECC36C760}"/>
              </a:ext>
            </a:extLst>
          </p:cNvPr>
          <p:cNvSpPr>
            <a:spLocks noGrp="1"/>
          </p:cNvSpPr>
          <p:nvPr/>
        </p:nvSpPr>
        <p:spPr>
          <a:xfrm>
            <a:off x="9875520" y="5230368"/>
            <a:ext cx="8595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12B0D66F-875D-A48B-98D5-84F2115974E3}"/>
              </a:ext>
            </a:extLst>
          </p:cNvPr>
          <p:cNvSpPr>
            <a:spLocks noGrp="1"/>
          </p:cNvSpPr>
          <p:nvPr/>
        </p:nvSpPr>
        <p:spPr>
          <a:xfrm>
            <a:off x="12192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F7BE2D9A-7EA1-BDEC-73CD-17BF562748B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C239B889-B143-7A0A-4628-04368FDDA887}"/>
              </a:ext>
            </a:extLst>
          </p:cNvPr>
          <p:cNvSpPr>
            <a:spLocks noGrp="1"/>
          </p:cNvSpPr>
          <p:nvPr/>
        </p:nvSpPr>
        <p:spPr>
          <a:xfrm>
            <a:off x="12573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고객수요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85" name="화살표: 오른쪽 184">
            <a:extLst>
              <a:ext uri="{FF2B5EF4-FFF2-40B4-BE49-F238E27FC236}">
                <a16:creationId xmlns:a16="http://schemas.microsoft.com/office/drawing/2014/main" id="{3E545D11-3B1B-6F0A-B974-06489392DD84}"/>
              </a:ext>
            </a:extLst>
          </p:cNvPr>
          <p:cNvSpPr>
            <a:spLocks noGrp="1"/>
          </p:cNvSpPr>
          <p:nvPr/>
        </p:nvSpPr>
        <p:spPr>
          <a:xfrm>
            <a:off x="213360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075D5CC2-1318-B31D-0F4D-E390F0EE7373}"/>
              </a:ext>
            </a:extLst>
          </p:cNvPr>
          <p:cNvSpPr>
            <a:spLocks noGrp="1"/>
          </p:cNvSpPr>
          <p:nvPr/>
        </p:nvSpPr>
        <p:spPr>
          <a:xfrm>
            <a:off x="226695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094E6DA-5EC6-B03D-64BA-457C40A17EDB}"/>
              </a:ext>
            </a:extLst>
          </p:cNvPr>
          <p:cNvSpPr>
            <a:spLocks noGrp="1"/>
          </p:cNvSpPr>
          <p:nvPr/>
        </p:nvSpPr>
        <p:spPr>
          <a:xfrm>
            <a:off x="230505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336C750-B415-69DA-972E-94C982EC3DAB}"/>
              </a:ext>
            </a:extLst>
          </p:cNvPr>
          <p:cNvSpPr>
            <a:spLocks noGrp="1"/>
          </p:cNvSpPr>
          <p:nvPr/>
        </p:nvSpPr>
        <p:spPr>
          <a:xfrm>
            <a:off x="230505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가공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93" name="화살표: 오른쪽 192">
            <a:extLst>
              <a:ext uri="{FF2B5EF4-FFF2-40B4-BE49-F238E27FC236}">
                <a16:creationId xmlns:a16="http://schemas.microsoft.com/office/drawing/2014/main" id="{0A68CEA9-1DBA-CE1C-D640-A4E571ABB983}"/>
              </a:ext>
            </a:extLst>
          </p:cNvPr>
          <p:cNvSpPr>
            <a:spLocks noGrp="1"/>
          </p:cNvSpPr>
          <p:nvPr/>
        </p:nvSpPr>
        <p:spPr>
          <a:xfrm>
            <a:off x="318135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C81D473E-7996-A1AA-09C8-391B6F82922A}"/>
              </a:ext>
            </a:extLst>
          </p:cNvPr>
          <p:cNvSpPr>
            <a:spLocks noGrp="1"/>
          </p:cNvSpPr>
          <p:nvPr/>
        </p:nvSpPr>
        <p:spPr>
          <a:xfrm>
            <a:off x="33147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C0A3036F-0B49-ABAC-703F-3B79DE243FDA}"/>
              </a:ext>
            </a:extLst>
          </p:cNvPr>
          <p:cNvSpPr>
            <a:spLocks noGrp="1"/>
          </p:cNvSpPr>
          <p:nvPr/>
        </p:nvSpPr>
        <p:spPr>
          <a:xfrm>
            <a:off x="33528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6A9F98C9-7B54-6069-0618-2177DFAD8F52}"/>
              </a:ext>
            </a:extLst>
          </p:cNvPr>
          <p:cNvSpPr>
            <a:spLocks noGrp="1"/>
          </p:cNvSpPr>
          <p:nvPr/>
        </p:nvSpPr>
        <p:spPr>
          <a:xfrm>
            <a:off x="33528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435719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07B2F7D-69FB-4DB1-B5E4-F3D9C3DBAAE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1A1F73-CDEA-4FC0-A54A-75EE1BFFAE33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CAC3C6-A7F3-49ED-93A6-920BC92BE150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19D91A-09EB-41D2-872C-82C3D0878212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4C89F6-0475-41A3-AE59-08965CFA80DE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90D2C4-3C74-4A61-84F4-28F8C6E25365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DEB2E8-2CE8-4453-87B6-597F8270726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A318B4-E8EF-49BE-8A3B-276D37E77843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8BBB2A-5A9A-42DF-B24F-A3590182F6DD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4F2E76-1D92-4E9A-97FD-08777DFFDE3E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402F20-8D51-4ED0-BB37-C2440F9309CC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F805BC-E0C8-4BF4-A350-F1CC7F0C2C80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C62D19-B779-430F-A2F4-D4428B2FA527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94C866-1D65-42BD-B6D8-1A653C99A07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775AB8-CB42-4F6B-A180-DF38A93CE5B0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사업구조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8307BF24-BF42-4B1B-89F7-875BAC81C945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984D7E0E-2BB8-4A53-8BC6-5EEFE98DE712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7B6D82-7964-4179-8E65-DC15C4A17D43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F2F553D-BE9C-423F-BBFB-8C71DCBD4336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E5F851-80B2-4D4F-962B-74D87A57C64C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21B86BED-12D4-4654-91E1-21C11A6C29D4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4645152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6C0579-B303-483A-977B-49B0E76CE8DC}"/>
              </a:ext>
            </a:extLst>
          </p:cNvPr>
          <p:cNvSpPr>
            <a:spLocks noGrp="1"/>
          </p:cNvSpPr>
          <p:nvPr/>
        </p:nvSpPr>
        <p:spPr>
          <a:xfrm>
            <a:off x="1170432" y="1682496"/>
            <a:ext cx="118872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34ED77-5946-4289-A8ED-FBCBF438096D}"/>
              </a:ext>
            </a:extLst>
          </p:cNvPr>
          <p:cNvSpPr>
            <a:spLocks noGrp="1"/>
          </p:cNvSpPr>
          <p:nvPr/>
        </p:nvSpPr>
        <p:spPr>
          <a:xfrm>
            <a:off x="1170432" y="2011680"/>
            <a:ext cx="407822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₩00,000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₩0.0조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대표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00.0x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A6A612-2D45-44EE-9361-397C423B2532}"/>
              </a:ext>
            </a:extLst>
          </p:cNvPr>
          <p:cNvSpPr>
            <a:spLocks noGrp="1"/>
          </p:cNvSpPr>
          <p:nvPr/>
        </p:nvSpPr>
        <p:spPr>
          <a:xfrm>
            <a:off x="1170432" y="2395728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5506DC-4BB3-48F1-A7B6-43998B9875E7}"/>
              </a:ext>
            </a:extLst>
          </p:cNvPr>
          <p:cNvSpPr>
            <a:spLocks noGrp="1"/>
          </p:cNvSpPr>
          <p:nvPr/>
        </p:nvSpPr>
        <p:spPr>
          <a:xfrm>
            <a:off x="1956816" y="2377440"/>
            <a:ext cx="336499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무엇으로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돈을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벌고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1문장]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1B1478-2FD5-4658-971E-C9FF88A77136}"/>
              </a:ext>
            </a:extLst>
          </p:cNvPr>
          <p:cNvSpPr>
            <a:spLocks noGrp="1"/>
          </p:cNvSpPr>
          <p:nvPr/>
        </p:nvSpPr>
        <p:spPr>
          <a:xfrm>
            <a:off x="1170432" y="2743200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083106-971E-414A-A4C6-BEC266E47504}"/>
              </a:ext>
            </a:extLst>
          </p:cNvPr>
          <p:cNvSpPr>
            <a:spLocks noGrp="1"/>
          </p:cNvSpPr>
          <p:nvPr/>
        </p:nvSpPr>
        <p:spPr>
          <a:xfrm>
            <a:off x="2029968" y="2724912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70AE2-10F6-4168-9764-51B7589D7A7E}"/>
              </a:ext>
            </a:extLst>
          </p:cNvPr>
          <p:cNvSpPr>
            <a:spLocks noGrp="1"/>
          </p:cNvSpPr>
          <p:nvPr/>
        </p:nvSpPr>
        <p:spPr>
          <a:xfrm>
            <a:off x="1170432" y="3026664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9E7151-E5FB-4F37-A30A-B707EF0D6C06}"/>
              </a:ext>
            </a:extLst>
          </p:cNvPr>
          <p:cNvSpPr>
            <a:spLocks noGrp="1"/>
          </p:cNvSpPr>
          <p:nvPr/>
        </p:nvSpPr>
        <p:spPr>
          <a:xfrm>
            <a:off x="2029968" y="3008376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/ASP/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C8D6B41-38E9-4395-89D8-BFE92034C06D}"/>
              </a:ext>
            </a:extLst>
          </p:cNvPr>
          <p:cNvSpPr>
            <a:spLocks noGrp="1"/>
          </p:cNvSpPr>
          <p:nvPr/>
        </p:nvSpPr>
        <p:spPr>
          <a:xfrm>
            <a:off x="5815584" y="1463040"/>
            <a:ext cx="5266944" cy="186537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3580BD-D2C8-4DF1-9E20-C3C2679D5D2C}"/>
              </a:ext>
            </a:extLst>
          </p:cNvPr>
          <p:cNvSpPr>
            <a:spLocks noGrp="1"/>
          </p:cNvSpPr>
          <p:nvPr/>
        </p:nvSpPr>
        <p:spPr>
          <a:xfrm>
            <a:off x="6071616" y="1682496"/>
            <a:ext cx="1408176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AE2FE1-AB47-4381-9CF7-A752EA8DCB59}"/>
              </a:ext>
            </a:extLst>
          </p:cNvPr>
          <p:cNvSpPr>
            <a:spLocks noGrp="1"/>
          </p:cNvSpPr>
          <p:nvPr/>
        </p:nvSpPr>
        <p:spPr>
          <a:xfrm>
            <a:off x="6071616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072FA2-68AD-46C7-AB06-FDAA7AF76500}"/>
              </a:ext>
            </a:extLst>
          </p:cNvPr>
          <p:cNvSpPr>
            <a:spLocks noGrp="1"/>
          </p:cNvSpPr>
          <p:nvPr/>
        </p:nvSpPr>
        <p:spPr>
          <a:xfrm>
            <a:off x="6071616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CC72DA-288C-4253-AC60-77E97CDB363E}"/>
              </a:ext>
            </a:extLst>
          </p:cNvPr>
          <p:cNvSpPr>
            <a:spLocks noGrp="1"/>
          </p:cNvSpPr>
          <p:nvPr/>
        </p:nvSpPr>
        <p:spPr>
          <a:xfrm>
            <a:off x="7598663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0BBE7A-9AB5-48A0-9669-2D9083CA699A}"/>
              </a:ext>
            </a:extLst>
          </p:cNvPr>
          <p:cNvSpPr>
            <a:spLocks noGrp="1"/>
          </p:cNvSpPr>
          <p:nvPr/>
        </p:nvSpPr>
        <p:spPr>
          <a:xfrm>
            <a:off x="7598663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A57543-B3DE-486F-B2F5-C39396393938}"/>
              </a:ext>
            </a:extLst>
          </p:cNvPr>
          <p:cNvSpPr>
            <a:spLocks noGrp="1"/>
          </p:cNvSpPr>
          <p:nvPr/>
        </p:nvSpPr>
        <p:spPr>
          <a:xfrm>
            <a:off x="9125712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순현금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부채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A0E228-0C3A-4D5E-AC43-FCCEE7031C6C}"/>
              </a:ext>
            </a:extLst>
          </p:cNvPr>
          <p:cNvSpPr>
            <a:spLocks noGrp="1"/>
          </p:cNvSpPr>
          <p:nvPr/>
        </p:nvSpPr>
        <p:spPr>
          <a:xfrm>
            <a:off x="9125712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4AEDC4-AD01-4F87-9916-74AB5F8ACBF0}"/>
              </a:ext>
            </a:extLst>
          </p:cNvPr>
          <p:cNvSpPr>
            <a:spLocks noGrp="1"/>
          </p:cNvSpPr>
          <p:nvPr/>
        </p:nvSpPr>
        <p:spPr>
          <a:xfrm>
            <a:off x="6071616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B82EE0-06A1-4B57-A8A6-5FB9B734E92E}"/>
              </a:ext>
            </a:extLst>
          </p:cNvPr>
          <p:cNvSpPr>
            <a:spLocks noGrp="1"/>
          </p:cNvSpPr>
          <p:nvPr/>
        </p:nvSpPr>
        <p:spPr>
          <a:xfrm>
            <a:off x="6071616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2DFF27-6779-4808-A705-90E0A8AAF5AE}"/>
              </a:ext>
            </a:extLst>
          </p:cNvPr>
          <p:cNvSpPr>
            <a:spLocks noGrp="1"/>
          </p:cNvSpPr>
          <p:nvPr/>
        </p:nvSpPr>
        <p:spPr>
          <a:xfrm>
            <a:off x="7598663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CA0E99-A8FD-43A3-A628-80C3BB9303C3}"/>
              </a:ext>
            </a:extLst>
          </p:cNvPr>
          <p:cNvSpPr>
            <a:spLocks noGrp="1"/>
          </p:cNvSpPr>
          <p:nvPr/>
        </p:nvSpPr>
        <p:spPr>
          <a:xfrm>
            <a:off x="7598663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0.0x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477B68-BF02-4C0B-B2AC-0BC6647792C6}"/>
              </a:ext>
            </a:extLst>
          </p:cNvPr>
          <p:cNvSpPr>
            <a:spLocks noGrp="1"/>
          </p:cNvSpPr>
          <p:nvPr/>
        </p:nvSpPr>
        <p:spPr>
          <a:xfrm>
            <a:off x="9125712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EA809A-C6EF-4FFD-93F0-24AA90B1569F}"/>
              </a:ext>
            </a:extLst>
          </p:cNvPr>
          <p:cNvSpPr>
            <a:spLocks noGrp="1"/>
          </p:cNvSpPr>
          <p:nvPr/>
        </p:nvSpPr>
        <p:spPr>
          <a:xfrm>
            <a:off x="9125712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DD911C-13FC-47DE-BDC1-3517887746EE}"/>
              </a:ext>
            </a:extLst>
          </p:cNvPr>
          <p:cNvSpPr>
            <a:spLocks noGrp="1"/>
          </p:cNvSpPr>
          <p:nvPr/>
        </p:nvSpPr>
        <p:spPr>
          <a:xfrm>
            <a:off x="6071616" y="3035808"/>
            <a:ext cx="1408176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가격이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기대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D298A9-2902-4EE7-9048-298CF853C9AF}"/>
              </a:ext>
            </a:extLst>
          </p:cNvPr>
          <p:cNvSpPr>
            <a:spLocks noGrp="1"/>
          </p:cNvSpPr>
          <p:nvPr/>
        </p:nvSpPr>
        <p:spPr>
          <a:xfrm>
            <a:off x="7498079" y="3008376"/>
            <a:ext cx="316382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가정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C5D9CB1-CFE6-4DC9-8922-99F81B320388}"/>
              </a:ext>
            </a:extLst>
          </p:cNvPr>
          <p:cNvSpPr>
            <a:spLocks noGrp="1"/>
          </p:cNvSpPr>
          <p:nvPr/>
        </p:nvSpPr>
        <p:spPr>
          <a:xfrm>
            <a:off x="932688" y="3575304"/>
            <a:ext cx="371246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0E18A2EC-8F61-4AED-6310-B5470C53C6A1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61864823-BEC5-E7A6-215D-4FC6C193E1A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9D974E05-3649-AC1A-0151-9C79AA1B0D2A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C4735DAB-76E2-DDDC-7F3B-74E428E48835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2136AC57-6B2F-8AD2-CE77-86B858630837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2" name="TextBox 6">
            <a:extLst>
              <a:ext uri="{FF2B5EF4-FFF2-40B4-BE49-F238E27FC236}">
                <a16:creationId xmlns:a16="http://schemas.microsoft.com/office/drawing/2014/main" id="{5ECE5248-FEBF-5E7D-8C34-48E815184188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4" name="TextBox 7">
            <a:extLst>
              <a:ext uri="{FF2B5EF4-FFF2-40B4-BE49-F238E27FC236}">
                <a16:creationId xmlns:a16="http://schemas.microsoft.com/office/drawing/2014/main" id="{5DBD4234-DEEE-7833-82B3-58C003EC75F3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6" name="TextBox 8">
            <a:extLst>
              <a:ext uri="{FF2B5EF4-FFF2-40B4-BE49-F238E27FC236}">
                <a16:creationId xmlns:a16="http://schemas.microsoft.com/office/drawing/2014/main" id="{698FE512-5965-9C98-0B16-C1D3DB4BB878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48" name="TextBox 9">
            <a:extLst>
              <a:ext uri="{FF2B5EF4-FFF2-40B4-BE49-F238E27FC236}">
                <a16:creationId xmlns:a16="http://schemas.microsoft.com/office/drawing/2014/main" id="{94830A75-DD93-8307-0533-D2442A892D98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0" name="TextBox 4">
            <a:extLst>
              <a:ext uri="{FF2B5EF4-FFF2-40B4-BE49-F238E27FC236}">
                <a16:creationId xmlns:a16="http://schemas.microsoft.com/office/drawing/2014/main" id="{8C043223-034B-0BBC-06EE-EF8CCAC39EE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2" name="TextBox 5">
            <a:extLst>
              <a:ext uri="{FF2B5EF4-FFF2-40B4-BE49-F238E27FC236}">
                <a16:creationId xmlns:a16="http://schemas.microsoft.com/office/drawing/2014/main" id="{5FF7B410-F5A1-F8E8-6F8D-88BE7E32E2FB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4" name="Rounded Rectangle 3">
            <a:extLst>
              <a:ext uri="{FF2B5EF4-FFF2-40B4-BE49-F238E27FC236}">
                <a16:creationId xmlns:a16="http://schemas.microsoft.com/office/drawing/2014/main" id="{0D525BDC-D3B6-EE5E-9C13-96B4DEDB640F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6" name="TextBox 6">
            <a:extLst>
              <a:ext uri="{FF2B5EF4-FFF2-40B4-BE49-F238E27FC236}">
                <a16:creationId xmlns:a16="http://schemas.microsoft.com/office/drawing/2014/main" id="{C4143277-2D52-E148-290C-1892C4432D77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8" name="TextBox 7">
            <a:extLst>
              <a:ext uri="{FF2B5EF4-FFF2-40B4-BE49-F238E27FC236}">
                <a16:creationId xmlns:a16="http://schemas.microsoft.com/office/drawing/2014/main" id="{59B41816-CB66-A36C-FFA3-767D0D6BF04D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5EDEA1-43DA-ADB6-441B-C9E626BBDA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64">
            <a:extLst>
              <a:ext uri="{FF2B5EF4-FFF2-40B4-BE49-F238E27FC236}">
                <a16:creationId xmlns:a16="http://schemas.microsoft.com/office/drawing/2014/main" id="{1A86833C-5810-E576-18EE-4E24F25BB2AE}"/>
              </a:ext>
            </a:extLst>
          </p:cNvPr>
          <p:cNvSpPr>
            <a:spLocks noGrp="1"/>
          </p:cNvSpPr>
          <p:nvPr/>
        </p:nvSpPr>
        <p:spPr>
          <a:xfrm>
            <a:off x="1170432" y="3803904"/>
            <a:ext cx="1207008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Input / Output</a:t>
            </a:r>
          </a:p>
        </p:txBody>
      </p:sp>
      <p:sp>
        <p:nvSpPr>
          <p:cNvPr id="6" name="Rectangle 65">
            <a:extLst>
              <a:ext uri="{FF2B5EF4-FFF2-40B4-BE49-F238E27FC236}">
                <a16:creationId xmlns:a16="http://schemas.microsoft.com/office/drawing/2014/main" id="{B526A9A6-B9EA-2B48-A808-4A4481D08A7D}"/>
              </a:ext>
            </a:extLst>
          </p:cNvPr>
          <p:cNvSpPr>
            <a:spLocks noGrp="1"/>
          </p:cNvSpPr>
          <p:nvPr/>
        </p:nvSpPr>
        <p:spPr>
          <a:xfrm>
            <a:off x="1225296" y="4279392"/>
            <a:ext cx="1417320" cy="3108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1ADE229F-E52D-9D59-4ACF-A901B202634B}"/>
              </a:ext>
            </a:extLst>
          </p:cNvPr>
          <p:cNvSpPr>
            <a:spLocks noGrp="1"/>
          </p:cNvSpPr>
          <p:nvPr/>
        </p:nvSpPr>
        <p:spPr>
          <a:xfrm>
            <a:off x="2642616" y="4279392"/>
            <a:ext cx="868680" cy="310896"/>
          </a:xfrm>
          <a:prstGeom prst="rect">
            <a:avLst/>
          </a:prstGeom>
          <a:solidFill>
            <a:srgbClr val="4785C7"/>
          </a:solidFill>
          <a:ln>
            <a:solidFill>
              <a:srgbClr val="4785C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" name="Rectangle 67">
            <a:extLst>
              <a:ext uri="{FF2B5EF4-FFF2-40B4-BE49-F238E27FC236}">
                <a16:creationId xmlns:a16="http://schemas.microsoft.com/office/drawing/2014/main" id="{8DDF4598-1317-F3AE-6AEA-C40D9F213D03}"/>
              </a:ext>
            </a:extLst>
          </p:cNvPr>
          <p:cNvSpPr>
            <a:spLocks noGrp="1"/>
          </p:cNvSpPr>
          <p:nvPr/>
        </p:nvSpPr>
        <p:spPr>
          <a:xfrm>
            <a:off x="3511296" y="4279392"/>
            <a:ext cx="640080" cy="310896"/>
          </a:xfrm>
          <a:prstGeom prst="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" name="TextBox 68">
            <a:extLst>
              <a:ext uri="{FF2B5EF4-FFF2-40B4-BE49-F238E27FC236}">
                <a16:creationId xmlns:a16="http://schemas.microsoft.com/office/drawing/2014/main" id="{1C4DE18E-3B16-C7DE-3C19-B3C16656CB31}"/>
              </a:ext>
            </a:extLst>
          </p:cNvPr>
          <p:cNvSpPr>
            <a:spLocks noGrp="1"/>
          </p:cNvSpPr>
          <p:nvPr/>
        </p:nvSpPr>
        <p:spPr>
          <a:xfrm>
            <a:off x="1225296" y="4681728"/>
            <a:ext cx="2944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1 50%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2 30%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3 20%</a:t>
            </a:r>
          </a:p>
        </p:txBody>
      </p:sp>
      <p:sp>
        <p:nvSpPr>
          <p:cNvPr id="16" name="Rounded Rectangle 70">
            <a:extLst>
              <a:ext uri="{FF2B5EF4-FFF2-40B4-BE49-F238E27FC236}">
                <a16:creationId xmlns:a16="http://schemas.microsoft.com/office/drawing/2014/main" id="{BC8A4D5D-0775-B76C-B166-B517C67CF206}"/>
              </a:ext>
            </a:extLst>
          </p:cNvPr>
          <p:cNvSpPr>
            <a:spLocks noGrp="1"/>
          </p:cNvSpPr>
          <p:nvPr/>
        </p:nvSpPr>
        <p:spPr>
          <a:xfrm>
            <a:off x="4882896" y="3575304"/>
            <a:ext cx="38953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TextBox 71">
            <a:extLst>
              <a:ext uri="{FF2B5EF4-FFF2-40B4-BE49-F238E27FC236}">
                <a16:creationId xmlns:a16="http://schemas.microsoft.com/office/drawing/2014/main" id="{FAD1DC5F-6C8E-1E74-2E25-CA8DDFCC02E1}"/>
              </a:ext>
            </a:extLst>
          </p:cNvPr>
          <p:cNvSpPr>
            <a:spLocks noGrp="1"/>
          </p:cNvSpPr>
          <p:nvPr/>
        </p:nvSpPr>
        <p:spPr>
          <a:xfrm>
            <a:off x="5138928" y="3794760"/>
            <a:ext cx="340156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Connector 72">
            <a:extLst>
              <a:ext uri="{FF2B5EF4-FFF2-40B4-BE49-F238E27FC236}">
                <a16:creationId xmlns:a16="http://schemas.microsoft.com/office/drawing/2014/main" id="{3ED5D453-C37A-ED80-FBCD-911E7B58F023}"/>
              </a:ext>
            </a:extLst>
          </p:cNvPr>
          <p:cNvSpPr>
            <a:spLocks noGrp="1"/>
          </p:cNvSpPr>
          <p:nvPr/>
        </p:nvSpPr>
        <p:spPr>
          <a:xfrm>
            <a:off x="5458968" y="5193792"/>
            <a:ext cx="2971800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16" name="Rectangle 73">
            <a:extLst>
              <a:ext uri="{FF2B5EF4-FFF2-40B4-BE49-F238E27FC236}">
                <a16:creationId xmlns:a16="http://schemas.microsoft.com/office/drawing/2014/main" id="{A9FC2884-ED8F-98A4-DD3D-1D35BC168B69}"/>
              </a:ext>
            </a:extLst>
          </p:cNvPr>
          <p:cNvSpPr>
            <a:spLocks noGrp="1"/>
          </p:cNvSpPr>
          <p:nvPr/>
        </p:nvSpPr>
        <p:spPr>
          <a:xfrm>
            <a:off x="5550408" y="4864380"/>
            <a:ext cx="244419" cy="329411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74">
            <a:extLst>
              <a:ext uri="{FF2B5EF4-FFF2-40B4-BE49-F238E27FC236}">
                <a16:creationId xmlns:a16="http://schemas.microsoft.com/office/drawing/2014/main" id="{2A4F6D87-526C-FE4F-3A08-7DECD2BAC05E}"/>
              </a:ext>
            </a:extLst>
          </p:cNvPr>
          <p:cNvSpPr>
            <a:spLocks noGrp="1"/>
          </p:cNvSpPr>
          <p:nvPr/>
        </p:nvSpPr>
        <p:spPr>
          <a:xfrm>
            <a:off x="5477256" y="4681500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60</a:t>
            </a:r>
          </a:p>
        </p:txBody>
      </p:sp>
      <p:sp>
        <p:nvSpPr>
          <p:cNvPr id="120" name="TextBox 75">
            <a:extLst>
              <a:ext uri="{FF2B5EF4-FFF2-40B4-BE49-F238E27FC236}">
                <a16:creationId xmlns:a16="http://schemas.microsoft.com/office/drawing/2014/main" id="{EF414B28-A78D-169A-BFA4-7FE0E71DC737}"/>
              </a:ext>
            </a:extLst>
          </p:cNvPr>
          <p:cNvSpPr>
            <a:spLocks noGrp="1"/>
          </p:cNvSpPr>
          <p:nvPr/>
        </p:nvSpPr>
        <p:spPr>
          <a:xfrm>
            <a:off x="545896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122" name="Rectangle 76">
            <a:extLst>
              <a:ext uri="{FF2B5EF4-FFF2-40B4-BE49-F238E27FC236}">
                <a16:creationId xmlns:a16="http://schemas.microsoft.com/office/drawing/2014/main" id="{6480FEC3-F28E-4439-30C1-A716BB51529D}"/>
              </a:ext>
            </a:extLst>
          </p:cNvPr>
          <p:cNvSpPr>
            <a:spLocks noGrp="1"/>
          </p:cNvSpPr>
          <p:nvPr/>
        </p:nvSpPr>
        <p:spPr>
          <a:xfrm>
            <a:off x="6093561" y="4765557"/>
            <a:ext cx="244419" cy="428234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4" name="TextBox 77">
            <a:extLst>
              <a:ext uri="{FF2B5EF4-FFF2-40B4-BE49-F238E27FC236}">
                <a16:creationId xmlns:a16="http://schemas.microsoft.com/office/drawing/2014/main" id="{71125AFA-4EF4-B641-1590-B6EEC2541DE7}"/>
              </a:ext>
            </a:extLst>
          </p:cNvPr>
          <p:cNvSpPr>
            <a:spLocks noGrp="1"/>
          </p:cNvSpPr>
          <p:nvPr/>
        </p:nvSpPr>
        <p:spPr>
          <a:xfrm>
            <a:off x="6020409" y="4582677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78</a:t>
            </a:r>
          </a:p>
        </p:txBody>
      </p:sp>
      <p:sp>
        <p:nvSpPr>
          <p:cNvPr id="126" name="TextBox 78">
            <a:extLst>
              <a:ext uri="{FF2B5EF4-FFF2-40B4-BE49-F238E27FC236}">
                <a16:creationId xmlns:a16="http://schemas.microsoft.com/office/drawing/2014/main" id="{076834C2-EF20-48BF-F835-CB5EC88E5B65}"/>
              </a:ext>
            </a:extLst>
          </p:cNvPr>
          <p:cNvSpPr>
            <a:spLocks noGrp="1"/>
          </p:cNvSpPr>
          <p:nvPr/>
        </p:nvSpPr>
        <p:spPr>
          <a:xfrm>
            <a:off x="6002121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128" name="Rectangle 79">
            <a:extLst>
              <a:ext uri="{FF2B5EF4-FFF2-40B4-BE49-F238E27FC236}">
                <a16:creationId xmlns:a16="http://schemas.microsoft.com/office/drawing/2014/main" id="{BFB1A95E-993E-3D0A-43D4-BB971C54FBED}"/>
              </a:ext>
            </a:extLst>
          </p:cNvPr>
          <p:cNvSpPr>
            <a:spLocks noGrp="1"/>
          </p:cNvSpPr>
          <p:nvPr/>
        </p:nvSpPr>
        <p:spPr>
          <a:xfrm>
            <a:off x="6636715" y="4688694"/>
            <a:ext cx="244419" cy="505097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0" name="TextBox 80">
            <a:extLst>
              <a:ext uri="{FF2B5EF4-FFF2-40B4-BE49-F238E27FC236}">
                <a16:creationId xmlns:a16="http://schemas.microsoft.com/office/drawing/2014/main" id="{600839C1-5250-BB4A-EF70-6F689F7060C3}"/>
              </a:ext>
            </a:extLst>
          </p:cNvPr>
          <p:cNvSpPr>
            <a:spLocks noGrp="1"/>
          </p:cNvSpPr>
          <p:nvPr/>
        </p:nvSpPr>
        <p:spPr>
          <a:xfrm>
            <a:off x="6563563" y="4505814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</a:t>
            </a:r>
          </a:p>
        </p:txBody>
      </p:sp>
      <p:sp>
        <p:nvSpPr>
          <p:cNvPr id="132" name="TextBox 81">
            <a:extLst>
              <a:ext uri="{FF2B5EF4-FFF2-40B4-BE49-F238E27FC236}">
                <a16:creationId xmlns:a16="http://schemas.microsoft.com/office/drawing/2014/main" id="{DE950966-53AB-0279-DB12-CF6403E7BECA}"/>
              </a:ext>
            </a:extLst>
          </p:cNvPr>
          <p:cNvSpPr>
            <a:spLocks noGrp="1"/>
          </p:cNvSpPr>
          <p:nvPr/>
        </p:nvSpPr>
        <p:spPr>
          <a:xfrm>
            <a:off x="6545275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135" name="Rectangle 82">
            <a:extLst>
              <a:ext uri="{FF2B5EF4-FFF2-40B4-BE49-F238E27FC236}">
                <a16:creationId xmlns:a16="http://schemas.microsoft.com/office/drawing/2014/main" id="{648F802D-A02E-A0F2-7006-6D6C3A0250A6}"/>
              </a:ext>
            </a:extLst>
          </p:cNvPr>
          <p:cNvSpPr>
            <a:spLocks noGrp="1"/>
          </p:cNvSpPr>
          <p:nvPr/>
        </p:nvSpPr>
        <p:spPr>
          <a:xfrm>
            <a:off x="7179868" y="4600851"/>
            <a:ext cx="244419" cy="5929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9" name="TextBox 83">
            <a:extLst>
              <a:ext uri="{FF2B5EF4-FFF2-40B4-BE49-F238E27FC236}">
                <a16:creationId xmlns:a16="http://schemas.microsoft.com/office/drawing/2014/main" id="{B7A121B8-7DE2-3C42-CC1F-9CB502C8F502}"/>
              </a:ext>
            </a:extLst>
          </p:cNvPr>
          <p:cNvSpPr>
            <a:spLocks noGrp="1"/>
          </p:cNvSpPr>
          <p:nvPr/>
        </p:nvSpPr>
        <p:spPr>
          <a:xfrm>
            <a:off x="7106716" y="4417971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108</a:t>
            </a:r>
          </a:p>
        </p:txBody>
      </p:sp>
      <p:sp>
        <p:nvSpPr>
          <p:cNvPr id="143" name="TextBox 84">
            <a:extLst>
              <a:ext uri="{FF2B5EF4-FFF2-40B4-BE49-F238E27FC236}">
                <a16:creationId xmlns:a16="http://schemas.microsoft.com/office/drawing/2014/main" id="{C7BB683F-5631-BA91-0906-FAF6F684AA46}"/>
              </a:ext>
            </a:extLst>
          </p:cNvPr>
          <p:cNvSpPr>
            <a:spLocks noGrp="1"/>
          </p:cNvSpPr>
          <p:nvPr/>
        </p:nvSpPr>
        <p:spPr>
          <a:xfrm>
            <a:off x="708842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147" name="Rectangle 85">
            <a:extLst>
              <a:ext uri="{FF2B5EF4-FFF2-40B4-BE49-F238E27FC236}">
                <a16:creationId xmlns:a16="http://schemas.microsoft.com/office/drawing/2014/main" id="{605B2D5D-7918-C8DC-59E6-E81F906F50C8}"/>
              </a:ext>
            </a:extLst>
          </p:cNvPr>
          <p:cNvSpPr>
            <a:spLocks noGrp="1"/>
          </p:cNvSpPr>
          <p:nvPr/>
        </p:nvSpPr>
        <p:spPr>
          <a:xfrm>
            <a:off x="7723022" y="4502028"/>
            <a:ext cx="244419" cy="691763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1" name="TextBox 86">
            <a:extLst>
              <a:ext uri="{FF2B5EF4-FFF2-40B4-BE49-F238E27FC236}">
                <a16:creationId xmlns:a16="http://schemas.microsoft.com/office/drawing/2014/main" id="{7361BAF9-C31A-5904-535C-CBA74F45C8F0}"/>
              </a:ext>
            </a:extLst>
          </p:cNvPr>
          <p:cNvSpPr>
            <a:spLocks noGrp="1"/>
          </p:cNvSpPr>
          <p:nvPr/>
        </p:nvSpPr>
        <p:spPr>
          <a:xfrm>
            <a:off x="7649870" y="4319148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126</a:t>
            </a:r>
          </a:p>
        </p:txBody>
      </p:sp>
      <p:sp>
        <p:nvSpPr>
          <p:cNvPr id="155" name="TextBox 87">
            <a:extLst>
              <a:ext uri="{FF2B5EF4-FFF2-40B4-BE49-F238E27FC236}">
                <a16:creationId xmlns:a16="http://schemas.microsoft.com/office/drawing/2014/main" id="{D23FC523-79A3-8769-B52F-FB78791CDDD7}"/>
              </a:ext>
            </a:extLst>
          </p:cNvPr>
          <p:cNvSpPr>
            <a:spLocks noGrp="1"/>
          </p:cNvSpPr>
          <p:nvPr/>
        </p:nvSpPr>
        <p:spPr>
          <a:xfrm>
            <a:off x="7631582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159" name="Rounded Rectangle 88">
            <a:extLst>
              <a:ext uri="{FF2B5EF4-FFF2-40B4-BE49-F238E27FC236}">
                <a16:creationId xmlns:a16="http://schemas.microsoft.com/office/drawing/2014/main" id="{3DB4C94D-C3B4-972B-7D83-7DAF149B1DAC}"/>
              </a:ext>
            </a:extLst>
          </p:cNvPr>
          <p:cNvSpPr>
            <a:spLocks noGrp="1"/>
          </p:cNvSpPr>
          <p:nvPr/>
        </p:nvSpPr>
        <p:spPr>
          <a:xfrm>
            <a:off x="9015984" y="3575304"/>
            <a:ext cx="2066543" cy="219456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762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1" name="TextBox 89">
            <a:extLst>
              <a:ext uri="{FF2B5EF4-FFF2-40B4-BE49-F238E27FC236}">
                <a16:creationId xmlns:a16="http://schemas.microsoft.com/office/drawing/2014/main" id="{6A4B2CB7-BC2E-553B-2050-A4D90F509FB2}"/>
              </a:ext>
            </a:extLst>
          </p:cNvPr>
          <p:cNvSpPr>
            <a:spLocks noGrp="1"/>
          </p:cNvSpPr>
          <p:nvPr/>
        </p:nvSpPr>
        <p:spPr>
          <a:xfrm>
            <a:off x="9253728" y="3813048"/>
            <a:ext cx="1078992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86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86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3" name="TextBox 90">
            <a:extLst>
              <a:ext uri="{FF2B5EF4-FFF2-40B4-BE49-F238E27FC236}">
                <a16:creationId xmlns:a16="http://schemas.microsoft.com/office/drawing/2014/main" id="{271574B0-FAB4-8315-5B07-A6E6BF320001}"/>
              </a:ext>
            </a:extLst>
          </p:cNvPr>
          <p:cNvSpPr>
            <a:spLocks noGrp="1"/>
          </p:cNvSpPr>
          <p:nvPr/>
        </p:nvSpPr>
        <p:spPr>
          <a:xfrm>
            <a:off x="9253728" y="4206240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5" name="TextBox 91">
            <a:extLst>
              <a:ext uri="{FF2B5EF4-FFF2-40B4-BE49-F238E27FC236}">
                <a16:creationId xmlns:a16="http://schemas.microsoft.com/office/drawing/2014/main" id="{250505B7-4E25-B866-CF1B-0E1B3AACF064}"/>
              </a:ext>
            </a:extLst>
          </p:cNvPr>
          <p:cNvSpPr>
            <a:spLocks noGrp="1"/>
          </p:cNvSpPr>
          <p:nvPr/>
        </p:nvSpPr>
        <p:spPr>
          <a:xfrm>
            <a:off x="9765792" y="4187952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67" name="TextBox 92">
            <a:extLst>
              <a:ext uri="{FF2B5EF4-FFF2-40B4-BE49-F238E27FC236}">
                <a16:creationId xmlns:a16="http://schemas.microsoft.com/office/drawing/2014/main" id="{A1635B3A-7A19-85F6-7D38-E8CE442FD8A0}"/>
              </a:ext>
            </a:extLst>
          </p:cNvPr>
          <p:cNvSpPr>
            <a:spLocks noGrp="1"/>
          </p:cNvSpPr>
          <p:nvPr/>
        </p:nvSpPr>
        <p:spPr>
          <a:xfrm>
            <a:off x="9253728" y="4553712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9" name="TextBox 93">
            <a:extLst>
              <a:ext uri="{FF2B5EF4-FFF2-40B4-BE49-F238E27FC236}">
                <a16:creationId xmlns:a16="http://schemas.microsoft.com/office/drawing/2014/main" id="{5C9D1959-83AD-9FEF-B530-4C6FD42289E8}"/>
              </a:ext>
            </a:extLst>
          </p:cNvPr>
          <p:cNvSpPr>
            <a:spLocks noGrp="1"/>
          </p:cNvSpPr>
          <p:nvPr/>
        </p:nvSpPr>
        <p:spPr>
          <a:xfrm>
            <a:off x="9765792" y="4535424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1" name="TextBox 94">
            <a:extLst>
              <a:ext uri="{FF2B5EF4-FFF2-40B4-BE49-F238E27FC236}">
                <a16:creationId xmlns:a16="http://schemas.microsoft.com/office/drawing/2014/main" id="{01508D2A-1A47-9559-2954-CBC47DAD0597}"/>
              </a:ext>
            </a:extLst>
          </p:cNvPr>
          <p:cNvSpPr>
            <a:spLocks noGrp="1"/>
          </p:cNvSpPr>
          <p:nvPr/>
        </p:nvSpPr>
        <p:spPr>
          <a:xfrm>
            <a:off x="9253728" y="4901184"/>
            <a:ext cx="457200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3" name="TextBox 95">
            <a:extLst>
              <a:ext uri="{FF2B5EF4-FFF2-40B4-BE49-F238E27FC236}">
                <a16:creationId xmlns:a16="http://schemas.microsoft.com/office/drawing/2014/main" id="{376BF18A-048F-FD65-57B3-F9880DB1D956}"/>
              </a:ext>
            </a:extLst>
          </p:cNvPr>
          <p:cNvSpPr>
            <a:spLocks noGrp="1"/>
          </p:cNvSpPr>
          <p:nvPr/>
        </p:nvSpPr>
        <p:spPr>
          <a:xfrm>
            <a:off x="9765792" y="4882896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5" name="TextBox 96">
            <a:extLst>
              <a:ext uri="{FF2B5EF4-FFF2-40B4-BE49-F238E27FC236}">
                <a16:creationId xmlns:a16="http://schemas.microsoft.com/office/drawing/2014/main" id="{F052FB2F-4B4D-3D9F-B690-14979FE36EE2}"/>
              </a:ext>
            </a:extLst>
          </p:cNvPr>
          <p:cNvSpPr>
            <a:spLocks noGrp="1"/>
          </p:cNvSpPr>
          <p:nvPr/>
        </p:nvSpPr>
        <p:spPr>
          <a:xfrm>
            <a:off x="9253728" y="5248656"/>
            <a:ext cx="621792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투자논리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7" name="TextBox 97">
            <a:extLst>
              <a:ext uri="{FF2B5EF4-FFF2-40B4-BE49-F238E27FC236}">
                <a16:creationId xmlns:a16="http://schemas.microsoft.com/office/drawing/2014/main" id="{3A5D0D12-2E36-5F40-6457-DE3D4E2CBC87}"/>
              </a:ext>
            </a:extLst>
          </p:cNvPr>
          <p:cNvSpPr>
            <a:spLocks noGrp="1"/>
          </p:cNvSpPr>
          <p:nvPr/>
        </p:nvSpPr>
        <p:spPr>
          <a:xfrm>
            <a:off x="9875520" y="5230368"/>
            <a:ext cx="8595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C04E4FD0-1B45-FC9F-E57F-D487578FE04F}"/>
              </a:ext>
            </a:extLst>
          </p:cNvPr>
          <p:cNvSpPr>
            <a:spLocks noGrp="1"/>
          </p:cNvSpPr>
          <p:nvPr/>
        </p:nvSpPr>
        <p:spPr>
          <a:xfrm>
            <a:off x="12192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D226F557-AE10-5BF0-558B-67E0FCAC319D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DAB604-2931-AA63-2224-5AF7AB926712}"/>
              </a:ext>
            </a:extLst>
          </p:cNvPr>
          <p:cNvSpPr>
            <a:spLocks noGrp="1"/>
          </p:cNvSpPr>
          <p:nvPr/>
        </p:nvSpPr>
        <p:spPr>
          <a:xfrm>
            <a:off x="12573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고객수요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85" name="화살표: 오른쪽 184">
            <a:extLst>
              <a:ext uri="{FF2B5EF4-FFF2-40B4-BE49-F238E27FC236}">
                <a16:creationId xmlns:a16="http://schemas.microsoft.com/office/drawing/2014/main" id="{109AAB98-FEB6-BD48-A279-9CC03AA23BC2}"/>
              </a:ext>
            </a:extLst>
          </p:cNvPr>
          <p:cNvSpPr>
            <a:spLocks noGrp="1"/>
          </p:cNvSpPr>
          <p:nvPr/>
        </p:nvSpPr>
        <p:spPr>
          <a:xfrm>
            <a:off x="213360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FC37B7BA-E638-65D1-666A-3530E950CB07}"/>
              </a:ext>
            </a:extLst>
          </p:cNvPr>
          <p:cNvSpPr>
            <a:spLocks noGrp="1"/>
          </p:cNvSpPr>
          <p:nvPr/>
        </p:nvSpPr>
        <p:spPr>
          <a:xfrm>
            <a:off x="226695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F3DA52D9-5635-2909-3A9D-75D1173F2D9E}"/>
              </a:ext>
            </a:extLst>
          </p:cNvPr>
          <p:cNvSpPr>
            <a:spLocks noGrp="1"/>
          </p:cNvSpPr>
          <p:nvPr/>
        </p:nvSpPr>
        <p:spPr>
          <a:xfrm>
            <a:off x="230505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B18773E-A240-576D-412C-C1E499829010}"/>
              </a:ext>
            </a:extLst>
          </p:cNvPr>
          <p:cNvSpPr>
            <a:spLocks noGrp="1"/>
          </p:cNvSpPr>
          <p:nvPr/>
        </p:nvSpPr>
        <p:spPr>
          <a:xfrm>
            <a:off x="230505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가공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93" name="화살표: 오른쪽 192">
            <a:extLst>
              <a:ext uri="{FF2B5EF4-FFF2-40B4-BE49-F238E27FC236}">
                <a16:creationId xmlns:a16="http://schemas.microsoft.com/office/drawing/2014/main" id="{1A74B32D-D702-8E68-FD03-199EE81517B8}"/>
              </a:ext>
            </a:extLst>
          </p:cNvPr>
          <p:cNvSpPr>
            <a:spLocks noGrp="1"/>
          </p:cNvSpPr>
          <p:nvPr/>
        </p:nvSpPr>
        <p:spPr>
          <a:xfrm>
            <a:off x="318135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523992C7-7DB1-2ABA-8BAE-8975C9CAAEA7}"/>
              </a:ext>
            </a:extLst>
          </p:cNvPr>
          <p:cNvSpPr>
            <a:spLocks noGrp="1"/>
          </p:cNvSpPr>
          <p:nvPr/>
        </p:nvSpPr>
        <p:spPr>
          <a:xfrm>
            <a:off x="33147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5682C7A1-0B50-1171-6359-1FC7BBF7CD5A}"/>
              </a:ext>
            </a:extLst>
          </p:cNvPr>
          <p:cNvSpPr>
            <a:spLocks noGrp="1"/>
          </p:cNvSpPr>
          <p:nvPr/>
        </p:nvSpPr>
        <p:spPr>
          <a:xfrm>
            <a:off x="33528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2D059DE-A9A3-5D8C-A63D-187EA4833AC1}"/>
              </a:ext>
            </a:extLst>
          </p:cNvPr>
          <p:cNvSpPr>
            <a:spLocks noGrp="1"/>
          </p:cNvSpPr>
          <p:nvPr/>
        </p:nvSpPr>
        <p:spPr>
          <a:xfrm>
            <a:off x="33528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40628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DE2AFB0-2260-408E-84A1-5D0B80E1419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A98620-7C02-40EF-AB22-5422DBFCA158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EBB7F9-D661-4171-9F9D-CEC90603642A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F72BAF-A5C6-43EA-9A7E-8CD532F648B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FD201E-0E5E-41E8-9054-01D6EDFD190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E84FFB-1E9B-435D-8382-DD307A2EAA32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D4AFEB-7CDB-438D-9DEB-C6594F6E27D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B47A12-BAC3-48DD-999F-6FE8534703F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01AEE7-B9FB-489C-9154-61A4DAB5C45F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563C1-5C85-43C3-9883-AD7F077FCC26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98C421-DA31-4F8A-A90D-1A2F92759139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C7A97F-46A2-4760-9CEC-BED5FBCFDCF9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109866-B106-4D24-B135-05F67F81B505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D6274D-922D-4A9E-841D-B9EB7F86BC0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230526-AC8E-4611-B828-8BBBA914371D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사업구조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EF82B168-ADFD-45C6-8F94-62E1E688AFFB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36CD0359-255B-4FBD-97F7-7AC31BBD9A68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61EFC4-9C1C-4950-AFE5-789CA7DF4BF9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DF239DA-E2D7-4353-8165-B2F2AD67C527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D81904-C113-4178-A1E1-B877E0FCA96D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D46C396-AD69-48E6-960C-5EAD1D23190C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4645152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EB7147-F7E9-41DF-9DF7-6E846C2D992D}"/>
              </a:ext>
            </a:extLst>
          </p:cNvPr>
          <p:cNvSpPr>
            <a:spLocks noGrp="1"/>
          </p:cNvSpPr>
          <p:nvPr/>
        </p:nvSpPr>
        <p:spPr>
          <a:xfrm>
            <a:off x="1170432" y="1682496"/>
            <a:ext cx="118872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11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11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4E3882-8261-449A-A802-2535C37B4DAE}"/>
              </a:ext>
            </a:extLst>
          </p:cNvPr>
          <p:cNvSpPr>
            <a:spLocks noGrp="1"/>
          </p:cNvSpPr>
          <p:nvPr/>
        </p:nvSpPr>
        <p:spPr>
          <a:xfrm>
            <a:off x="1170432" y="2011680"/>
            <a:ext cx="407822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현재주가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₩00,000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₩0.0조  | 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대표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00.0x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708A1A-AA54-4975-8294-9A8D065AC627}"/>
              </a:ext>
            </a:extLst>
          </p:cNvPr>
          <p:cNvSpPr>
            <a:spLocks noGrp="1"/>
          </p:cNvSpPr>
          <p:nvPr/>
        </p:nvSpPr>
        <p:spPr>
          <a:xfrm>
            <a:off x="1170432" y="2395728"/>
            <a:ext cx="804672" cy="1585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9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909B19-8274-457F-964B-FED281B6C764}"/>
              </a:ext>
            </a:extLst>
          </p:cNvPr>
          <p:cNvSpPr>
            <a:spLocks noGrp="1"/>
          </p:cNvSpPr>
          <p:nvPr/>
        </p:nvSpPr>
        <p:spPr>
          <a:xfrm>
            <a:off x="1956816" y="2377440"/>
            <a:ext cx="336499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회사가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무엇으로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돈을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벌고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성장을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만드는지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1문장]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D4F9D5-F0C2-4086-A455-B4379D8366C2}"/>
              </a:ext>
            </a:extLst>
          </p:cNvPr>
          <p:cNvSpPr>
            <a:spLocks noGrp="1"/>
          </p:cNvSpPr>
          <p:nvPr/>
        </p:nvSpPr>
        <p:spPr>
          <a:xfrm>
            <a:off x="1170432" y="2743200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9641D7-C3E5-4A68-B5EA-6D47B42BA2D0}"/>
              </a:ext>
            </a:extLst>
          </p:cNvPr>
          <p:cNvSpPr>
            <a:spLocks noGrp="1"/>
          </p:cNvSpPr>
          <p:nvPr/>
        </p:nvSpPr>
        <p:spPr>
          <a:xfrm>
            <a:off x="2029968" y="2724912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189A55-C165-466F-B702-A4B3A89B3B4B}"/>
              </a:ext>
            </a:extLst>
          </p:cNvPr>
          <p:cNvSpPr>
            <a:spLocks noGrp="1"/>
          </p:cNvSpPr>
          <p:nvPr/>
        </p:nvSpPr>
        <p:spPr>
          <a:xfrm>
            <a:off x="1170432" y="3026664"/>
            <a:ext cx="896112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8C8D63-0AD0-4C3E-AEFA-E30CA3373896}"/>
              </a:ext>
            </a:extLst>
          </p:cNvPr>
          <p:cNvSpPr>
            <a:spLocks noGrp="1"/>
          </p:cNvSpPr>
          <p:nvPr/>
        </p:nvSpPr>
        <p:spPr>
          <a:xfrm>
            <a:off x="2029968" y="3008376"/>
            <a:ext cx="3236976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/ASP/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C06D0B5-0386-471B-9DF1-845CF9CBA30C}"/>
              </a:ext>
            </a:extLst>
          </p:cNvPr>
          <p:cNvSpPr>
            <a:spLocks noGrp="1"/>
          </p:cNvSpPr>
          <p:nvPr/>
        </p:nvSpPr>
        <p:spPr>
          <a:xfrm>
            <a:off x="5815584" y="1463040"/>
            <a:ext cx="5266944" cy="186537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0BDB34-17F0-4A72-8B52-B3C4282EA397}"/>
              </a:ext>
            </a:extLst>
          </p:cNvPr>
          <p:cNvSpPr>
            <a:spLocks noGrp="1"/>
          </p:cNvSpPr>
          <p:nvPr/>
        </p:nvSpPr>
        <p:spPr>
          <a:xfrm>
            <a:off x="6071616" y="1682496"/>
            <a:ext cx="1408176" cy="1738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9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9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endParaRPr sz="89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C88A5A-2D7F-4ED1-883F-3FEA9961E5A2}"/>
              </a:ext>
            </a:extLst>
          </p:cNvPr>
          <p:cNvSpPr>
            <a:spLocks noGrp="1"/>
          </p:cNvSpPr>
          <p:nvPr/>
        </p:nvSpPr>
        <p:spPr>
          <a:xfrm>
            <a:off x="6071616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시가총액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5E43FC-3783-4EDD-831A-5900CC91EE34}"/>
              </a:ext>
            </a:extLst>
          </p:cNvPr>
          <p:cNvSpPr>
            <a:spLocks noGrp="1"/>
          </p:cNvSpPr>
          <p:nvPr/>
        </p:nvSpPr>
        <p:spPr>
          <a:xfrm>
            <a:off x="6071616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77ABBE-F260-430E-ADAF-20B5D216C21F}"/>
              </a:ext>
            </a:extLst>
          </p:cNvPr>
          <p:cNvSpPr>
            <a:spLocks noGrp="1"/>
          </p:cNvSpPr>
          <p:nvPr/>
        </p:nvSpPr>
        <p:spPr>
          <a:xfrm>
            <a:off x="7598663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1E389B-2A0F-455A-B1B3-461C6558E5A3}"/>
              </a:ext>
            </a:extLst>
          </p:cNvPr>
          <p:cNvSpPr>
            <a:spLocks noGrp="1"/>
          </p:cNvSpPr>
          <p:nvPr/>
        </p:nvSpPr>
        <p:spPr>
          <a:xfrm>
            <a:off x="7598663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E2754D-76C2-4505-BF9A-FAD6129104D2}"/>
              </a:ext>
            </a:extLst>
          </p:cNvPr>
          <p:cNvSpPr>
            <a:spLocks noGrp="1"/>
          </p:cNvSpPr>
          <p:nvPr/>
        </p:nvSpPr>
        <p:spPr>
          <a:xfrm>
            <a:off x="9125712" y="202996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순현금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부채</a:t>
            </a:r>
            <a:endParaRPr sz="69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AEF3AB-CF19-4421-B1D0-F5857ED5C9DD}"/>
              </a:ext>
            </a:extLst>
          </p:cNvPr>
          <p:cNvSpPr>
            <a:spLocks noGrp="1"/>
          </p:cNvSpPr>
          <p:nvPr/>
        </p:nvSpPr>
        <p:spPr>
          <a:xfrm>
            <a:off x="9125712" y="221284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₩0.0조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086C11-2C94-4177-ABA7-6C94B2FDAC36}"/>
              </a:ext>
            </a:extLst>
          </p:cNvPr>
          <p:cNvSpPr>
            <a:spLocks noGrp="1"/>
          </p:cNvSpPr>
          <p:nvPr/>
        </p:nvSpPr>
        <p:spPr>
          <a:xfrm>
            <a:off x="6071616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03C14B-72A6-4060-BCEA-05A46168E4ED}"/>
              </a:ext>
            </a:extLst>
          </p:cNvPr>
          <p:cNvSpPr>
            <a:spLocks noGrp="1"/>
          </p:cNvSpPr>
          <p:nvPr/>
        </p:nvSpPr>
        <p:spPr>
          <a:xfrm>
            <a:off x="6071616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1D3CF2-1429-4B9D-BA25-332877419BA8}"/>
              </a:ext>
            </a:extLst>
          </p:cNvPr>
          <p:cNvSpPr>
            <a:spLocks noGrp="1"/>
          </p:cNvSpPr>
          <p:nvPr/>
        </p:nvSpPr>
        <p:spPr>
          <a:xfrm>
            <a:off x="7598663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PBR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8A1427-B8F5-4D59-82C9-C88AD3A7D75C}"/>
              </a:ext>
            </a:extLst>
          </p:cNvPr>
          <p:cNvSpPr>
            <a:spLocks noGrp="1"/>
          </p:cNvSpPr>
          <p:nvPr/>
        </p:nvSpPr>
        <p:spPr>
          <a:xfrm>
            <a:off x="7598663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0.0x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59857C0-8517-4948-9E58-80FDE613DE68}"/>
              </a:ext>
            </a:extLst>
          </p:cNvPr>
          <p:cNvSpPr>
            <a:spLocks noGrp="1"/>
          </p:cNvSpPr>
          <p:nvPr/>
        </p:nvSpPr>
        <p:spPr>
          <a:xfrm>
            <a:off x="9125712" y="2532888"/>
            <a:ext cx="133502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EV/EBITDA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AF9A35-8CE3-49FD-AAC3-853C426F2B4F}"/>
              </a:ext>
            </a:extLst>
          </p:cNvPr>
          <p:cNvSpPr>
            <a:spLocks noGrp="1"/>
          </p:cNvSpPr>
          <p:nvPr/>
        </p:nvSpPr>
        <p:spPr>
          <a:xfrm>
            <a:off x="9125712" y="2715768"/>
            <a:ext cx="1335024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00.0x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921682-87F4-48CA-822B-E26EC10B710A}"/>
              </a:ext>
            </a:extLst>
          </p:cNvPr>
          <p:cNvSpPr>
            <a:spLocks noGrp="1"/>
          </p:cNvSpPr>
          <p:nvPr/>
        </p:nvSpPr>
        <p:spPr>
          <a:xfrm>
            <a:off x="6071616" y="3035808"/>
            <a:ext cx="1408176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가격이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반영한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기대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95FC3F-6E34-45C0-88E3-0968CDDF0B50}"/>
              </a:ext>
            </a:extLst>
          </p:cNvPr>
          <p:cNvSpPr>
            <a:spLocks noGrp="1"/>
          </p:cNvSpPr>
          <p:nvPr/>
        </p:nvSpPr>
        <p:spPr>
          <a:xfrm>
            <a:off x="7498079" y="3008376"/>
            <a:ext cx="316382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가정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EC76ED95-3127-443F-B433-B948BDCDBEBA}"/>
              </a:ext>
            </a:extLst>
          </p:cNvPr>
          <p:cNvSpPr>
            <a:spLocks noGrp="1"/>
          </p:cNvSpPr>
          <p:nvPr/>
        </p:nvSpPr>
        <p:spPr>
          <a:xfrm>
            <a:off x="932688" y="3575304"/>
            <a:ext cx="3712463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Rectangle 1">
            <a:extLst>
              <a:ext uri="{FF2B5EF4-FFF2-40B4-BE49-F238E27FC236}">
                <a16:creationId xmlns:a16="http://schemas.microsoft.com/office/drawing/2014/main" id="{C0E9F6C5-D806-7D89-CB95-EC89C8CB4E2A}"/>
              </a:ext>
            </a:extLst>
          </p:cNvPr>
          <p:cNvSpPr>
            <a:spLocks noGrp="1"/>
          </p:cNvSpPr>
          <p:nvPr/>
        </p:nvSpPr>
        <p:spPr>
          <a:xfrm>
            <a:off x="3671" y="-983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4" name="TextBox 12">
            <a:extLst>
              <a:ext uri="{FF2B5EF4-FFF2-40B4-BE49-F238E27FC236}">
                <a16:creationId xmlns:a16="http://schemas.microsoft.com/office/drawing/2014/main" id="{026C391F-4F37-3ECA-B9A7-AC94E8BE2513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6" name="TextBox 13">
            <a:extLst>
              <a:ext uri="{FF2B5EF4-FFF2-40B4-BE49-F238E27FC236}">
                <a16:creationId xmlns:a16="http://schemas.microsoft.com/office/drawing/2014/main" id="{AA8590B9-BD6A-2BB6-64E1-3D62C5D323F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8" name="TextBox 14">
            <a:extLst>
              <a:ext uri="{FF2B5EF4-FFF2-40B4-BE49-F238E27FC236}">
                <a16:creationId xmlns:a16="http://schemas.microsoft.com/office/drawing/2014/main" id="{502DBEAC-FA0D-5D99-E65D-67FB0C431931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0" name="TextBox 15">
            <a:extLst>
              <a:ext uri="{FF2B5EF4-FFF2-40B4-BE49-F238E27FC236}">
                <a16:creationId xmlns:a16="http://schemas.microsoft.com/office/drawing/2014/main" id="{D8BCD019-EEE4-5A3F-C233-54C1BFE0B0A4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2" name="TextBox 6">
            <a:extLst>
              <a:ext uri="{FF2B5EF4-FFF2-40B4-BE49-F238E27FC236}">
                <a16:creationId xmlns:a16="http://schemas.microsoft.com/office/drawing/2014/main" id="{451BC36E-7F4A-FE1E-184E-8B4B10AF44E6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4" name="TextBox 7">
            <a:extLst>
              <a:ext uri="{FF2B5EF4-FFF2-40B4-BE49-F238E27FC236}">
                <a16:creationId xmlns:a16="http://schemas.microsoft.com/office/drawing/2014/main" id="{26F70C38-DC21-AAD2-5DD1-D35F99DF0FCD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6" name="TextBox 8">
            <a:extLst>
              <a:ext uri="{FF2B5EF4-FFF2-40B4-BE49-F238E27FC236}">
                <a16:creationId xmlns:a16="http://schemas.microsoft.com/office/drawing/2014/main" id="{7F15D23F-FC80-7BD8-2F09-F093AE97405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48" name="TextBox 9">
            <a:extLst>
              <a:ext uri="{FF2B5EF4-FFF2-40B4-BE49-F238E27FC236}">
                <a16:creationId xmlns:a16="http://schemas.microsoft.com/office/drawing/2014/main" id="{C5845F8A-3B3D-2A4D-7D5C-BF944737706B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0" name="TextBox 4">
            <a:extLst>
              <a:ext uri="{FF2B5EF4-FFF2-40B4-BE49-F238E27FC236}">
                <a16:creationId xmlns:a16="http://schemas.microsoft.com/office/drawing/2014/main" id="{30E8BBB3-32E6-AE71-7269-BC14E94A440C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2" name="TextBox 5">
            <a:extLst>
              <a:ext uri="{FF2B5EF4-FFF2-40B4-BE49-F238E27FC236}">
                <a16:creationId xmlns:a16="http://schemas.microsoft.com/office/drawing/2014/main" id="{29242516-70E2-B8E0-8D5A-5CB310338A73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4" name="Rounded Rectangle 3">
            <a:extLst>
              <a:ext uri="{FF2B5EF4-FFF2-40B4-BE49-F238E27FC236}">
                <a16:creationId xmlns:a16="http://schemas.microsoft.com/office/drawing/2014/main" id="{64AC4885-0A7F-F1AC-6BC3-976D347CF70A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6" name="TextBox 6">
            <a:extLst>
              <a:ext uri="{FF2B5EF4-FFF2-40B4-BE49-F238E27FC236}">
                <a16:creationId xmlns:a16="http://schemas.microsoft.com/office/drawing/2014/main" id="{B04E9DA0-31F7-D670-C6D2-F7672736EF33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8" name="TextBox 7">
            <a:extLst>
              <a:ext uri="{FF2B5EF4-FFF2-40B4-BE49-F238E27FC236}">
                <a16:creationId xmlns:a16="http://schemas.microsoft.com/office/drawing/2014/main" id="{DE87200E-8953-012D-9712-D724CB2B6738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ED516C-1C5A-CA35-DE12-FF429C6742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64">
            <a:extLst>
              <a:ext uri="{FF2B5EF4-FFF2-40B4-BE49-F238E27FC236}">
                <a16:creationId xmlns:a16="http://schemas.microsoft.com/office/drawing/2014/main" id="{5054C945-088B-5C89-3A5A-17F3E3B750D7}"/>
              </a:ext>
            </a:extLst>
          </p:cNvPr>
          <p:cNvSpPr>
            <a:spLocks noGrp="1"/>
          </p:cNvSpPr>
          <p:nvPr/>
        </p:nvSpPr>
        <p:spPr>
          <a:xfrm>
            <a:off x="1170432" y="3803904"/>
            <a:ext cx="1207008" cy="30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구성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Input / Output</a:t>
            </a:r>
          </a:p>
        </p:txBody>
      </p:sp>
      <p:sp>
        <p:nvSpPr>
          <p:cNvPr id="6" name="Rectangle 65">
            <a:extLst>
              <a:ext uri="{FF2B5EF4-FFF2-40B4-BE49-F238E27FC236}">
                <a16:creationId xmlns:a16="http://schemas.microsoft.com/office/drawing/2014/main" id="{118DE2EE-D5B9-34F6-8E3E-F3543CE768C9}"/>
              </a:ext>
            </a:extLst>
          </p:cNvPr>
          <p:cNvSpPr>
            <a:spLocks noGrp="1"/>
          </p:cNvSpPr>
          <p:nvPr/>
        </p:nvSpPr>
        <p:spPr>
          <a:xfrm>
            <a:off x="1225296" y="4279392"/>
            <a:ext cx="1417320" cy="3108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Rectangle 66">
            <a:extLst>
              <a:ext uri="{FF2B5EF4-FFF2-40B4-BE49-F238E27FC236}">
                <a16:creationId xmlns:a16="http://schemas.microsoft.com/office/drawing/2014/main" id="{C5376BA7-D337-5E11-4EAA-7ACE4C2784A3}"/>
              </a:ext>
            </a:extLst>
          </p:cNvPr>
          <p:cNvSpPr>
            <a:spLocks noGrp="1"/>
          </p:cNvSpPr>
          <p:nvPr/>
        </p:nvSpPr>
        <p:spPr>
          <a:xfrm>
            <a:off x="2642616" y="4279392"/>
            <a:ext cx="868680" cy="310896"/>
          </a:xfrm>
          <a:prstGeom prst="rect">
            <a:avLst/>
          </a:prstGeom>
          <a:solidFill>
            <a:srgbClr val="4785C7"/>
          </a:solidFill>
          <a:ln>
            <a:solidFill>
              <a:srgbClr val="4785C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" name="Rectangle 67">
            <a:extLst>
              <a:ext uri="{FF2B5EF4-FFF2-40B4-BE49-F238E27FC236}">
                <a16:creationId xmlns:a16="http://schemas.microsoft.com/office/drawing/2014/main" id="{F003490E-5BC0-2F97-E490-838B1317C69C}"/>
              </a:ext>
            </a:extLst>
          </p:cNvPr>
          <p:cNvSpPr>
            <a:spLocks noGrp="1"/>
          </p:cNvSpPr>
          <p:nvPr/>
        </p:nvSpPr>
        <p:spPr>
          <a:xfrm>
            <a:off x="3511296" y="4279392"/>
            <a:ext cx="640080" cy="310896"/>
          </a:xfrm>
          <a:prstGeom prst="rect">
            <a:avLst/>
          </a:prstGeom>
          <a:solidFill>
            <a:srgbClr val="EBF3FC"/>
          </a:solidFill>
          <a:ln>
            <a:solidFill>
              <a:srgbClr val="EBF3FC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" name="TextBox 68">
            <a:extLst>
              <a:ext uri="{FF2B5EF4-FFF2-40B4-BE49-F238E27FC236}">
                <a16:creationId xmlns:a16="http://schemas.microsoft.com/office/drawing/2014/main" id="{6B858AA7-9679-3CF1-22D1-FD39ABE55A92}"/>
              </a:ext>
            </a:extLst>
          </p:cNvPr>
          <p:cNvSpPr>
            <a:spLocks noGrp="1"/>
          </p:cNvSpPr>
          <p:nvPr/>
        </p:nvSpPr>
        <p:spPr>
          <a:xfrm>
            <a:off x="1225296" y="4681728"/>
            <a:ext cx="294436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1 50%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2 30%   </a:t>
            </a:r>
            <a:r>
              <a:rPr sz="70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</a:t>
            </a:r>
            <a:r>
              <a:rPr sz="70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3 20%</a:t>
            </a:r>
          </a:p>
        </p:txBody>
      </p:sp>
      <p:sp>
        <p:nvSpPr>
          <p:cNvPr id="16" name="Rounded Rectangle 70">
            <a:extLst>
              <a:ext uri="{FF2B5EF4-FFF2-40B4-BE49-F238E27FC236}">
                <a16:creationId xmlns:a16="http://schemas.microsoft.com/office/drawing/2014/main" id="{2EAA1466-4340-298C-8568-01439258683B}"/>
              </a:ext>
            </a:extLst>
          </p:cNvPr>
          <p:cNvSpPr>
            <a:spLocks noGrp="1"/>
          </p:cNvSpPr>
          <p:nvPr/>
        </p:nvSpPr>
        <p:spPr>
          <a:xfrm>
            <a:off x="4882896" y="3575304"/>
            <a:ext cx="3895344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TextBox 71">
            <a:extLst>
              <a:ext uri="{FF2B5EF4-FFF2-40B4-BE49-F238E27FC236}">
                <a16:creationId xmlns:a16="http://schemas.microsoft.com/office/drawing/2014/main" id="{A404743D-8602-A48B-80C4-BF192DE4BD1B}"/>
              </a:ext>
            </a:extLst>
          </p:cNvPr>
          <p:cNvSpPr>
            <a:spLocks noGrp="1"/>
          </p:cNvSpPr>
          <p:nvPr/>
        </p:nvSpPr>
        <p:spPr>
          <a:xfrm>
            <a:off x="5138928" y="3794760"/>
            <a:ext cx="340156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Connector 72">
            <a:extLst>
              <a:ext uri="{FF2B5EF4-FFF2-40B4-BE49-F238E27FC236}">
                <a16:creationId xmlns:a16="http://schemas.microsoft.com/office/drawing/2014/main" id="{196D5117-B0EE-4863-003F-8641D1C24B18}"/>
              </a:ext>
            </a:extLst>
          </p:cNvPr>
          <p:cNvSpPr>
            <a:spLocks noGrp="1"/>
          </p:cNvSpPr>
          <p:nvPr/>
        </p:nvSpPr>
        <p:spPr>
          <a:xfrm>
            <a:off x="5458968" y="5193792"/>
            <a:ext cx="2971800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16" name="Rectangle 73">
            <a:extLst>
              <a:ext uri="{FF2B5EF4-FFF2-40B4-BE49-F238E27FC236}">
                <a16:creationId xmlns:a16="http://schemas.microsoft.com/office/drawing/2014/main" id="{31992FE2-B784-D066-E1E2-E2913BFB622F}"/>
              </a:ext>
            </a:extLst>
          </p:cNvPr>
          <p:cNvSpPr>
            <a:spLocks noGrp="1"/>
          </p:cNvSpPr>
          <p:nvPr/>
        </p:nvSpPr>
        <p:spPr>
          <a:xfrm>
            <a:off x="5550408" y="4864380"/>
            <a:ext cx="244419" cy="329411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8" name="TextBox 74">
            <a:extLst>
              <a:ext uri="{FF2B5EF4-FFF2-40B4-BE49-F238E27FC236}">
                <a16:creationId xmlns:a16="http://schemas.microsoft.com/office/drawing/2014/main" id="{88C2ECA0-0D50-2805-5DFB-743D0BE77057}"/>
              </a:ext>
            </a:extLst>
          </p:cNvPr>
          <p:cNvSpPr>
            <a:spLocks noGrp="1"/>
          </p:cNvSpPr>
          <p:nvPr/>
        </p:nvSpPr>
        <p:spPr>
          <a:xfrm>
            <a:off x="5477256" y="4681500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60</a:t>
            </a:r>
          </a:p>
        </p:txBody>
      </p:sp>
      <p:sp>
        <p:nvSpPr>
          <p:cNvPr id="120" name="TextBox 75">
            <a:extLst>
              <a:ext uri="{FF2B5EF4-FFF2-40B4-BE49-F238E27FC236}">
                <a16:creationId xmlns:a16="http://schemas.microsoft.com/office/drawing/2014/main" id="{22D57D86-E648-4A3E-F6F4-5D7853415387}"/>
              </a:ext>
            </a:extLst>
          </p:cNvPr>
          <p:cNvSpPr>
            <a:spLocks noGrp="1"/>
          </p:cNvSpPr>
          <p:nvPr/>
        </p:nvSpPr>
        <p:spPr>
          <a:xfrm>
            <a:off x="545896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122" name="Rectangle 76">
            <a:extLst>
              <a:ext uri="{FF2B5EF4-FFF2-40B4-BE49-F238E27FC236}">
                <a16:creationId xmlns:a16="http://schemas.microsoft.com/office/drawing/2014/main" id="{170D3208-0E36-9E75-054E-3DA37B5F002E}"/>
              </a:ext>
            </a:extLst>
          </p:cNvPr>
          <p:cNvSpPr>
            <a:spLocks noGrp="1"/>
          </p:cNvSpPr>
          <p:nvPr/>
        </p:nvSpPr>
        <p:spPr>
          <a:xfrm>
            <a:off x="6093561" y="4765557"/>
            <a:ext cx="244419" cy="428234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24" name="TextBox 77">
            <a:extLst>
              <a:ext uri="{FF2B5EF4-FFF2-40B4-BE49-F238E27FC236}">
                <a16:creationId xmlns:a16="http://schemas.microsoft.com/office/drawing/2014/main" id="{223592CE-D9A9-F088-9919-C3AB5FDF06D0}"/>
              </a:ext>
            </a:extLst>
          </p:cNvPr>
          <p:cNvSpPr>
            <a:spLocks noGrp="1"/>
          </p:cNvSpPr>
          <p:nvPr/>
        </p:nvSpPr>
        <p:spPr>
          <a:xfrm>
            <a:off x="6020409" y="4582677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78</a:t>
            </a:r>
          </a:p>
        </p:txBody>
      </p:sp>
      <p:sp>
        <p:nvSpPr>
          <p:cNvPr id="126" name="TextBox 78">
            <a:extLst>
              <a:ext uri="{FF2B5EF4-FFF2-40B4-BE49-F238E27FC236}">
                <a16:creationId xmlns:a16="http://schemas.microsoft.com/office/drawing/2014/main" id="{CAF2E878-B798-7D1E-1CBB-0A41F6AB0C70}"/>
              </a:ext>
            </a:extLst>
          </p:cNvPr>
          <p:cNvSpPr>
            <a:spLocks noGrp="1"/>
          </p:cNvSpPr>
          <p:nvPr/>
        </p:nvSpPr>
        <p:spPr>
          <a:xfrm>
            <a:off x="6002121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128" name="Rectangle 79">
            <a:extLst>
              <a:ext uri="{FF2B5EF4-FFF2-40B4-BE49-F238E27FC236}">
                <a16:creationId xmlns:a16="http://schemas.microsoft.com/office/drawing/2014/main" id="{1B465C01-E9D4-7F76-8DB6-2C308005EA51}"/>
              </a:ext>
            </a:extLst>
          </p:cNvPr>
          <p:cNvSpPr>
            <a:spLocks noGrp="1"/>
          </p:cNvSpPr>
          <p:nvPr/>
        </p:nvSpPr>
        <p:spPr>
          <a:xfrm>
            <a:off x="6636715" y="4688694"/>
            <a:ext cx="244419" cy="505097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0" name="TextBox 80">
            <a:extLst>
              <a:ext uri="{FF2B5EF4-FFF2-40B4-BE49-F238E27FC236}">
                <a16:creationId xmlns:a16="http://schemas.microsoft.com/office/drawing/2014/main" id="{00A60971-E17B-1D39-EDFC-B35C12B3ECFF}"/>
              </a:ext>
            </a:extLst>
          </p:cNvPr>
          <p:cNvSpPr>
            <a:spLocks noGrp="1"/>
          </p:cNvSpPr>
          <p:nvPr/>
        </p:nvSpPr>
        <p:spPr>
          <a:xfrm>
            <a:off x="6563563" y="4505814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92</a:t>
            </a:r>
          </a:p>
        </p:txBody>
      </p:sp>
      <p:sp>
        <p:nvSpPr>
          <p:cNvPr id="132" name="TextBox 81">
            <a:extLst>
              <a:ext uri="{FF2B5EF4-FFF2-40B4-BE49-F238E27FC236}">
                <a16:creationId xmlns:a16="http://schemas.microsoft.com/office/drawing/2014/main" id="{9C116A96-C931-AAD6-BDD7-91598F643365}"/>
              </a:ext>
            </a:extLst>
          </p:cNvPr>
          <p:cNvSpPr>
            <a:spLocks noGrp="1"/>
          </p:cNvSpPr>
          <p:nvPr/>
        </p:nvSpPr>
        <p:spPr>
          <a:xfrm>
            <a:off x="6545275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135" name="Rectangle 82">
            <a:extLst>
              <a:ext uri="{FF2B5EF4-FFF2-40B4-BE49-F238E27FC236}">
                <a16:creationId xmlns:a16="http://schemas.microsoft.com/office/drawing/2014/main" id="{94B6D2F2-6904-EC12-C260-ECFC88D03BBE}"/>
              </a:ext>
            </a:extLst>
          </p:cNvPr>
          <p:cNvSpPr>
            <a:spLocks noGrp="1"/>
          </p:cNvSpPr>
          <p:nvPr/>
        </p:nvSpPr>
        <p:spPr>
          <a:xfrm>
            <a:off x="7179868" y="4600851"/>
            <a:ext cx="244419" cy="592940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9" name="TextBox 83">
            <a:extLst>
              <a:ext uri="{FF2B5EF4-FFF2-40B4-BE49-F238E27FC236}">
                <a16:creationId xmlns:a16="http://schemas.microsoft.com/office/drawing/2014/main" id="{2C6E271C-C809-4CC5-6FCE-DDA64A1A57E8}"/>
              </a:ext>
            </a:extLst>
          </p:cNvPr>
          <p:cNvSpPr>
            <a:spLocks noGrp="1"/>
          </p:cNvSpPr>
          <p:nvPr/>
        </p:nvSpPr>
        <p:spPr>
          <a:xfrm>
            <a:off x="7106716" y="4417971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108</a:t>
            </a:r>
          </a:p>
        </p:txBody>
      </p:sp>
      <p:sp>
        <p:nvSpPr>
          <p:cNvPr id="143" name="TextBox 84">
            <a:extLst>
              <a:ext uri="{FF2B5EF4-FFF2-40B4-BE49-F238E27FC236}">
                <a16:creationId xmlns:a16="http://schemas.microsoft.com/office/drawing/2014/main" id="{DAA664F5-4BCB-5EC5-3322-A46D158A85B6}"/>
              </a:ext>
            </a:extLst>
          </p:cNvPr>
          <p:cNvSpPr>
            <a:spLocks noGrp="1"/>
          </p:cNvSpPr>
          <p:nvPr/>
        </p:nvSpPr>
        <p:spPr>
          <a:xfrm>
            <a:off x="7088428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147" name="Rectangle 85">
            <a:extLst>
              <a:ext uri="{FF2B5EF4-FFF2-40B4-BE49-F238E27FC236}">
                <a16:creationId xmlns:a16="http://schemas.microsoft.com/office/drawing/2014/main" id="{70E36460-FDD9-0488-80A1-2DEE53E848BC}"/>
              </a:ext>
            </a:extLst>
          </p:cNvPr>
          <p:cNvSpPr>
            <a:spLocks noGrp="1"/>
          </p:cNvSpPr>
          <p:nvPr/>
        </p:nvSpPr>
        <p:spPr>
          <a:xfrm>
            <a:off x="7723022" y="4502028"/>
            <a:ext cx="244419" cy="691763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1" name="TextBox 86">
            <a:extLst>
              <a:ext uri="{FF2B5EF4-FFF2-40B4-BE49-F238E27FC236}">
                <a16:creationId xmlns:a16="http://schemas.microsoft.com/office/drawing/2014/main" id="{75597AE9-48CF-22D7-67BE-1167A3F3EA9C}"/>
              </a:ext>
            </a:extLst>
          </p:cNvPr>
          <p:cNvSpPr>
            <a:spLocks noGrp="1"/>
          </p:cNvSpPr>
          <p:nvPr/>
        </p:nvSpPr>
        <p:spPr>
          <a:xfrm>
            <a:off x="7649870" y="4319148"/>
            <a:ext cx="390723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126</a:t>
            </a:r>
          </a:p>
        </p:txBody>
      </p:sp>
      <p:sp>
        <p:nvSpPr>
          <p:cNvPr id="155" name="TextBox 87">
            <a:extLst>
              <a:ext uri="{FF2B5EF4-FFF2-40B4-BE49-F238E27FC236}">
                <a16:creationId xmlns:a16="http://schemas.microsoft.com/office/drawing/2014/main" id="{9B7B084C-36F5-AAF2-A5DF-4480A9EDA464}"/>
              </a:ext>
            </a:extLst>
          </p:cNvPr>
          <p:cNvSpPr>
            <a:spLocks noGrp="1"/>
          </p:cNvSpPr>
          <p:nvPr/>
        </p:nvSpPr>
        <p:spPr>
          <a:xfrm>
            <a:off x="7631582" y="5285232"/>
            <a:ext cx="427299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159" name="Rounded Rectangle 88">
            <a:extLst>
              <a:ext uri="{FF2B5EF4-FFF2-40B4-BE49-F238E27FC236}">
                <a16:creationId xmlns:a16="http://schemas.microsoft.com/office/drawing/2014/main" id="{81D585DC-E840-F0CF-C2F2-EB2293BD9722}"/>
              </a:ext>
            </a:extLst>
          </p:cNvPr>
          <p:cNvSpPr>
            <a:spLocks noGrp="1"/>
          </p:cNvSpPr>
          <p:nvPr/>
        </p:nvSpPr>
        <p:spPr>
          <a:xfrm>
            <a:off x="9015984" y="3575304"/>
            <a:ext cx="2066543" cy="219456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762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1" name="TextBox 89">
            <a:extLst>
              <a:ext uri="{FF2B5EF4-FFF2-40B4-BE49-F238E27FC236}">
                <a16:creationId xmlns:a16="http://schemas.microsoft.com/office/drawing/2014/main" id="{F110D60D-6BE9-6E74-8C84-2EE9A4CAF799}"/>
              </a:ext>
            </a:extLst>
          </p:cNvPr>
          <p:cNvSpPr>
            <a:spLocks noGrp="1"/>
          </p:cNvSpPr>
          <p:nvPr/>
        </p:nvSpPr>
        <p:spPr>
          <a:xfrm>
            <a:off x="9253728" y="3813048"/>
            <a:ext cx="1078992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</a:t>
            </a:r>
            <a:r>
              <a:rPr sz="86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6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판단</a:t>
            </a:r>
            <a:endParaRPr sz="86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3" name="TextBox 90">
            <a:extLst>
              <a:ext uri="{FF2B5EF4-FFF2-40B4-BE49-F238E27FC236}">
                <a16:creationId xmlns:a16="http://schemas.microsoft.com/office/drawing/2014/main" id="{E158E87B-1769-09FE-7C0E-813CA3EBD1D1}"/>
              </a:ext>
            </a:extLst>
          </p:cNvPr>
          <p:cNvSpPr>
            <a:spLocks noGrp="1"/>
          </p:cNvSpPr>
          <p:nvPr/>
        </p:nvSpPr>
        <p:spPr>
          <a:xfrm>
            <a:off x="9253728" y="4206240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5" name="TextBox 91">
            <a:extLst>
              <a:ext uri="{FF2B5EF4-FFF2-40B4-BE49-F238E27FC236}">
                <a16:creationId xmlns:a16="http://schemas.microsoft.com/office/drawing/2014/main" id="{7770E044-9A33-4B1D-2B88-9CF4B45B4937}"/>
              </a:ext>
            </a:extLst>
          </p:cNvPr>
          <p:cNvSpPr>
            <a:spLocks noGrp="1"/>
          </p:cNvSpPr>
          <p:nvPr/>
        </p:nvSpPr>
        <p:spPr>
          <a:xfrm>
            <a:off x="9765792" y="4187952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67" name="TextBox 92">
            <a:extLst>
              <a:ext uri="{FF2B5EF4-FFF2-40B4-BE49-F238E27FC236}">
                <a16:creationId xmlns:a16="http://schemas.microsoft.com/office/drawing/2014/main" id="{D06128EA-6AD9-D4C0-9C9E-2DD2FDFAAB0B}"/>
              </a:ext>
            </a:extLst>
          </p:cNvPr>
          <p:cNvSpPr>
            <a:spLocks noGrp="1"/>
          </p:cNvSpPr>
          <p:nvPr/>
        </p:nvSpPr>
        <p:spPr>
          <a:xfrm>
            <a:off x="9253728" y="4553712"/>
            <a:ext cx="45720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9" name="TextBox 93">
            <a:extLst>
              <a:ext uri="{FF2B5EF4-FFF2-40B4-BE49-F238E27FC236}">
                <a16:creationId xmlns:a16="http://schemas.microsoft.com/office/drawing/2014/main" id="{E3269499-FC15-2A14-8786-D916C372B9F0}"/>
              </a:ext>
            </a:extLst>
          </p:cNvPr>
          <p:cNvSpPr>
            <a:spLocks noGrp="1"/>
          </p:cNvSpPr>
          <p:nvPr/>
        </p:nvSpPr>
        <p:spPr>
          <a:xfrm>
            <a:off x="9765792" y="4535424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1" name="TextBox 94">
            <a:extLst>
              <a:ext uri="{FF2B5EF4-FFF2-40B4-BE49-F238E27FC236}">
                <a16:creationId xmlns:a16="http://schemas.microsoft.com/office/drawing/2014/main" id="{37976A4F-70FF-070B-059D-5EC431BCDD93}"/>
              </a:ext>
            </a:extLst>
          </p:cNvPr>
          <p:cNvSpPr>
            <a:spLocks noGrp="1"/>
          </p:cNvSpPr>
          <p:nvPr/>
        </p:nvSpPr>
        <p:spPr>
          <a:xfrm>
            <a:off x="9253728" y="4901184"/>
            <a:ext cx="457200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3" name="TextBox 95">
            <a:extLst>
              <a:ext uri="{FF2B5EF4-FFF2-40B4-BE49-F238E27FC236}">
                <a16:creationId xmlns:a16="http://schemas.microsoft.com/office/drawing/2014/main" id="{441B6960-ECDA-D80A-826B-D1496810B58B}"/>
              </a:ext>
            </a:extLst>
          </p:cNvPr>
          <p:cNvSpPr>
            <a:spLocks noGrp="1"/>
          </p:cNvSpPr>
          <p:nvPr/>
        </p:nvSpPr>
        <p:spPr>
          <a:xfrm>
            <a:off x="9765792" y="4882896"/>
            <a:ext cx="9692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5" name="TextBox 96">
            <a:extLst>
              <a:ext uri="{FF2B5EF4-FFF2-40B4-BE49-F238E27FC236}">
                <a16:creationId xmlns:a16="http://schemas.microsoft.com/office/drawing/2014/main" id="{8316E6FC-40EB-2752-2D0D-1E6C1CD8F479}"/>
              </a:ext>
            </a:extLst>
          </p:cNvPr>
          <p:cNvSpPr>
            <a:spLocks noGrp="1"/>
          </p:cNvSpPr>
          <p:nvPr/>
        </p:nvSpPr>
        <p:spPr>
          <a:xfrm>
            <a:off x="9253728" y="5248656"/>
            <a:ext cx="621792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투자논리</a:t>
            </a:r>
            <a:r>
              <a:rPr sz="75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endParaRPr sz="75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7" name="TextBox 97">
            <a:extLst>
              <a:ext uri="{FF2B5EF4-FFF2-40B4-BE49-F238E27FC236}">
                <a16:creationId xmlns:a16="http://schemas.microsoft.com/office/drawing/2014/main" id="{6B52D7BA-0B4A-8690-5662-68B1B4BD26E2}"/>
              </a:ext>
            </a:extLst>
          </p:cNvPr>
          <p:cNvSpPr>
            <a:spLocks noGrp="1"/>
          </p:cNvSpPr>
          <p:nvPr/>
        </p:nvSpPr>
        <p:spPr>
          <a:xfrm>
            <a:off x="9875520" y="5230368"/>
            <a:ext cx="85953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ED5B960E-7C98-62F4-650A-0AD98623BDF7}"/>
              </a:ext>
            </a:extLst>
          </p:cNvPr>
          <p:cNvSpPr>
            <a:spLocks noGrp="1"/>
          </p:cNvSpPr>
          <p:nvPr/>
        </p:nvSpPr>
        <p:spPr>
          <a:xfrm>
            <a:off x="12192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3123BE76-2938-BEA0-B147-841EB6CF250F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Input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F170210F-57F2-7987-789E-C9FCFAB2D18B}"/>
              </a:ext>
            </a:extLst>
          </p:cNvPr>
          <p:cNvSpPr>
            <a:spLocks noGrp="1"/>
          </p:cNvSpPr>
          <p:nvPr/>
        </p:nvSpPr>
        <p:spPr>
          <a:xfrm>
            <a:off x="12573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원재료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고객수요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85" name="화살표: 오른쪽 184">
            <a:extLst>
              <a:ext uri="{FF2B5EF4-FFF2-40B4-BE49-F238E27FC236}">
                <a16:creationId xmlns:a16="http://schemas.microsoft.com/office/drawing/2014/main" id="{5F15857E-579A-2763-C020-BDB88AA97D7C}"/>
              </a:ext>
            </a:extLst>
          </p:cNvPr>
          <p:cNvSpPr>
            <a:spLocks noGrp="1"/>
          </p:cNvSpPr>
          <p:nvPr/>
        </p:nvSpPr>
        <p:spPr>
          <a:xfrm>
            <a:off x="213360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06C7AB46-756F-6AB4-149B-5972BB986383}"/>
              </a:ext>
            </a:extLst>
          </p:cNvPr>
          <p:cNvSpPr>
            <a:spLocks noGrp="1"/>
          </p:cNvSpPr>
          <p:nvPr/>
        </p:nvSpPr>
        <p:spPr>
          <a:xfrm>
            <a:off x="226695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84BF759F-19F8-A4CB-0924-BBE7D92EB734}"/>
              </a:ext>
            </a:extLst>
          </p:cNvPr>
          <p:cNvSpPr>
            <a:spLocks noGrp="1"/>
          </p:cNvSpPr>
          <p:nvPr/>
        </p:nvSpPr>
        <p:spPr>
          <a:xfrm>
            <a:off x="230505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B7D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8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활동</a:t>
            </a:r>
            <a:endParaRPr sz="800" b="1"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D8B2B6B9-27AD-90BC-FBF8-8E5988E61679}"/>
              </a:ext>
            </a:extLst>
          </p:cNvPr>
          <p:cNvSpPr>
            <a:spLocks noGrp="1"/>
          </p:cNvSpPr>
          <p:nvPr/>
        </p:nvSpPr>
        <p:spPr>
          <a:xfrm>
            <a:off x="230505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제조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가공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193" name="화살표: 오른쪽 192">
            <a:extLst>
              <a:ext uri="{FF2B5EF4-FFF2-40B4-BE49-F238E27FC236}">
                <a16:creationId xmlns:a16="http://schemas.microsoft.com/office/drawing/2014/main" id="{BC47DC94-5F25-AE43-1D82-DB06D4A184B3}"/>
              </a:ext>
            </a:extLst>
          </p:cNvPr>
          <p:cNvSpPr>
            <a:spLocks noGrp="1"/>
          </p:cNvSpPr>
          <p:nvPr/>
        </p:nvSpPr>
        <p:spPr>
          <a:xfrm>
            <a:off x="3181350" y="5095875"/>
            <a:ext cx="114300" cy="95250"/>
          </a:xfrm>
          <a:prstGeom prst="rightArrow">
            <a:avLst/>
          </a:prstGeom>
          <a:solidFill>
            <a:srgbClr val="034EA2"/>
          </a:solidFill>
          <a:ln w="0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AF3C68E7-0F49-E9F1-D1CE-9877C33978BA}"/>
              </a:ext>
            </a:extLst>
          </p:cNvPr>
          <p:cNvSpPr>
            <a:spLocks noGrp="1"/>
          </p:cNvSpPr>
          <p:nvPr/>
        </p:nvSpPr>
        <p:spPr>
          <a:xfrm>
            <a:off x="3314700" y="4933950"/>
            <a:ext cx="876300" cy="457200"/>
          </a:xfrm>
          <a:prstGeom prst="roundRect">
            <a:avLst>
              <a:gd name="adj" fmla="val 16667"/>
            </a:avLst>
          </a:prstGeom>
          <a:solidFill>
            <a:srgbClr val="EAF2FB"/>
          </a:solidFill>
          <a:ln w="5715">
            <a:solidFill>
              <a:srgbClr val="034EA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6624BA9B-8462-71F4-EC9F-7DD938C96935}"/>
              </a:ext>
            </a:extLst>
          </p:cNvPr>
          <p:cNvSpPr>
            <a:spLocks noGrp="1"/>
          </p:cNvSpPr>
          <p:nvPr/>
        </p:nvSpPr>
        <p:spPr>
          <a:xfrm>
            <a:off x="3352800" y="4972050"/>
            <a:ext cx="800100" cy="133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585" b="1">
                <a:solidFill>
                  <a:srgbClr val="034EA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8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Output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A6D193E-3B82-B111-8F89-6131621B6707}"/>
              </a:ext>
            </a:extLst>
          </p:cNvPr>
          <p:cNvSpPr>
            <a:spLocks noGrp="1"/>
          </p:cNvSpPr>
          <p:nvPr/>
        </p:nvSpPr>
        <p:spPr>
          <a:xfrm>
            <a:off x="3352800" y="512445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518" b="1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제품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서비스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518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518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7568440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6CBE95F-2ED9-4D05-AC54-E5D672C144AD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BCA5AB-CFDA-4226-B89B-D8104EB8ADED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04037-56B5-403C-B2DC-09AE7F111A81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995FE6-7DF7-4074-AD00-F59576082A40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654FE8-1A90-4870-9FA8-A04B0D417EF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C7072E-6AF0-42C9-9959-F90392C9B28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39BC91-8D51-493B-8294-124A9018C49F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6B668D-8285-4C68-8D35-A59DD8E00835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75E03F-77EF-43E2-BC02-42C9E6C06AE4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3A959-A9CA-4917-9F63-C59B47CE875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36F58A-DAB7-4BA3-A655-B0545BE30F0D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AE353-75B0-4664-AD87-1258551B548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CF981D-475E-440E-A37B-7ABE3DD42A0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4B72DB-1646-494F-8A79-BA405F9E476D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0D259D-2296-4760-BDA8-F9A65114073D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 간 밸류에이션 비교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A20403E4-6C2F-45D8-9C8D-B2DC282F2977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9744A4C3-7D73-4CAB-AB40-0B57713F9751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7300A3-5B0B-49F2-8595-095C97363B75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A0113D6-D499-4856-922C-A990DFC615A5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4AD691-7343-480C-87F6-6B6EC5BD59E0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04/06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7B7694-23AA-41DF-B7A5-0267162805BC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38404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대비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주당순이익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3803BE-C0D6-44D7-A69E-33B8DD76A004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E67F5DAB-1CCC-416F-B063-DD39AB6D07E6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33832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F87D84D-2473-4FCD-9CD3-8A58EA7E98D0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6583680" cy="3950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Connector 42">
            <a:extLst>
              <a:ext uri="{FF2B5EF4-FFF2-40B4-BE49-F238E27FC236}">
                <a16:creationId xmlns:a16="http://schemas.microsoft.com/office/drawing/2014/main" id="{4C4A6B96-DE95-4361-811B-3C8A810C10E5}"/>
              </a:ext>
            </a:extLst>
          </p:cNvPr>
          <p:cNvSpPr>
            <a:spLocks noGrp="1"/>
          </p:cNvSpPr>
          <p:nvPr/>
        </p:nvSpPr>
        <p:spPr>
          <a:xfrm>
            <a:off x="1508760" y="5285232"/>
            <a:ext cx="5532120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4" name="Connector 43">
            <a:extLst>
              <a:ext uri="{FF2B5EF4-FFF2-40B4-BE49-F238E27FC236}">
                <a16:creationId xmlns:a16="http://schemas.microsoft.com/office/drawing/2014/main" id="{D781F8F7-7553-40FF-AB47-AA7254E40D72}"/>
              </a:ext>
            </a:extLst>
          </p:cNvPr>
          <p:cNvSpPr>
            <a:spLocks noGrp="1"/>
          </p:cNvSpPr>
          <p:nvPr/>
        </p:nvSpPr>
        <p:spPr>
          <a:xfrm>
            <a:off x="1508760" y="2240280"/>
            <a:ext cx="0" cy="3044952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B5CCDF-709B-4F27-B9B3-1A09BE294967}"/>
              </a:ext>
            </a:extLst>
          </p:cNvPr>
          <p:cNvSpPr>
            <a:spLocks noGrp="1"/>
          </p:cNvSpPr>
          <p:nvPr/>
        </p:nvSpPr>
        <p:spPr>
          <a:xfrm>
            <a:off x="1143000" y="2029968"/>
            <a:ext cx="804672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선행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PER ↑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03CC95-100C-4350-88F2-5AD08B0B35B8}"/>
              </a:ext>
            </a:extLst>
          </p:cNvPr>
          <p:cNvSpPr>
            <a:spLocks noGrp="1"/>
          </p:cNvSpPr>
          <p:nvPr/>
        </p:nvSpPr>
        <p:spPr>
          <a:xfrm>
            <a:off x="5815584" y="5394960"/>
            <a:ext cx="142646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buNone/>
            </a:pP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 EPS </a:t>
            </a: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0BA529F-0CF4-41B5-BC81-944BB478E2AF}"/>
              </a:ext>
            </a:extLst>
          </p:cNvPr>
          <p:cNvSpPr>
            <a:spLocks noGrp="1"/>
          </p:cNvSpPr>
          <p:nvPr/>
        </p:nvSpPr>
        <p:spPr>
          <a:xfrm>
            <a:off x="5212080" y="2834640"/>
            <a:ext cx="402336" cy="402336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286F7C-57A6-4A4F-9407-F136F88EC57C}"/>
              </a:ext>
            </a:extLst>
          </p:cNvPr>
          <p:cNvSpPr>
            <a:spLocks noGrp="1"/>
          </p:cNvSpPr>
          <p:nvPr/>
        </p:nvSpPr>
        <p:spPr>
          <a:xfrm>
            <a:off x="5120640" y="3291840"/>
            <a:ext cx="6400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2E54E3-0514-4305-A93E-93FE7C291BA3}"/>
              </a:ext>
            </a:extLst>
          </p:cNvPr>
          <p:cNvSpPr>
            <a:spLocks noGrp="1"/>
          </p:cNvSpPr>
          <p:nvPr/>
        </p:nvSpPr>
        <p:spPr>
          <a:xfrm>
            <a:off x="3794760" y="3611880"/>
            <a:ext cx="347472" cy="347472"/>
          </a:xfrm>
          <a:prstGeom prst="ellipse">
            <a:avLst/>
          </a:prstGeom>
          <a:solidFill>
            <a:srgbClr val="001C54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1AB40-DAC0-45EA-B5B0-1D0AEE6529C4}"/>
              </a:ext>
            </a:extLst>
          </p:cNvPr>
          <p:cNvSpPr>
            <a:spLocks noGrp="1"/>
          </p:cNvSpPr>
          <p:nvPr/>
        </p:nvSpPr>
        <p:spPr>
          <a:xfrm>
            <a:off x="3703320" y="4014215"/>
            <a:ext cx="6400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B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5C19513-F32C-4A93-8EFD-DDA67CE5DC91}"/>
              </a:ext>
            </a:extLst>
          </p:cNvPr>
          <p:cNvSpPr>
            <a:spLocks noGrp="1"/>
          </p:cNvSpPr>
          <p:nvPr/>
        </p:nvSpPr>
        <p:spPr>
          <a:xfrm>
            <a:off x="4718304" y="4279392"/>
            <a:ext cx="329184" cy="329184"/>
          </a:xfrm>
          <a:prstGeom prst="ellipse">
            <a:avLst/>
          </a:prstGeom>
          <a:solidFill>
            <a:srgbClr val="4785C7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28D122-CC8F-4ECC-BB51-9CE080BD6474}"/>
              </a:ext>
            </a:extLst>
          </p:cNvPr>
          <p:cNvSpPr>
            <a:spLocks noGrp="1"/>
          </p:cNvSpPr>
          <p:nvPr/>
        </p:nvSpPr>
        <p:spPr>
          <a:xfrm>
            <a:off x="4626864" y="4663440"/>
            <a:ext cx="6400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4785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00" b="1" dirty="0">
                <a:solidFill>
                  <a:srgbClr val="4785C7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D5CD6DB-257B-42DC-9613-51AEFFC101CA}"/>
              </a:ext>
            </a:extLst>
          </p:cNvPr>
          <p:cNvSpPr>
            <a:spLocks noGrp="1"/>
          </p:cNvSpPr>
          <p:nvPr/>
        </p:nvSpPr>
        <p:spPr>
          <a:xfrm>
            <a:off x="2697480" y="4718304"/>
            <a:ext cx="292608" cy="29260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chemeClr val="accent1">
                  <a:lumMod val="75000"/>
                </a:schemeClr>
              </a:solidFill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052156-857C-4354-8D66-2D00CF658961}"/>
              </a:ext>
            </a:extLst>
          </p:cNvPr>
          <p:cNvSpPr>
            <a:spLocks noGrp="1"/>
          </p:cNvSpPr>
          <p:nvPr/>
        </p:nvSpPr>
        <p:spPr>
          <a:xfrm>
            <a:off x="2606040" y="5065776"/>
            <a:ext cx="6400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00" b="1" dirty="0">
                <a:solidFill>
                  <a:schemeClr val="accent1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D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6A2DEB5-7916-47E0-AB83-0ABF2244E6D8}"/>
              </a:ext>
            </a:extLst>
          </p:cNvPr>
          <p:cNvSpPr>
            <a:spLocks noGrp="1"/>
          </p:cNvSpPr>
          <p:nvPr/>
        </p:nvSpPr>
        <p:spPr>
          <a:xfrm>
            <a:off x="7754112" y="1755648"/>
            <a:ext cx="3328416" cy="1828800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8FA9B1A-74E9-4C23-BADD-EEFEB5CA82BB}"/>
              </a:ext>
            </a:extLst>
          </p:cNvPr>
          <p:cNvSpPr>
            <a:spLocks noGrp="1"/>
          </p:cNvSpPr>
          <p:nvPr/>
        </p:nvSpPr>
        <p:spPr>
          <a:xfrm>
            <a:off x="7991856" y="1984248"/>
            <a:ext cx="1481328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B3FDA1-ACA9-4BC6-95FD-8D659512F534}"/>
              </a:ext>
            </a:extLst>
          </p:cNvPr>
          <p:cNvSpPr>
            <a:spLocks noGrp="1"/>
          </p:cNvSpPr>
          <p:nvPr/>
        </p:nvSpPr>
        <p:spPr>
          <a:xfrm>
            <a:off x="7991856" y="2359152"/>
            <a:ext cx="2670048" cy="52629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3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A: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프리미엄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정당화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B: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안정적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FCF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할인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여부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C: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성장률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대비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밸류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부담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3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D: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턴어라운드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옵션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가치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21C1CB2-D825-45BF-A07E-75920D8D26CE}"/>
              </a:ext>
            </a:extLst>
          </p:cNvPr>
          <p:cNvSpPr>
            <a:spLocks noGrp="1"/>
          </p:cNvSpPr>
          <p:nvPr/>
        </p:nvSpPr>
        <p:spPr>
          <a:xfrm>
            <a:off x="7754112" y="3840480"/>
            <a:ext cx="3328416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D216AE-2582-45A2-A533-DA2CF99804F6}"/>
              </a:ext>
            </a:extLst>
          </p:cNvPr>
          <p:cNvSpPr>
            <a:spLocks noGrp="1"/>
          </p:cNvSpPr>
          <p:nvPr/>
        </p:nvSpPr>
        <p:spPr>
          <a:xfrm>
            <a:off x="7991856" y="4059936"/>
            <a:ext cx="1481328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C66526-BDE2-4D05-8E90-7B9CF5A315EA}"/>
              </a:ext>
            </a:extLst>
          </p:cNvPr>
          <p:cNvSpPr>
            <a:spLocks noGrp="1"/>
          </p:cNvSpPr>
          <p:nvPr/>
        </p:nvSpPr>
        <p:spPr>
          <a:xfrm>
            <a:off x="7991856" y="4425696"/>
            <a:ext cx="2670048" cy="2708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A]의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프리미엄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할인은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성장률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ROIC / FCF /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가시성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으로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설명되며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6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변수는</a:t>
            </a:r>
            <a:r>
              <a:rPr sz="76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773E8782-67D0-43F0-9176-DFD137D54A13}"/>
              </a:ext>
            </a:extLst>
          </p:cNvPr>
          <p:cNvSpPr>
            <a:spLocks noGrp="1"/>
          </p:cNvSpPr>
          <p:nvPr/>
        </p:nvSpPr>
        <p:spPr>
          <a:xfrm>
            <a:off x="932688" y="5925312"/>
            <a:ext cx="10149840" cy="3657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F36E46-5C37-4F4E-A303-F0585A0C589B}"/>
              </a:ext>
            </a:extLst>
          </p:cNvPr>
          <p:cNvSpPr>
            <a:spLocks noGrp="1"/>
          </p:cNvSpPr>
          <p:nvPr/>
        </p:nvSpPr>
        <p:spPr>
          <a:xfrm>
            <a:off x="1170432" y="6044184"/>
            <a:ext cx="9674352" cy="1508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ROIC / FCF /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변화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가시성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5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7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CAPA]</a:t>
            </a:r>
          </a:p>
        </p:txBody>
      </p:sp>
      <p:sp>
        <p:nvSpPr>
          <p:cNvPr id="64" name="Rectangle 1">
            <a:extLst>
              <a:ext uri="{FF2B5EF4-FFF2-40B4-BE49-F238E27FC236}">
                <a16:creationId xmlns:a16="http://schemas.microsoft.com/office/drawing/2014/main" id="{53166797-FFFA-19EA-D3A5-05115EE5B329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12">
            <a:extLst>
              <a:ext uri="{FF2B5EF4-FFF2-40B4-BE49-F238E27FC236}">
                <a16:creationId xmlns:a16="http://schemas.microsoft.com/office/drawing/2014/main" id="{128032C4-64A6-4AC6-6273-229612AB6720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8F33F065-8034-DE14-3995-9EB8ACFDD3D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14">
            <a:extLst>
              <a:ext uri="{FF2B5EF4-FFF2-40B4-BE49-F238E27FC236}">
                <a16:creationId xmlns:a16="http://schemas.microsoft.com/office/drawing/2014/main" id="{1DE461AB-321E-B6F7-8E28-D403FE1CB1B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2" name="TextBox 15">
            <a:extLst>
              <a:ext uri="{FF2B5EF4-FFF2-40B4-BE49-F238E27FC236}">
                <a16:creationId xmlns:a16="http://schemas.microsoft.com/office/drawing/2014/main" id="{BC02D3EB-6D10-6DF2-7832-659CFA84FE07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6">
            <a:extLst>
              <a:ext uri="{FF2B5EF4-FFF2-40B4-BE49-F238E27FC236}">
                <a16:creationId xmlns:a16="http://schemas.microsoft.com/office/drawing/2014/main" id="{70EDA59F-F29E-9463-3F43-2D28993B6CE9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96" name="TextBox 7">
            <a:extLst>
              <a:ext uri="{FF2B5EF4-FFF2-40B4-BE49-F238E27FC236}">
                <a16:creationId xmlns:a16="http://schemas.microsoft.com/office/drawing/2014/main" id="{6307456D-BED3-0E49-2BA0-FB547B10FB82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8">
            <a:extLst>
              <a:ext uri="{FF2B5EF4-FFF2-40B4-BE49-F238E27FC236}">
                <a16:creationId xmlns:a16="http://schemas.microsoft.com/office/drawing/2014/main" id="{6F58748C-82EA-529E-B169-C665F30F9503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00" name="TextBox 9">
            <a:extLst>
              <a:ext uri="{FF2B5EF4-FFF2-40B4-BE49-F238E27FC236}">
                <a16:creationId xmlns:a16="http://schemas.microsoft.com/office/drawing/2014/main" id="{53F0D4E4-98EB-671B-397A-B49A62AA5484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2" name="TextBox 4">
            <a:extLst>
              <a:ext uri="{FF2B5EF4-FFF2-40B4-BE49-F238E27FC236}">
                <a16:creationId xmlns:a16="http://schemas.microsoft.com/office/drawing/2014/main" id="{9376DEE5-0BCA-EBBF-3BE7-B2E912E1C8A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4" name="TextBox 5">
            <a:extLst>
              <a:ext uri="{FF2B5EF4-FFF2-40B4-BE49-F238E27FC236}">
                <a16:creationId xmlns:a16="http://schemas.microsoft.com/office/drawing/2014/main" id="{941784DA-7AC4-2458-E178-AD2E4F5F6FCF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Rounded Rectangle 3">
            <a:extLst>
              <a:ext uri="{FF2B5EF4-FFF2-40B4-BE49-F238E27FC236}">
                <a16:creationId xmlns:a16="http://schemas.microsoft.com/office/drawing/2014/main" id="{01F11265-2987-1A34-E469-6F02EAE06262}"/>
              </a:ext>
            </a:extLst>
          </p:cNvPr>
          <p:cNvSpPr>
            <a:spLocks noGrp="1"/>
          </p:cNvSpPr>
          <p:nvPr/>
        </p:nvSpPr>
        <p:spPr>
          <a:xfrm>
            <a:off x="57912" y="313232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6">
            <a:extLst>
              <a:ext uri="{FF2B5EF4-FFF2-40B4-BE49-F238E27FC236}">
                <a16:creationId xmlns:a16="http://schemas.microsoft.com/office/drawing/2014/main" id="{9B9F24B0-4124-7AEB-E857-EBFB64A1F675}"/>
              </a:ext>
            </a:extLst>
          </p:cNvPr>
          <p:cNvSpPr>
            <a:spLocks noGrp="1"/>
          </p:cNvSpPr>
          <p:nvPr/>
        </p:nvSpPr>
        <p:spPr>
          <a:xfrm>
            <a:off x="91440" y="3331463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7">
            <a:extLst>
              <a:ext uri="{FF2B5EF4-FFF2-40B4-BE49-F238E27FC236}">
                <a16:creationId xmlns:a16="http://schemas.microsoft.com/office/drawing/2014/main" id="{E230082D-13F6-A70A-CD57-6E06F2C811D9}"/>
              </a:ext>
            </a:extLst>
          </p:cNvPr>
          <p:cNvSpPr>
            <a:spLocks noGrp="1"/>
          </p:cNvSpPr>
          <p:nvPr/>
        </p:nvSpPr>
        <p:spPr>
          <a:xfrm>
            <a:off x="237744" y="3332273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60E5A8-73D4-1112-734D-AC65AC6521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463935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982D-ECE0-C30C-5A3D-999021F27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0EC490-1C3D-956E-C32F-BA93CA4869E7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613E0-F604-9D1C-94FB-7E839A126988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Ⅴ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 포인트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4331879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B59DC0B-88BF-47E5-93D4-4772821D3EA8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A96065-B80F-4C44-BD45-3BCAFE894734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8502C4-B8D1-4F4F-BF68-B62FCB97A194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6A198A-0350-4AD1-A222-1BCAE838D089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8DE72-93E2-4BE2-9967-74D4F7046584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CFA4A9-7A2E-402F-9EBD-F70B0E6A9CCB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293933-B1AC-4A59-B0E3-62EBD3C7A8B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4436D2-5036-41FB-8485-4D58666439CC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8C1E36-068D-4BB7-8FD7-B80FCF2A0CD0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A7F5E5-0825-4483-9871-78DECCED37C1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05F266-A855-43F9-BC91-6F42481680A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AE9D50-DAB5-4960-8C42-5F337DDDCDEF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627114-6A63-4474-BFA5-F35BEB59485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CBF3D-F299-4AAF-B99F-A8B84986F9A1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11A79D-74A6-47C7-8A61-16B8E31B1969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4개사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투자논리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매트릭스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DC9E063A-0924-43CF-B07E-CFDCDE0F9A2C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1801B815-C60D-4CF9-A52C-E2AE68865145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E12859-7C2F-4192-969B-EBE2182B0061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0121A58-A306-48C6-ADAE-C920C75BF62C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0C9289-C720-42FC-9727-05195CD5B8C4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05/06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8C8F2B-4B0A-4C6D-BBF9-3BC4771AC754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658368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C2A13E-FDC9-4903-AB7F-E66C42F82292}"/>
              </a:ext>
            </a:extLst>
          </p:cNvPr>
          <p:cNvSpPr>
            <a:spLocks noGrp="1"/>
          </p:cNvSpPr>
          <p:nvPr/>
        </p:nvSpPr>
        <p:spPr>
          <a:xfrm>
            <a:off x="969264" y="1738489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E4C1E8-D09F-40B1-970A-9B28BDB0F7A3}"/>
              </a:ext>
            </a:extLst>
          </p:cNvPr>
          <p:cNvSpPr>
            <a:spLocks noGrp="1"/>
          </p:cNvSpPr>
          <p:nvPr/>
        </p:nvSpPr>
        <p:spPr>
          <a:xfrm>
            <a:off x="1591056" y="1508760"/>
            <a:ext cx="1874519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80A8A7-38EC-4DC4-B917-E52668510396}"/>
              </a:ext>
            </a:extLst>
          </p:cNvPr>
          <p:cNvSpPr>
            <a:spLocks noGrp="1"/>
          </p:cNvSpPr>
          <p:nvPr/>
        </p:nvSpPr>
        <p:spPr>
          <a:xfrm>
            <a:off x="1627632" y="1738489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38408B9-8A52-4FC1-AED0-5BA6BCF5CA9C}"/>
              </a:ext>
            </a:extLst>
          </p:cNvPr>
          <p:cNvSpPr>
            <a:spLocks noGrp="1"/>
          </p:cNvSpPr>
          <p:nvPr/>
        </p:nvSpPr>
        <p:spPr>
          <a:xfrm>
            <a:off x="3465576" y="1508760"/>
            <a:ext cx="1965960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C9188C-3E88-4921-A89B-96468139BC33}"/>
              </a:ext>
            </a:extLst>
          </p:cNvPr>
          <p:cNvSpPr>
            <a:spLocks noGrp="1"/>
          </p:cNvSpPr>
          <p:nvPr/>
        </p:nvSpPr>
        <p:spPr>
          <a:xfrm>
            <a:off x="3502152" y="1738489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BC23E3-08EF-4C1B-A1AF-A2585DFA30BC}"/>
              </a:ext>
            </a:extLst>
          </p:cNvPr>
          <p:cNvSpPr>
            <a:spLocks noGrp="1"/>
          </p:cNvSpPr>
          <p:nvPr/>
        </p:nvSpPr>
        <p:spPr>
          <a:xfrm>
            <a:off x="5431536" y="1508760"/>
            <a:ext cx="1920240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98ABF8-358D-47BA-8FAA-A9CF00073628}"/>
              </a:ext>
            </a:extLst>
          </p:cNvPr>
          <p:cNvSpPr>
            <a:spLocks noGrp="1"/>
          </p:cNvSpPr>
          <p:nvPr/>
        </p:nvSpPr>
        <p:spPr>
          <a:xfrm>
            <a:off x="5468112" y="1738489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리레이팅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4703EA-E233-41E7-BC7E-EA59AF806E20}"/>
              </a:ext>
            </a:extLst>
          </p:cNvPr>
          <p:cNvSpPr>
            <a:spLocks noGrp="1"/>
          </p:cNvSpPr>
          <p:nvPr/>
        </p:nvSpPr>
        <p:spPr>
          <a:xfrm>
            <a:off x="7351775" y="1508760"/>
            <a:ext cx="1783080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E5F4E2-F375-4074-B6E0-884D5B330AB5}"/>
              </a:ext>
            </a:extLst>
          </p:cNvPr>
          <p:cNvSpPr>
            <a:spLocks noGrp="1"/>
          </p:cNvSpPr>
          <p:nvPr/>
        </p:nvSpPr>
        <p:spPr>
          <a:xfrm>
            <a:off x="7388351" y="1738489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4A24A6F-EC66-43CF-878D-AA3687844185}"/>
              </a:ext>
            </a:extLst>
          </p:cNvPr>
          <p:cNvSpPr>
            <a:spLocks noGrp="1"/>
          </p:cNvSpPr>
          <p:nvPr/>
        </p:nvSpPr>
        <p:spPr>
          <a:xfrm>
            <a:off x="9134855" y="1508760"/>
            <a:ext cx="1764792" cy="64922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FC5FDD-2109-46B5-9402-97B51D17B34E}"/>
              </a:ext>
            </a:extLst>
          </p:cNvPr>
          <p:cNvSpPr>
            <a:spLocks noGrp="1"/>
          </p:cNvSpPr>
          <p:nvPr/>
        </p:nvSpPr>
        <p:spPr>
          <a:xfrm>
            <a:off x="9171431" y="1738489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4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</a:t>
            </a:r>
            <a:endParaRPr sz="74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50400D-3536-4F23-ABDC-DA80CEB417B6}"/>
              </a:ext>
            </a:extLst>
          </p:cNvPr>
          <p:cNvSpPr>
            <a:spLocks noGrp="1"/>
          </p:cNvSpPr>
          <p:nvPr/>
        </p:nvSpPr>
        <p:spPr>
          <a:xfrm>
            <a:off x="932688" y="2157984"/>
            <a:ext cx="658368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666018-19AF-4782-920B-0584329502ED}"/>
              </a:ext>
            </a:extLst>
          </p:cNvPr>
          <p:cNvSpPr>
            <a:spLocks noGrp="1"/>
          </p:cNvSpPr>
          <p:nvPr/>
        </p:nvSpPr>
        <p:spPr>
          <a:xfrm>
            <a:off x="969264" y="2384466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7FBD038-6FF2-4E30-8C77-9F689217ED75}"/>
              </a:ext>
            </a:extLst>
          </p:cNvPr>
          <p:cNvSpPr>
            <a:spLocks noGrp="1"/>
          </p:cNvSpPr>
          <p:nvPr/>
        </p:nvSpPr>
        <p:spPr>
          <a:xfrm>
            <a:off x="1591056" y="2157984"/>
            <a:ext cx="1874519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7933E34-3C2E-4F65-B3C5-1414BEE5EFCB}"/>
              </a:ext>
            </a:extLst>
          </p:cNvPr>
          <p:cNvSpPr>
            <a:spLocks noGrp="1"/>
          </p:cNvSpPr>
          <p:nvPr/>
        </p:nvSpPr>
        <p:spPr>
          <a:xfrm>
            <a:off x="1627632" y="2384466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EFDC804-42C0-4014-86A3-40089C296ACE}"/>
              </a:ext>
            </a:extLst>
          </p:cNvPr>
          <p:cNvSpPr>
            <a:spLocks noGrp="1"/>
          </p:cNvSpPr>
          <p:nvPr/>
        </p:nvSpPr>
        <p:spPr>
          <a:xfrm>
            <a:off x="3465576" y="2157984"/>
            <a:ext cx="196596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344B6C-B66A-4A5A-9DE2-BFB6A3A9C848}"/>
              </a:ext>
            </a:extLst>
          </p:cNvPr>
          <p:cNvSpPr>
            <a:spLocks noGrp="1"/>
          </p:cNvSpPr>
          <p:nvPr/>
        </p:nvSpPr>
        <p:spPr>
          <a:xfrm>
            <a:off x="3502152" y="2384466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C35531B-0E3B-46A4-A06F-D2DC99C3EC5F}"/>
              </a:ext>
            </a:extLst>
          </p:cNvPr>
          <p:cNvSpPr>
            <a:spLocks noGrp="1"/>
          </p:cNvSpPr>
          <p:nvPr/>
        </p:nvSpPr>
        <p:spPr>
          <a:xfrm>
            <a:off x="5431536" y="2157984"/>
            <a:ext cx="192024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D51BAD-CB83-480A-948F-781F61E39C42}"/>
              </a:ext>
            </a:extLst>
          </p:cNvPr>
          <p:cNvSpPr>
            <a:spLocks noGrp="1"/>
          </p:cNvSpPr>
          <p:nvPr/>
        </p:nvSpPr>
        <p:spPr>
          <a:xfrm>
            <a:off x="5468112" y="2384466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9300DE-E886-4DE3-B6B9-0A3F970936DB}"/>
              </a:ext>
            </a:extLst>
          </p:cNvPr>
          <p:cNvSpPr>
            <a:spLocks noGrp="1"/>
          </p:cNvSpPr>
          <p:nvPr/>
        </p:nvSpPr>
        <p:spPr>
          <a:xfrm>
            <a:off x="7351775" y="2157984"/>
            <a:ext cx="178308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AE1235-0D68-472E-9021-527A01F7E9F2}"/>
              </a:ext>
            </a:extLst>
          </p:cNvPr>
          <p:cNvSpPr>
            <a:spLocks noGrp="1"/>
          </p:cNvSpPr>
          <p:nvPr/>
        </p:nvSpPr>
        <p:spPr>
          <a:xfrm>
            <a:off x="7388351" y="2384466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3F56F4-1CD5-46D5-B7A4-243F25C7885B}"/>
              </a:ext>
            </a:extLst>
          </p:cNvPr>
          <p:cNvSpPr>
            <a:spLocks noGrp="1"/>
          </p:cNvSpPr>
          <p:nvPr/>
        </p:nvSpPr>
        <p:spPr>
          <a:xfrm>
            <a:off x="9134855" y="2157984"/>
            <a:ext cx="1764792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2B3297-7FC6-40D1-A853-EDE3BB2C32CC}"/>
              </a:ext>
            </a:extLst>
          </p:cNvPr>
          <p:cNvSpPr>
            <a:spLocks noGrp="1"/>
          </p:cNvSpPr>
          <p:nvPr/>
        </p:nvSpPr>
        <p:spPr>
          <a:xfrm>
            <a:off x="9171431" y="2384466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778A048-A378-40CD-BB73-B0E0C32DD216}"/>
              </a:ext>
            </a:extLst>
          </p:cNvPr>
          <p:cNvSpPr>
            <a:spLocks noGrp="1"/>
          </p:cNvSpPr>
          <p:nvPr/>
        </p:nvSpPr>
        <p:spPr>
          <a:xfrm>
            <a:off x="932688" y="2807208"/>
            <a:ext cx="658368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97692E-2F0A-4A75-AA19-67F38457C9B2}"/>
              </a:ext>
            </a:extLst>
          </p:cNvPr>
          <p:cNvSpPr>
            <a:spLocks noGrp="1"/>
          </p:cNvSpPr>
          <p:nvPr/>
        </p:nvSpPr>
        <p:spPr>
          <a:xfrm>
            <a:off x="969264" y="3033690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08F6F00-877F-4C3A-8E2A-408226E14953}"/>
              </a:ext>
            </a:extLst>
          </p:cNvPr>
          <p:cNvSpPr>
            <a:spLocks noGrp="1"/>
          </p:cNvSpPr>
          <p:nvPr/>
        </p:nvSpPr>
        <p:spPr>
          <a:xfrm>
            <a:off x="1591056" y="2807208"/>
            <a:ext cx="1874519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1C2490-FF36-4667-A994-C26FC847C8B2}"/>
              </a:ext>
            </a:extLst>
          </p:cNvPr>
          <p:cNvSpPr>
            <a:spLocks noGrp="1"/>
          </p:cNvSpPr>
          <p:nvPr/>
        </p:nvSpPr>
        <p:spPr>
          <a:xfrm>
            <a:off x="1627632" y="3033690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EF830ED-CC40-4888-A2F5-8A8063D724C0}"/>
              </a:ext>
            </a:extLst>
          </p:cNvPr>
          <p:cNvSpPr>
            <a:spLocks noGrp="1"/>
          </p:cNvSpPr>
          <p:nvPr/>
        </p:nvSpPr>
        <p:spPr>
          <a:xfrm>
            <a:off x="3465576" y="2807208"/>
            <a:ext cx="196596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D99679-E9F7-4749-A23A-896A80EE1056}"/>
              </a:ext>
            </a:extLst>
          </p:cNvPr>
          <p:cNvSpPr>
            <a:spLocks noGrp="1"/>
          </p:cNvSpPr>
          <p:nvPr/>
        </p:nvSpPr>
        <p:spPr>
          <a:xfrm>
            <a:off x="3502152" y="3033690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C45678A-FFE2-4FA4-AD5C-6A8CEDD05E96}"/>
              </a:ext>
            </a:extLst>
          </p:cNvPr>
          <p:cNvSpPr>
            <a:spLocks noGrp="1"/>
          </p:cNvSpPr>
          <p:nvPr/>
        </p:nvSpPr>
        <p:spPr>
          <a:xfrm>
            <a:off x="5431536" y="2807208"/>
            <a:ext cx="192024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1A06F2-41C6-4220-9E82-820EE85E23E6}"/>
              </a:ext>
            </a:extLst>
          </p:cNvPr>
          <p:cNvSpPr>
            <a:spLocks noGrp="1"/>
          </p:cNvSpPr>
          <p:nvPr/>
        </p:nvSpPr>
        <p:spPr>
          <a:xfrm>
            <a:off x="5468112" y="3033690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7562263-D827-4CDD-9E42-B0B8EA3A913E}"/>
              </a:ext>
            </a:extLst>
          </p:cNvPr>
          <p:cNvSpPr>
            <a:spLocks noGrp="1"/>
          </p:cNvSpPr>
          <p:nvPr/>
        </p:nvSpPr>
        <p:spPr>
          <a:xfrm>
            <a:off x="7351775" y="2807208"/>
            <a:ext cx="178308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A79D66C-68BB-4308-B283-91A90810ADF8}"/>
              </a:ext>
            </a:extLst>
          </p:cNvPr>
          <p:cNvSpPr>
            <a:spLocks noGrp="1"/>
          </p:cNvSpPr>
          <p:nvPr/>
        </p:nvSpPr>
        <p:spPr>
          <a:xfrm>
            <a:off x="7388351" y="3033690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523C33-A8C2-4EC0-8946-22AFC8BE80E6}"/>
              </a:ext>
            </a:extLst>
          </p:cNvPr>
          <p:cNvSpPr>
            <a:spLocks noGrp="1"/>
          </p:cNvSpPr>
          <p:nvPr/>
        </p:nvSpPr>
        <p:spPr>
          <a:xfrm>
            <a:off x="9134855" y="2807208"/>
            <a:ext cx="1764792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FA95EF-17B2-4241-8DC3-380DA7A992C7}"/>
              </a:ext>
            </a:extLst>
          </p:cNvPr>
          <p:cNvSpPr>
            <a:spLocks noGrp="1"/>
          </p:cNvSpPr>
          <p:nvPr/>
        </p:nvSpPr>
        <p:spPr>
          <a:xfrm>
            <a:off x="9171431" y="3033690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633C24F-832D-4DF0-AC1A-623D4C51D45C}"/>
              </a:ext>
            </a:extLst>
          </p:cNvPr>
          <p:cNvSpPr>
            <a:spLocks noGrp="1"/>
          </p:cNvSpPr>
          <p:nvPr/>
        </p:nvSpPr>
        <p:spPr>
          <a:xfrm>
            <a:off x="932688" y="3456432"/>
            <a:ext cx="658368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83C4A9-F1DF-404F-A4C5-B4CE6AC441ED}"/>
              </a:ext>
            </a:extLst>
          </p:cNvPr>
          <p:cNvSpPr>
            <a:spLocks noGrp="1"/>
          </p:cNvSpPr>
          <p:nvPr/>
        </p:nvSpPr>
        <p:spPr>
          <a:xfrm>
            <a:off x="969264" y="3682914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C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9B25379-75D7-492F-AE8D-44B9E42E08EC}"/>
              </a:ext>
            </a:extLst>
          </p:cNvPr>
          <p:cNvSpPr>
            <a:spLocks noGrp="1"/>
          </p:cNvSpPr>
          <p:nvPr/>
        </p:nvSpPr>
        <p:spPr>
          <a:xfrm>
            <a:off x="1591056" y="3456432"/>
            <a:ext cx="1874519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BDE181-5874-44F0-B33F-B35CB1624991}"/>
              </a:ext>
            </a:extLst>
          </p:cNvPr>
          <p:cNvSpPr>
            <a:spLocks noGrp="1"/>
          </p:cNvSpPr>
          <p:nvPr/>
        </p:nvSpPr>
        <p:spPr>
          <a:xfrm>
            <a:off x="1627632" y="3682914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5385A40-F011-4C61-876E-08CDF641E228}"/>
              </a:ext>
            </a:extLst>
          </p:cNvPr>
          <p:cNvSpPr>
            <a:spLocks noGrp="1"/>
          </p:cNvSpPr>
          <p:nvPr/>
        </p:nvSpPr>
        <p:spPr>
          <a:xfrm>
            <a:off x="3465576" y="3456432"/>
            <a:ext cx="196596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6C2CF9-3988-47B7-8321-E0401D4B2BA5}"/>
              </a:ext>
            </a:extLst>
          </p:cNvPr>
          <p:cNvSpPr>
            <a:spLocks noGrp="1"/>
          </p:cNvSpPr>
          <p:nvPr/>
        </p:nvSpPr>
        <p:spPr>
          <a:xfrm>
            <a:off x="3502152" y="3682914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DA9D18F-C651-4629-8843-017BD4701B10}"/>
              </a:ext>
            </a:extLst>
          </p:cNvPr>
          <p:cNvSpPr>
            <a:spLocks noGrp="1"/>
          </p:cNvSpPr>
          <p:nvPr/>
        </p:nvSpPr>
        <p:spPr>
          <a:xfrm>
            <a:off x="5431536" y="3456432"/>
            <a:ext cx="192024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6AAE5E5-7DA6-48D8-9647-263EEA358E1E}"/>
              </a:ext>
            </a:extLst>
          </p:cNvPr>
          <p:cNvSpPr>
            <a:spLocks noGrp="1"/>
          </p:cNvSpPr>
          <p:nvPr/>
        </p:nvSpPr>
        <p:spPr>
          <a:xfrm>
            <a:off x="5468112" y="3682914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67FADB1-8D91-40DE-8D9C-61F23A2105E6}"/>
              </a:ext>
            </a:extLst>
          </p:cNvPr>
          <p:cNvSpPr>
            <a:spLocks noGrp="1"/>
          </p:cNvSpPr>
          <p:nvPr/>
        </p:nvSpPr>
        <p:spPr>
          <a:xfrm>
            <a:off x="7351775" y="3456432"/>
            <a:ext cx="1783080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726F285-B9F9-4906-971F-8C1D395186DD}"/>
              </a:ext>
            </a:extLst>
          </p:cNvPr>
          <p:cNvSpPr>
            <a:spLocks noGrp="1"/>
          </p:cNvSpPr>
          <p:nvPr/>
        </p:nvSpPr>
        <p:spPr>
          <a:xfrm>
            <a:off x="7388351" y="3682914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640360E-FDBE-44A2-A5D8-AFAA423629F7}"/>
              </a:ext>
            </a:extLst>
          </p:cNvPr>
          <p:cNvSpPr>
            <a:spLocks noGrp="1"/>
          </p:cNvSpPr>
          <p:nvPr/>
        </p:nvSpPr>
        <p:spPr>
          <a:xfrm>
            <a:off x="9134855" y="3456432"/>
            <a:ext cx="1764792" cy="649224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CA7F55-C04E-4CE4-B77C-4707F218A4AE}"/>
              </a:ext>
            </a:extLst>
          </p:cNvPr>
          <p:cNvSpPr>
            <a:spLocks noGrp="1"/>
          </p:cNvSpPr>
          <p:nvPr/>
        </p:nvSpPr>
        <p:spPr>
          <a:xfrm>
            <a:off x="9171431" y="3682914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6D48EA1-7EDA-43A9-9E11-19B2ABA77E4F}"/>
              </a:ext>
            </a:extLst>
          </p:cNvPr>
          <p:cNvSpPr>
            <a:spLocks noGrp="1"/>
          </p:cNvSpPr>
          <p:nvPr/>
        </p:nvSpPr>
        <p:spPr>
          <a:xfrm>
            <a:off x="932688" y="4105656"/>
            <a:ext cx="658368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9F727FC-46A6-4CFA-B606-23D0F459DE7E}"/>
              </a:ext>
            </a:extLst>
          </p:cNvPr>
          <p:cNvSpPr>
            <a:spLocks noGrp="1"/>
          </p:cNvSpPr>
          <p:nvPr/>
        </p:nvSpPr>
        <p:spPr>
          <a:xfrm>
            <a:off x="969264" y="4332138"/>
            <a:ext cx="585216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D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BC66039-2D20-48D0-947D-F1BF66C80D48}"/>
              </a:ext>
            </a:extLst>
          </p:cNvPr>
          <p:cNvSpPr>
            <a:spLocks noGrp="1"/>
          </p:cNvSpPr>
          <p:nvPr/>
        </p:nvSpPr>
        <p:spPr>
          <a:xfrm>
            <a:off x="1591056" y="4105656"/>
            <a:ext cx="1874519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D337984-9C66-4CA1-853F-7E0965E0AE97}"/>
              </a:ext>
            </a:extLst>
          </p:cNvPr>
          <p:cNvSpPr>
            <a:spLocks noGrp="1"/>
          </p:cNvSpPr>
          <p:nvPr/>
        </p:nvSpPr>
        <p:spPr>
          <a:xfrm>
            <a:off x="1627632" y="4332138"/>
            <a:ext cx="180136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D6B8E57-5B77-4AA0-B6AD-7D0348CE7569}"/>
              </a:ext>
            </a:extLst>
          </p:cNvPr>
          <p:cNvSpPr>
            <a:spLocks noGrp="1"/>
          </p:cNvSpPr>
          <p:nvPr/>
        </p:nvSpPr>
        <p:spPr>
          <a:xfrm>
            <a:off x="3465576" y="4105656"/>
            <a:ext cx="196596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536EEFD-F6EE-4498-AEC9-3D7AD866CC3E}"/>
              </a:ext>
            </a:extLst>
          </p:cNvPr>
          <p:cNvSpPr>
            <a:spLocks noGrp="1"/>
          </p:cNvSpPr>
          <p:nvPr/>
        </p:nvSpPr>
        <p:spPr>
          <a:xfrm>
            <a:off x="3502152" y="4332138"/>
            <a:ext cx="1892807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2747C39-527E-49A3-A644-B1EB2A593357}"/>
              </a:ext>
            </a:extLst>
          </p:cNvPr>
          <p:cNvSpPr>
            <a:spLocks noGrp="1"/>
          </p:cNvSpPr>
          <p:nvPr/>
        </p:nvSpPr>
        <p:spPr>
          <a:xfrm>
            <a:off x="5431536" y="4105656"/>
            <a:ext cx="192024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EE19E9-73E4-4EBE-AA9F-0BB3132746C3}"/>
              </a:ext>
            </a:extLst>
          </p:cNvPr>
          <p:cNvSpPr>
            <a:spLocks noGrp="1"/>
          </p:cNvSpPr>
          <p:nvPr/>
        </p:nvSpPr>
        <p:spPr>
          <a:xfrm>
            <a:off x="5468112" y="4332138"/>
            <a:ext cx="184708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1D0DEB7-0C36-403F-AE28-D4D8D7384BB6}"/>
              </a:ext>
            </a:extLst>
          </p:cNvPr>
          <p:cNvSpPr>
            <a:spLocks noGrp="1"/>
          </p:cNvSpPr>
          <p:nvPr/>
        </p:nvSpPr>
        <p:spPr>
          <a:xfrm>
            <a:off x="7351775" y="4105656"/>
            <a:ext cx="1783080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0A23514-7784-4866-850E-3ABA74C4754C}"/>
              </a:ext>
            </a:extLst>
          </p:cNvPr>
          <p:cNvSpPr>
            <a:spLocks noGrp="1"/>
          </p:cNvSpPr>
          <p:nvPr/>
        </p:nvSpPr>
        <p:spPr>
          <a:xfrm>
            <a:off x="7388351" y="4332138"/>
            <a:ext cx="1709928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CE0450A-AE7E-4519-87BF-F1FBE0087441}"/>
              </a:ext>
            </a:extLst>
          </p:cNvPr>
          <p:cNvSpPr>
            <a:spLocks noGrp="1"/>
          </p:cNvSpPr>
          <p:nvPr/>
        </p:nvSpPr>
        <p:spPr>
          <a:xfrm>
            <a:off x="9134855" y="4105656"/>
            <a:ext cx="1764792" cy="649224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446A8AF-0DBE-47BC-A056-64798FD508FD}"/>
              </a:ext>
            </a:extLst>
          </p:cNvPr>
          <p:cNvSpPr>
            <a:spLocks noGrp="1"/>
          </p:cNvSpPr>
          <p:nvPr/>
        </p:nvSpPr>
        <p:spPr>
          <a:xfrm>
            <a:off x="9171431" y="4332138"/>
            <a:ext cx="1691639" cy="15081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A7956B-ABD8-44CE-B39A-D5941F4966A0}"/>
              </a:ext>
            </a:extLst>
          </p:cNvPr>
          <p:cNvSpPr>
            <a:spLocks noGrp="1"/>
          </p:cNvSpPr>
          <p:nvPr/>
        </p:nvSpPr>
        <p:spPr>
          <a:xfrm>
            <a:off x="932688" y="4983480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해석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방식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3E0EECE-996C-45D4-8822-BFAEC17DEB91}"/>
              </a:ext>
            </a:extLst>
          </p:cNvPr>
          <p:cNvSpPr>
            <a:spLocks noGrp="1"/>
          </p:cNvSpPr>
          <p:nvPr/>
        </p:nvSpPr>
        <p:spPr>
          <a:xfrm>
            <a:off x="932688" y="522122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1" name="Connector 100">
            <a:extLst>
              <a:ext uri="{FF2B5EF4-FFF2-40B4-BE49-F238E27FC236}">
                <a16:creationId xmlns:a16="http://schemas.microsoft.com/office/drawing/2014/main" id="{4A805437-ABEF-4E26-9266-797D60F2FF6D}"/>
              </a:ext>
            </a:extLst>
          </p:cNvPr>
          <p:cNvSpPr>
            <a:spLocks noGrp="1"/>
          </p:cNvSpPr>
          <p:nvPr/>
        </p:nvSpPr>
        <p:spPr>
          <a:xfrm>
            <a:off x="1389888" y="5233111"/>
            <a:ext cx="137160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757C6BA8-09D2-4840-943F-B39C88218A43}"/>
              </a:ext>
            </a:extLst>
          </p:cNvPr>
          <p:cNvSpPr>
            <a:spLocks noGrp="1"/>
          </p:cNvSpPr>
          <p:nvPr/>
        </p:nvSpPr>
        <p:spPr>
          <a:xfrm>
            <a:off x="932688" y="5303520"/>
            <a:ext cx="2267712" cy="71323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7F39C65-40FC-4319-A04A-EA88FCACA281}"/>
              </a:ext>
            </a:extLst>
          </p:cNvPr>
          <p:cNvSpPr>
            <a:spLocks noGrp="1"/>
          </p:cNvSpPr>
          <p:nvPr/>
        </p:nvSpPr>
        <p:spPr>
          <a:xfrm>
            <a:off x="932688" y="5303520"/>
            <a:ext cx="50292" cy="7132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90130C6-F258-4D0B-98D2-0DF3C1BBE140}"/>
              </a:ext>
            </a:extLst>
          </p:cNvPr>
          <p:cNvSpPr>
            <a:spLocks noGrp="1"/>
          </p:cNvSpPr>
          <p:nvPr/>
        </p:nvSpPr>
        <p:spPr>
          <a:xfrm>
            <a:off x="1088136" y="5431536"/>
            <a:ext cx="199339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1B5F664-4F70-4B4E-B459-AE5678B5AD87}"/>
              </a:ext>
            </a:extLst>
          </p:cNvPr>
          <p:cNvSpPr>
            <a:spLocks noGrp="1"/>
          </p:cNvSpPr>
          <p:nvPr/>
        </p:nvSpPr>
        <p:spPr>
          <a:xfrm>
            <a:off x="1088136" y="5724144"/>
            <a:ext cx="199339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단기간에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따라오기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어려운가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3E2AE123-CB23-4BC3-A852-D5CC6AEA049B}"/>
              </a:ext>
            </a:extLst>
          </p:cNvPr>
          <p:cNvSpPr>
            <a:spLocks noGrp="1"/>
          </p:cNvSpPr>
          <p:nvPr/>
        </p:nvSpPr>
        <p:spPr>
          <a:xfrm>
            <a:off x="3438144" y="5303520"/>
            <a:ext cx="2267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8060AF-B1FB-4B6B-8331-11FBC2C4A671}"/>
              </a:ext>
            </a:extLst>
          </p:cNvPr>
          <p:cNvSpPr>
            <a:spLocks noGrp="1"/>
          </p:cNvSpPr>
          <p:nvPr/>
        </p:nvSpPr>
        <p:spPr>
          <a:xfrm>
            <a:off x="3438144" y="5303520"/>
            <a:ext cx="50292" cy="7132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D35BA25-EBD8-42AA-9B42-99AD126D80B7}"/>
              </a:ext>
            </a:extLst>
          </p:cNvPr>
          <p:cNvSpPr>
            <a:spLocks noGrp="1"/>
          </p:cNvSpPr>
          <p:nvPr/>
        </p:nvSpPr>
        <p:spPr>
          <a:xfrm>
            <a:off x="3593592" y="5431536"/>
            <a:ext cx="199339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레버리지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8760C26-CE77-44D1-A378-E8403DE8795F}"/>
              </a:ext>
            </a:extLst>
          </p:cNvPr>
          <p:cNvSpPr>
            <a:spLocks noGrp="1"/>
          </p:cNvSpPr>
          <p:nvPr/>
        </p:nvSpPr>
        <p:spPr>
          <a:xfrm>
            <a:off x="3593592" y="5724144"/>
            <a:ext cx="1993392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성장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이익이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더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빠르게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커지는가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CBC16557-C721-4E0F-9F68-0DB31E7958B9}"/>
              </a:ext>
            </a:extLst>
          </p:cNvPr>
          <p:cNvSpPr>
            <a:spLocks noGrp="1"/>
          </p:cNvSpPr>
          <p:nvPr/>
        </p:nvSpPr>
        <p:spPr>
          <a:xfrm>
            <a:off x="5943600" y="5303520"/>
            <a:ext cx="2267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02761C7-C009-4F1A-A3AE-2D73C90D30C8}"/>
              </a:ext>
            </a:extLst>
          </p:cNvPr>
          <p:cNvSpPr>
            <a:spLocks noGrp="1"/>
          </p:cNvSpPr>
          <p:nvPr/>
        </p:nvSpPr>
        <p:spPr>
          <a:xfrm>
            <a:off x="5943600" y="5303520"/>
            <a:ext cx="50292" cy="7132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9A0B03-3A39-45A0-9F36-CD3A296F08A3}"/>
              </a:ext>
            </a:extLst>
          </p:cNvPr>
          <p:cNvSpPr>
            <a:spLocks noGrp="1"/>
          </p:cNvSpPr>
          <p:nvPr/>
        </p:nvSpPr>
        <p:spPr>
          <a:xfrm>
            <a:off x="6099048" y="5431536"/>
            <a:ext cx="199339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리레이팅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768D156-69DF-4EF1-99C4-FD143EB723E6}"/>
              </a:ext>
            </a:extLst>
          </p:cNvPr>
          <p:cNvSpPr>
            <a:spLocks noGrp="1"/>
          </p:cNvSpPr>
          <p:nvPr/>
        </p:nvSpPr>
        <p:spPr>
          <a:xfrm>
            <a:off x="6099048" y="5724144"/>
            <a:ext cx="1993392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주당순이익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외에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멀티플이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재평가될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이유가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있는가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FA48F5B7-74B6-427E-BDDE-460B3B16845F}"/>
              </a:ext>
            </a:extLst>
          </p:cNvPr>
          <p:cNvSpPr>
            <a:spLocks noGrp="1"/>
          </p:cNvSpPr>
          <p:nvPr/>
        </p:nvSpPr>
        <p:spPr>
          <a:xfrm>
            <a:off x="8449056" y="5303520"/>
            <a:ext cx="226771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AB172D0-3169-41B7-AF7B-7A229F18D17E}"/>
              </a:ext>
            </a:extLst>
          </p:cNvPr>
          <p:cNvSpPr>
            <a:spLocks noGrp="1"/>
          </p:cNvSpPr>
          <p:nvPr/>
        </p:nvSpPr>
        <p:spPr>
          <a:xfrm>
            <a:off x="8449056" y="5303520"/>
            <a:ext cx="50292" cy="713232"/>
          </a:xfrm>
          <a:prstGeom prst="rect">
            <a:avLst/>
          </a:prstGeom>
          <a:solidFill>
            <a:srgbClr val="168463"/>
          </a:solidFill>
          <a:ln>
            <a:solidFill>
              <a:srgbClr val="16846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5587793-4BB9-4F7B-A8E5-C85FD69CFD66}"/>
              </a:ext>
            </a:extLst>
          </p:cNvPr>
          <p:cNvSpPr>
            <a:spLocks noGrp="1"/>
          </p:cNvSpPr>
          <p:nvPr/>
        </p:nvSpPr>
        <p:spPr>
          <a:xfrm>
            <a:off x="8604504" y="5431536"/>
            <a:ext cx="1993392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50413A4-E138-4A59-89C2-3D08162A2190}"/>
              </a:ext>
            </a:extLst>
          </p:cNvPr>
          <p:cNvSpPr>
            <a:spLocks noGrp="1"/>
          </p:cNvSpPr>
          <p:nvPr/>
        </p:nvSpPr>
        <p:spPr>
          <a:xfrm>
            <a:off x="8604504" y="5724144"/>
            <a:ext cx="1993392" cy="2739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정량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또는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명확한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사건으로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조건을</a:t>
            </a:r>
            <a:r>
              <a:rPr sz="77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정의했는가</a:t>
            </a:r>
            <a:endParaRPr sz="77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9" name="Rectangle 1">
            <a:extLst>
              <a:ext uri="{FF2B5EF4-FFF2-40B4-BE49-F238E27FC236}">
                <a16:creationId xmlns:a16="http://schemas.microsoft.com/office/drawing/2014/main" id="{3762A1B9-D078-1059-532A-1EB97708E901}"/>
              </a:ext>
            </a:extLst>
          </p:cNvPr>
          <p:cNvSpPr>
            <a:spLocks noGrp="1"/>
          </p:cNvSpPr>
          <p:nvPr/>
        </p:nvSpPr>
        <p:spPr>
          <a:xfrm>
            <a:off x="0" y="-7864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7" name="TextBox 10">
            <a:extLst>
              <a:ext uri="{FF2B5EF4-FFF2-40B4-BE49-F238E27FC236}">
                <a16:creationId xmlns:a16="http://schemas.microsoft.com/office/drawing/2014/main" id="{529FDD24-5798-6CC7-94C8-3AA830DC02FF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39" name="TextBox 11">
            <a:extLst>
              <a:ext uri="{FF2B5EF4-FFF2-40B4-BE49-F238E27FC236}">
                <a16:creationId xmlns:a16="http://schemas.microsoft.com/office/drawing/2014/main" id="{07E0904F-7306-E887-E30B-292A224C883A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5" name="TextBox 14">
            <a:extLst>
              <a:ext uri="{FF2B5EF4-FFF2-40B4-BE49-F238E27FC236}">
                <a16:creationId xmlns:a16="http://schemas.microsoft.com/office/drawing/2014/main" id="{E8316EB5-62F2-DE3A-6444-6D266AE2662B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47" name="TextBox 15">
            <a:extLst>
              <a:ext uri="{FF2B5EF4-FFF2-40B4-BE49-F238E27FC236}">
                <a16:creationId xmlns:a16="http://schemas.microsoft.com/office/drawing/2014/main" id="{91DBF9A9-37F7-4B7D-1FE7-CFCA45324D47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9" name="TextBox 6">
            <a:extLst>
              <a:ext uri="{FF2B5EF4-FFF2-40B4-BE49-F238E27FC236}">
                <a16:creationId xmlns:a16="http://schemas.microsoft.com/office/drawing/2014/main" id="{FA1C0891-92A1-3CD7-2BF0-E6C5DF735D5C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51" name="TextBox 7">
            <a:extLst>
              <a:ext uri="{FF2B5EF4-FFF2-40B4-BE49-F238E27FC236}">
                <a16:creationId xmlns:a16="http://schemas.microsoft.com/office/drawing/2014/main" id="{75E17E35-0C53-211C-2F9C-6C9DEC9039E4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3" name="TextBox 8">
            <a:extLst>
              <a:ext uri="{FF2B5EF4-FFF2-40B4-BE49-F238E27FC236}">
                <a16:creationId xmlns:a16="http://schemas.microsoft.com/office/drawing/2014/main" id="{D428C074-2CCB-7578-932B-88A1D1218DEE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55" name="TextBox 9">
            <a:extLst>
              <a:ext uri="{FF2B5EF4-FFF2-40B4-BE49-F238E27FC236}">
                <a16:creationId xmlns:a16="http://schemas.microsoft.com/office/drawing/2014/main" id="{54842F46-B16C-1642-1382-FFF61EAFE938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7" name="TextBox 4">
            <a:extLst>
              <a:ext uri="{FF2B5EF4-FFF2-40B4-BE49-F238E27FC236}">
                <a16:creationId xmlns:a16="http://schemas.microsoft.com/office/drawing/2014/main" id="{84425385-A813-005A-FB36-CBD30694080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9" name="TextBox 5">
            <a:extLst>
              <a:ext uri="{FF2B5EF4-FFF2-40B4-BE49-F238E27FC236}">
                <a16:creationId xmlns:a16="http://schemas.microsoft.com/office/drawing/2014/main" id="{893E6D97-B1EC-4EFA-6441-00028589CFA4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7" name="Rounded Rectangle 3">
            <a:extLst>
              <a:ext uri="{FF2B5EF4-FFF2-40B4-BE49-F238E27FC236}">
                <a16:creationId xmlns:a16="http://schemas.microsoft.com/office/drawing/2014/main" id="{03D036FD-E977-FDF5-171F-E758BD4392DD}"/>
              </a:ext>
            </a:extLst>
          </p:cNvPr>
          <p:cNvSpPr>
            <a:spLocks noGrp="1"/>
          </p:cNvSpPr>
          <p:nvPr/>
        </p:nvSpPr>
        <p:spPr>
          <a:xfrm>
            <a:off x="57912" y="375176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69" name="TextBox 6">
            <a:extLst>
              <a:ext uri="{FF2B5EF4-FFF2-40B4-BE49-F238E27FC236}">
                <a16:creationId xmlns:a16="http://schemas.microsoft.com/office/drawing/2014/main" id="{3BFFEBB3-3017-2E91-751A-989E8603A4E9}"/>
              </a:ext>
            </a:extLst>
          </p:cNvPr>
          <p:cNvSpPr>
            <a:spLocks noGrp="1"/>
          </p:cNvSpPr>
          <p:nvPr/>
        </p:nvSpPr>
        <p:spPr>
          <a:xfrm>
            <a:off x="91440" y="395089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1" name="TextBox 7">
            <a:extLst>
              <a:ext uri="{FF2B5EF4-FFF2-40B4-BE49-F238E27FC236}">
                <a16:creationId xmlns:a16="http://schemas.microsoft.com/office/drawing/2014/main" id="{DCB54C9D-D01B-8027-2674-E94031F01F5D}"/>
              </a:ext>
            </a:extLst>
          </p:cNvPr>
          <p:cNvSpPr>
            <a:spLocks noGrp="1"/>
          </p:cNvSpPr>
          <p:nvPr/>
        </p:nvSpPr>
        <p:spPr>
          <a:xfrm>
            <a:off x="192024" y="395170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CDD6A7-EB95-4C25-4907-C813DA42F6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68843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1CAE996-9B04-4F8B-8F70-11C527FFAD51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67335B-8227-4011-A969-70873057CEFC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376F31-4845-44E1-A6AA-FC4F05160B50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3504CE-E319-4EDC-A6DF-9BAA334D6AB1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ADCEF8-8150-488E-93F4-B991609F5990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A274CC-57EC-4B25-849B-B3675625A3B1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4FB6BA-E766-4412-AD88-C9536AFCC7F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CE5FF4-8939-4B82-BA9B-39E50BDB58E4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C3512B-46D2-4CDD-AF40-01953B012FF9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2F93AF-A5C6-4FA7-B634-11DBB0616BBF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F49EAF-662C-4F7C-802C-76B8CEF8744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E71E6C-999A-443B-A75D-D26E452C5FEC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9863EA-5B41-4225-92FF-0511EACFDDDA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4E8BBB-5FA6-4EAA-BF09-2D7E186EB7A7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DF6FDD-00E7-4013-A2F2-280CAE393B17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촉매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대시보드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13101E8E-5B9B-487D-AAE9-90528B8D8B1E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BF614C40-46AB-491E-B98B-281DEBDC3D1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50C1E-BAF2-4F2E-8E26-275631705FEA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5E664F6-D492-433B-92CB-76EA86E859D4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E9E02C-D516-4005-A6ED-D903B97414C1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05/06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C52849-03A6-416C-9B4D-1B96DB5B20DD}"/>
              </a:ext>
            </a:extLst>
          </p:cNvPr>
          <p:cNvSpPr>
            <a:spLocks noGrp="1"/>
          </p:cNvSpPr>
          <p:nvPr/>
        </p:nvSpPr>
        <p:spPr>
          <a:xfrm>
            <a:off x="932688" y="1417320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최근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BD5B98-9B87-4BF6-8DA5-64D5B738290B}"/>
              </a:ext>
            </a:extLst>
          </p:cNvPr>
          <p:cNvSpPr>
            <a:spLocks noGrp="1"/>
          </p:cNvSpPr>
          <p:nvPr/>
        </p:nvSpPr>
        <p:spPr>
          <a:xfrm>
            <a:off x="932688" y="165506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6611B42D-6A53-4378-A687-465E3BB26626}"/>
              </a:ext>
            </a:extLst>
          </p:cNvPr>
          <p:cNvSpPr>
            <a:spLocks noGrp="1"/>
          </p:cNvSpPr>
          <p:nvPr/>
        </p:nvSpPr>
        <p:spPr>
          <a:xfrm>
            <a:off x="1389888" y="1666951"/>
            <a:ext cx="11887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0FC2C33-95D6-4774-8594-1A1EC78EF66F}"/>
              </a:ext>
            </a:extLst>
          </p:cNvPr>
          <p:cNvSpPr>
            <a:spLocks noGrp="1"/>
          </p:cNvSpPr>
          <p:nvPr/>
        </p:nvSpPr>
        <p:spPr>
          <a:xfrm>
            <a:off x="932688" y="1755648"/>
            <a:ext cx="299923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5B83530-9494-48A2-9882-87F3167AD819}"/>
              </a:ext>
            </a:extLst>
          </p:cNvPr>
          <p:cNvSpPr>
            <a:spLocks noGrp="1"/>
          </p:cNvSpPr>
          <p:nvPr/>
        </p:nvSpPr>
        <p:spPr>
          <a:xfrm>
            <a:off x="1078992" y="1892807"/>
            <a:ext cx="713232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587960-725B-4BCB-8523-512D2ABCFBFD}"/>
              </a:ext>
            </a:extLst>
          </p:cNvPr>
          <p:cNvSpPr>
            <a:spLocks noGrp="1"/>
          </p:cNvSpPr>
          <p:nvPr/>
        </p:nvSpPr>
        <p:spPr>
          <a:xfrm>
            <a:off x="1133856" y="1930209"/>
            <a:ext cx="603504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A8A694-A400-466D-95F0-7F27C9534E6C}"/>
              </a:ext>
            </a:extLst>
          </p:cNvPr>
          <p:cNvSpPr>
            <a:spLocks noGrp="1"/>
          </p:cNvSpPr>
          <p:nvPr/>
        </p:nvSpPr>
        <p:spPr>
          <a:xfrm>
            <a:off x="1892808" y="1892807"/>
            <a:ext cx="17373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내용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52C75A-5AC4-4751-B1E4-F26294079EA8}"/>
              </a:ext>
            </a:extLst>
          </p:cNvPr>
          <p:cNvSpPr>
            <a:spLocks noGrp="1"/>
          </p:cNvSpPr>
          <p:nvPr/>
        </p:nvSpPr>
        <p:spPr>
          <a:xfrm>
            <a:off x="1078992" y="228600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C47DAF-F1B3-4F31-8252-D7C75C5210D2}"/>
              </a:ext>
            </a:extLst>
          </p:cNvPr>
          <p:cNvSpPr>
            <a:spLocks noGrp="1"/>
          </p:cNvSpPr>
          <p:nvPr/>
        </p:nvSpPr>
        <p:spPr>
          <a:xfrm>
            <a:off x="1078992" y="256032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숫자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/OPM/EPS]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723531D-027F-4FE1-98D6-A978773E107A}"/>
              </a:ext>
            </a:extLst>
          </p:cNvPr>
          <p:cNvSpPr>
            <a:spLocks noGrp="1"/>
          </p:cNvSpPr>
          <p:nvPr/>
        </p:nvSpPr>
        <p:spPr>
          <a:xfrm>
            <a:off x="4242816" y="1755648"/>
            <a:ext cx="299923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5139053-36B7-4AD4-937E-8A319C09977C}"/>
              </a:ext>
            </a:extLst>
          </p:cNvPr>
          <p:cNvSpPr>
            <a:spLocks noGrp="1"/>
          </p:cNvSpPr>
          <p:nvPr/>
        </p:nvSpPr>
        <p:spPr>
          <a:xfrm>
            <a:off x="4389120" y="1892807"/>
            <a:ext cx="713232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5756C4-BBD2-4A8F-8098-0FEEC68885C3}"/>
              </a:ext>
            </a:extLst>
          </p:cNvPr>
          <p:cNvSpPr>
            <a:spLocks noGrp="1"/>
          </p:cNvSpPr>
          <p:nvPr/>
        </p:nvSpPr>
        <p:spPr>
          <a:xfrm>
            <a:off x="4443984" y="1930209"/>
            <a:ext cx="603504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A5B034-CA6A-4398-B37D-E289C59CFCC1}"/>
              </a:ext>
            </a:extLst>
          </p:cNvPr>
          <p:cNvSpPr>
            <a:spLocks noGrp="1"/>
          </p:cNvSpPr>
          <p:nvPr/>
        </p:nvSpPr>
        <p:spPr>
          <a:xfrm>
            <a:off x="5202936" y="1892807"/>
            <a:ext cx="17373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내용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5A4F29-558F-46C3-9BE1-4914D2DC0B95}"/>
              </a:ext>
            </a:extLst>
          </p:cNvPr>
          <p:cNvSpPr>
            <a:spLocks noGrp="1"/>
          </p:cNvSpPr>
          <p:nvPr/>
        </p:nvSpPr>
        <p:spPr>
          <a:xfrm>
            <a:off x="4389120" y="228600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2A9F4F-167C-431D-B412-0CBD54E93B1A}"/>
              </a:ext>
            </a:extLst>
          </p:cNvPr>
          <p:cNvSpPr>
            <a:spLocks noGrp="1"/>
          </p:cNvSpPr>
          <p:nvPr/>
        </p:nvSpPr>
        <p:spPr>
          <a:xfrm>
            <a:off x="4389120" y="256032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숫자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FBC0EDF6-9FC8-405B-9F75-C9310A07FF50}"/>
              </a:ext>
            </a:extLst>
          </p:cNvPr>
          <p:cNvSpPr>
            <a:spLocks noGrp="1"/>
          </p:cNvSpPr>
          <p:nvPr/>
        </p:nvSpPr>
        <p:spPr>
          <a:xfrm>
            <a:off x="7552944" y="1755648"/>
            <a:ext cx="2999232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421B0F3-4A31-4A00-A900-BC22A381C090}"/>
              </a:ext>
            </a:extLst>
          </p:cNvPr>
          <p:cNvSpPr>
            <a:spLocks noGrp="1"/>
          </p:cNvSpPr>
          <p:nvPr/>
        </p:nvSpPr>
        <p:spPr>
          <a:xfrm>
            <a:off x="7699248" y="1892807"/>
            <a:ext cx="713232" cy="23774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9F8C3F-4F2F-440B-A956-70E94E990807}"/>
              </a:ext>
            </a:extLst>
          </p:cNvPr>
          <p:cNvSpPr>
            <a:spLocks noGrp="1"/>
          </p:cNvSpPr>
          <p:nvPr/>
        </p:nvSpPr>
        <p:spPr>
          <a:xfrm>
            <a:off x="7754112" y="1930209"/>
            <a:ext cx="603504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0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</a:t>
            </a:r>
            <a:r>
              <a:rPr sz="70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70AFE3-FE0D-42CE-AF1F-F887377C1A3F}"/>
              </a:ext>
            </a:extLst>
          </p:cNvPr>
          <p:cNvSpPr>
            <a:spLocks noGrp="1"/>
          </p:cNvSpPr>
          <p:nvPr/>
        </p:nvSpPr>
        <p:spPr>
          <a:xfrm>
            <a:off x="8513064" y="1892807"/>
            <a:ext cx="1737360" cy="1600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내용</a:t>
            </a:r>
            <a:r>
              <a:rPr sz="8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027432-85EC-49E3-9FDE-23F43C23C590}"/>
              </a:ext>
            </a:extLst>
          </p:cNvPr>
          <p:cNvSpPr>
            <a:spLocks noGrp="1"/>
          </p:cNvSpPr>
          <p:nvPr/>
        </p:nvSpPr>
        <p:spPr>
          <a:xfrm>
            <a:off x="7699248" y="228600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</a:t>
            </a:r>
            <a:r>
              <a:rPr sz="72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4E420C-F38C-48C7-9DA2-B027BA0F194D}"/>
              </a:ext>
            </a:extLst>
          </p:cNvPr>
          <p:cNvSpPr>
            <a:spLocks noGrp="1"/>
          </p:cNvSpPr>
          <p:nvPr/>
        </p:nvSpPr>
        <p:spPr>
          <a:xfrm>
            <a:off x="7699248" y="2560320"/>
            <a:ext cx="2615184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숫자</a:t>
            </a:r>
            <a:r>
              <a:rPr sz="70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CCE2E1-A91A-46D0-9C67-495BD3A3B64C}"/>
              </a:ext>
            </a:extLst>
          </p:cNvPr>
          <p:cNvSpPr>
            <a:spLocks noGrp="1"/>
          </p:cNvSpPr>
          <p:nvPr/>
        </p:nvSpPr>
        <p:spPr>
          <a:xfrm>
            <a:off x="932688" y="3200400"/>
            <a:ext cx="1645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촉매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일정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199871D-448F-4AF0-BAA3-02DBFCF4EB0A}"/>
              </a:ext>
            </a:extLst>
          </p:cNvPr>
          <p:cNvSpPr>
            <a:spLocks noGrp="1"/>
          </p:cNvSpPr>
          <p:nvPr/>
        </p:nvSpPr>
        <p:spPr>
          <a:xfrm>
            <a:off x="932688" y="343814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Connector 61">
            <a:extLst>
              <a:ext uri="{FF2B5EF4-FFF2-40B4-BE49-F238E27FC236}">
                <a16:creationId xmlns:a16="http://schemas.microsoft.com/office/drawing/2014/main" id="{0222E49F-D8D4-4C08-B16F-ACC6101E5285}"/>
              </a:ext>
            </a:extLst>
          </p:cNvPr>
          <p:cNvSpPr>
            <a:spLocks noGrp="1"/>
          </p:cNvSpPr>
          <p:nvPr/>
        </p:nvSpPr>
        <p:spPr>
          <a:xfrm>
            <a:off x="1389888" y="3450031"/>
            <a:ext cx="118872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3" name="Connector 62">
            <a:extLst>
              <a:ext uri="{FF2B5EF4-FFF2-40B4-BE49-F238E27FC236}">
                <a16:creationId xmlns:a16="http://schemas.microsoft.com/office/drawing/2014/main" id="{FF91F828-703E-4F1F-995F-11ACA3317345}"/>
              </a:ext>
            </a:extLst>
          </p:cNvPr>
          <p:cNvSpPr>
            <a:spLocks noGrp="1"/>
          </p:cNvSpPr>
          <p:nvPr/>
        </p:nvSpPr>
        <p:spPr>
          <a:xfrm>
            <a:off x="1298448" y="3913632"/>
            <a:ext cx="4736592" cy="0"/>
          </a:xfrm>
          <a:prstGeom prst="line">
            <a:avLst/>
          </a:prstGeom>
          <a:ln w="1016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68393AD-51B1-4052-A378-3EF69DE8D2AC}"/>
              </a:ext>
            </a:extLst>
          </p:cNvPr>
          <p:cNvSpPr>
            <a:spLocks noGrp="1"/>
          </p:cNvSpPr>
          <p:nvPr/>
        </p:nvSpPr>
        <p:spPr>
          <a:xfrm>
            <a:off x="1417320" y="3739896"/>
            <a:ext cx="329184" cy="32918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0A85AF-E06A-4FD5-BA93-6A1ACE6AD22F}"/>
              </a:ext>
            </a:extLst>
          </p:cNvPr>
          <p:cNvSpPr>
            <a:spLocks noGrp="1"/>
          </p:cNvSpPr>
          <p:nvPr/>
        </p:nvSpPr>
        <p:spPr>
          <a:xfrm>
            <a:off x="1344168" y="4187952"/>
            <a:ext cx="4937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Q1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1383F3-5781-48D6-97DB-F5DC49097ED1}"/>
              </a:ext>
            </a:extLst>
          </p:cNvPr>
          <p:cNvSpPr>
            <a:spLocks noGrp="1"/>
          </p:cNvSpPr>
          <p:nvPr/>
        </p:nvSpPr>
        <p:spPr>
          <a:xfrm>
            <a:off x="1216152" y="44256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5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FB256D1-F39E-4954-BEB7-A46C4CE5AC7C}"/>
              </a:ext>
            </a:extLst>
          </p:cNvPr>
          <p:cNvSpPr>
            <a:spLocks noGrp="1"/>
          </p:cNvSpPr>
          <p:nvPr/>
        </p:nvSpPr>
        <p:spPr>
          <a:xfrm>
            <a:off x="2642616" y="3739896"/>
            <a:ext cx="329184" cy="32918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DB56D8-4C93-420A-80F1-A417A8410A31}"/>
              </a:ext>
            </a:extLst>
          </p:cNvPr>
          <p:cNvSpPr>
            <a:spLocks noGrp="1"/>
          </p:cNvSpPr>
          <p:nvPr/>
        </p:nvSpPr>
        <p:spPr>
          <a:xfrm>
            <a:off x="2569464" y="4187952"/>
            <a:ext cx="4937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Q2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20AC83-92ED-4817-9163-78C538445255}"/>
              </a:ext>
            </a:extLst>
          </p:cNvPr>
          <p:cNvSpPr>
            <a:spLocks noGrp="1"/>
          </p:cNvSpPr>
          <p:nvPr/>
        </p:nvSpPr>
        <p:spPr>
          <a:xfrm>
            <a:off x="2441448" y="44256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5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895C132E-2687-4600-9925-644F75BFFFA6}"/>
              </a:ext>
            </a:extLst>
          </p:cNvPr>
          <p:cNvSpPr>
            <a:spLocks noGrp="1"/>
          </p:cNvSpPr>
          <p:nvPr/>
        </p:nvSpPr>
        <p:spPr>
          <a:xfrm>
            <a:off x="3867912" y="3739896"/>
            <a:ext cx="329184" cy="32918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61293E-A6A4-4256-90E5-DE6DF2B64FE2}"/>
              </a:ext>
            </a:extLst>
          </p:cNvPr>
          <p:cNvSpPr>
            <a:spLocks noGrp="1"/>
          </p:cNvSpPr>
          <p:nvPr/>
        </p:nvSpPr>
        <p:spPr>
          <a:xfrm>
            <a:off x="3794760" y="4187952"/>
            <a:ext cx="4937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Q3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C03019-3F11-49B9-BD36-1AC4B80A6863}"/>
              </a:ext>
            </a:extLst>
          </p:cNvPr>
          <p:cNvSpPr>
            <a:spLocks noGrp="1"/>
          </p:cNvSpPr>
          <p:nvPr/>
        </p:nvSpPr>
        <p:spPr>
          <a:xfrm>
            <a:off x="3666744" y="44256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5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4964A8B-409C-4DB2-8436-4F1AE1B16AA1}"/>
              </a:ext>
            </a:extLst>
          </p:cNvPr>
          <p:cNvSpPr>
            <a:spLocks noGrp="1"/>
          </p:cNvSpPr>
          <p:nvPr/>
        </p:nvSpPr>
        <p:spPr>
          <a:xfrm>
            <a:off x="5093208" y="3739896"/>
            <a:ext cx="329184" cy="329184"/>
          </a:xfrm>
          <a:prstGeom prst="ellipse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80ADA2-92D7-4672-96B0-CE8B12EDE61A}"/>
              </a:ext>
            </a:extLst>
          </p:cNvPr>
          <p:cNvSpPr>
            <a:spLocks noGrp="1"/>
          </p:cNvSpPr>
          <p:nvPr/>
        </p:nvSpPr>
        <p:spPr>
          <a:xfrm>
            <a:off x="5020056" y="4187952"/>
            <a:ext cx="49377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Q4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CD1A88-DB25-4D6D-BAB3-74BD8D7A9325}"/>
              </a:ext>
            </a:extLst>
          </p:cNvPr>
          <p:cNvSpPr>
            <a:spLocks noGrp="1"/>
          </p:cNvSpPr>
          <p:nvPr/>
        </p:nvSpPr>
        <p:spPr>
          <a:xfrm>
            <a:off x="4892040" y="4425696"/>
            <a:ext cx="7680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65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r>
              <a:rPr sz="65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5C2185-D488-4856-8DD0-662E189F9A26}"/>
              </a:ext>
            </a:extLst>
          </p:cNvPr>
          <p:cNvSpPr>
            <a:spLocks noGrp="1"/>
          </p:cNvSpPr>
          <p:nvPr/>
        </p:nvSpPr>
        <p:spPr>
          <a:xfrm>
            <a:off x="6510528" y="3200400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리스크와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2CFDF25-2001-476E-99E4-B54CF325CC21}"/>
              </a:ext>
            </a:extLst>
          </p:cNvPr>
          <p:cNvSpPr>
            <a:spLocks noGrp="1"/>
          </p:cNvSpPr>
          <p:nvPr/>
        </p:nvSpPr>
        <p:spPr>
          <a:xfrm>
            <a:off x="6510528" y="3438144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Connector 77">
            <a:extLst>
              <a:ext uri="{FF2B5EF4-FFF2-40B4-BE49-F238E27FC236}">
                <a16:creationId xmlns:a16="http://schemas.microsoft.com/office/drawing/2014/main" id="{8726F452-478A-4181-9536-28370A980F20}"/>
              </a:ext>
            </a:extLst>
          </p:cNvPr>
          <p:cNvSpPr>
            <a:spLocks noGrp="1"/>
          </p:cNvSpPr>
          <p:nvPr/>
        </p:nvSpPr>
        <p:spPr>
          <a:xfrm>
            <a:off x="6967728" y="3450031"/>
            <a:ext cx="173736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559E6F60-EF84-4794-BA58-A64171F95F09}"/>
              </a:ext>
            </a:extLst>
          </p:cNvPr>
          <p:cNvSpPr>
            <a:spLocks noGrp="1"/>
          </p:cNvSpPr>
          <p:nvPr/>
        </p:nvSpPr>
        <p:spPr>
          <a:xfrm>
            <a:off x="6510528" y="3566160"/>
            <a:ext cx="4572000" cy="1508760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72E92E-1BE8-44D4-B159-63EF5AD20D2A}"/>
              </a:ext>
            </a:extLst>
          </p:cNvPr>
          <p:cNvSpPr>
            <a:spLocks noGrp="1"/>
          </p:cNvSpPr>
          <p:nvPr/>
        </p:nvSpPr>
        <p:spPr>
          <a:xfrm>
            <a:off x="6748272" y="3803904"/>
            <a:ext cx="640080" cy="158505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리스크</a:t>
            </a:r>
            <a:endParaRPr sz="7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0B8AEF-1331-4B20-AD89-18519A98BFB2}"/>
              </a:ext>
            </a:extLst>
          </p:cNvPr>
          <p:cNvSpPr>
            <a:spLocks noGrp="1"/>
          </p:cNvSpPr>
          <p:nvPr/>
        </p:nvSpPr>
        <p:spPr>
          <a:xfrm>
            <a:off x="7333488" y="3785615"/>
            <a:ext cx="3255264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원가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집중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20A874-47A1-43F2-85A7-08B701A02832}"/>
              </a:ext>
            </a:extLst>
          </p:cNvPr>
          <p:cNvSpPr>
            <a:spLocks noGrp="1"/>
          </p:cNvSpPr>
          <p:nvPr/>
        </p:nvSpPr>
        <p:spPr>
          <a:xfrm>
            <a:off x="6748272" y="4206240"/>
            <a:ext cx="786384" cy="158505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endParaRPr sz="7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C760283-A630-4E09-9751-51D717D32332}"/>
              </a:ext>
            </a:extLst>
          </p:cNvPr>
          <p:cNvSpPr>
            <a:spLocks noGrp="1"/>
          </p:cNvSpPr>
          <p:nvPr/>
        </p:nvSpPr>
        <p:spPr>
          <a:xfrm>
            <a:off x="7479792" y="4187952"/>
            <a:ext cx="3108960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정량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일정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DF1DBEC-B5DA-40A5-BACA-E83C23D79D24}"/>
              </a:ext>
            </a:extLst>
          </p:cNvPr>
          <p:cNvSpPr>
            <a:spLocks noGrp="1"/>
          </p:cNvSpPr>
          <p:nvPr/>
        </p:nvSpPr>
        <p:spPr>
          <a:xfrm>
            <a:off x="6748272" y="4608576"/>
            <a:ext cx="786384" cy="158505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</a:t>
            </a:r>
            <a:r>
              <a:rPr sz="7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9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endParaRPr sz="79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9DFFA4D-FE86-4B7A-9B0F-765434BC91E3}"/>
              </a:ext>
            </a:extLst>
          </p:cNvPr>
          <p:cNvSpPr>
            <a:spLocks noGrp="1"/>
          </p:cNvSpPr>
          <p:nvPr/>
        </p:nvSpPr>
        <p:spPr>
          <a:xfrm>
            <a:off x="7479792" y="4590288"/>
            <a:ext cx="3108960" cy="1508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가설이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깨지는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명확한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4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조건</a:t>
            </a:r>
            <a:r>
              <a:rPr sz="74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FB48E902-81E4-465F-8150-17EAF06E3989}"/>
              </a:ext>
            </a:extLst>
          </p:cNvPr>
          <p:cNvSpPr>
            <a:spLocks noGrp="1"/>
          </p:cNvSpPr>
          <p:nvPr/>
        </p:nvSpPr>
        <p:spPr>
          <a:xfrm>
            <a:off x="932688" y="5413248"/>
            <a:ext cx="10149840" cy="475488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90F1B7-B8CF-4095-A00A-2CD021ED88FC}"/>
              </a:ext>
            </a:extLst>
          </p:cNvPr>
          <p:cNvSpPr>
            <a:spLocks noGrp="1"/>
          </p:cNvSpPr>
          <p:nvPr/>
        </p:nvSpPr>
        <p:spPr>
          <a:xfrm>
            <a:off x="1170432" y="5568696"/>
            <a:ext cx="9656064" cy="1600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영향도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가장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이슈가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OPM / EPS /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중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무엇을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바꾸는지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한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줄로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요약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9" name="Rectangle 1">
            <a:extLst>
              <a:ext uri="{FF2B5EF4-FFF2-40B4-BE49-F238E27FC236}">
                <a16:creationId xmlns:a16="http://schemas.microsoft.com/office/drawing/2014/main" id="{A436216F-019F-AE91-761D-693E6B85F664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5" name="TextBox 14">
            <a:extLst>
              <a:ext uri="{FF2B5EF4-FFF2-40B4-BE49-F238E27FC236}">
                <a16:creationId xmlns:a16="http://schemas.microsoft.com/office/drawing/2014/main" id="{C406F5CA-F873-3135-499D-92D1506FF33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17" name="TextBox 15">
            <a:extLst>
              <a:ext uri="{FF2B5EF4-FFF2-40B4-BE49-F238E27FC236}">
                <a16:creationId xmlns:a16="http://schemas.microsoft.com/office/drawing/2014/main" id="{354296BA-EE94-EB79-DAEB-A1EC56F80330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9" name="TextBox 10">
            <a:extLst>
              <a:ext uri="{FF2B5EF4-FFF2-40B4-BE49-F238E27FC236}">
                <a16:creationId xmlns:a16="http://schemas.microsoft.com/office/drawing/2014/main" id="{0108AD99-F42B-118F-EEE0-BAB28ED6040C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1" name="TextBox 11">
            <a:extLst>
              <a:ext uri="{FF2B5EF4-FFF2-40B4-BE49-F238E27FC236}">
                <a16:creationId xmlns:a16="http://schemas.microsoft.com/office/drawing/2014/main" id="{3BB75C9A-E9A6-FD95-1B13-99AEDCA5E666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3" name="TextBox 6">
            <a:extLst>
              <a:ext uri="{FF2B5EF4-FFF2-40B4-BE49-F238E27FC236}">
                <a16:creationId xmlns:a16="http://schemas.microsoft.com/office/drawing/2014/main" id="{38456E64-84AC-103E-8939-199A8E8C3F8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5" name="TextBox 7">
            <a:extLst>
              <a:ext uri="{FF2B5EF4-FFF2-40B4-BE49-F238E27FC236}">
                <a16:creationId xmlns:a16="http://schemas.microsoft.com/office/drawing/2014/main" id="{40E8836F-D84E-D272-EBFC-AFB0D06D6D38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7" name="TextBox 8">
            <a:extLst>
              <a:ext uri="{FF2B5EF4-FFF2-40B4-BE49-F238E27FC236}">
                <a16:creationId xmlns:a16="http://schemas.microsoft.com/office/drawing/2014/main" id="{F3502B93-1415-2FBC-C641-2717C5370B1A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9" name="TextBox 9">
            <a:extLst>
              <a:ext uri="{FF2B5EF4-FFF2-40B4-BE49-F238E27FC236}">
                <a16:creationId xmlns:a16="http://schemas.microsoft.com/office/drawing/2014/main" id="{4804AAEB-173A-083F-4CCC-7E7F2A4FF84C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1" name="TextBox 4">
            <a:extLst>
              <a:ext uri="{FF2B5EF4-FFF2-40B4-BE49-F238E27FC236}">
                <a16:creationId xmlns:a16="http://schemas.microsoft.com/office/drawing/2014/main" id="{F8C11C44-56CA-FEEF-A518-13161AA6AC5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33" name="TextBox 5">
            <a:extLst>
              <a:ext uri="{FF2B5EF4-FFF2-40B4-BE49-F238E27FC236}">
                <a16:creationId xmlns:a16="http://schemas.microsoft.com/office/drawing/2014/main" id="{EDDD6514-011E-E940-A7AC-CF403808D0B4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5" name="Rounded Rectangle 3">
            <a:extLst>
              <a:ext uri="{FF2B5EF4-FFF2-40B4-BE49-F238E27FC236}">
                <a16:creationId xmlns:a16="http://schemas.microsoft.com/office/drawing/2014/main" id="{3D9F7FE0-81DC-B426-F061-85CA5C60E657}"/>
              </a:ext>
            </a:extLst>
          </p:cNvPr>
          <p:cNvSpPr>
            <a:spLocks noGrp="1"/>
          </p:cNvSpPr>
          <p:nvPr/>
        </p:nvSpPr>
        <p:spPr>
          <a:xfrm>
            <a:off x="57912" y="375176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7" name="TextBox 6">
            <a:extLst>
              <a:ext uri="{FF2B5EF4-FFF2-40B4-BE49-F238E27FC236}">
                <a16:creationId xmlns:a16="http://schemas.microsoft.com/office/drawing/2014/main" id="{8671E6A7-F650-AF23-06D3-E380A542ABF2}"/>
              </a:ext>
            </a:extLst>
          </p:cNvPr>
          <p:cNvSpPr>
            <a:spLocks noGrp="1"/>
          </p:cNvSpPr>
          <p:nvPr/>
        </p:nvSpPr>
        <p:spPr>
          <a:xfrm>
            <a:off x="91440" y="395089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9" name="TextBox 7">
            <a:extLst>
              <a:ext uri="{FF2B5EF4-FFF2-40B4-BE49-F238E27FC236}">
                <a16:creationId xmlns:a16="http://schemas.microsoft.com/office/drawing/2014/main" id="{9411379D-DAB1-8F74-B060-AC09963F2704}"/>
              </a:ext>
            </a:extLst>
          </p:cNvPr>
          <p:cNvSpPr>
            <a:spLocks noGrp="1"/>
          </p:cNvSpPr>
          <p:nvPr/>
        </p:nvSpPr>
        <p:spPr>
          <a:xfrm>
            <a:off x="192024" y="395170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4045A9-11F0-B018-50D6-4D2A38FEA4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607095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A5076F6-2F43-4D32-AC34-181F86C34C40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6C4F08-6B42-4A13-8E67-4AF35997058D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1E98D0-7247-4058-B5FD-79B1E6846E9B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0504D7-6EA7-4414-9901-D5E0AD9E27A5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4951FC-A287-471F-B12B-6A84D5F83F0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AC8ABC-9C90-4ECF-8998-1A80C420AA58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37E845-7D68-4FB0-8105-7CBE924EB382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912256-BE24-4842-BA09-7835385AA030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11FFE4-32A9-40D7-AC4C-8A89E6A4008E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73EB1F-81C5-436F-BE90-306553229F5F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AD7A17-FCB7-46C0-8076-3C2798998AB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75D88B-8554-4829-8504-AB6202684B25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64B597-4075-4CB4-9F1F-F833FA1972E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C689C0-C4C4-4205-86CB-BD566AE723E6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07C82A-D3E8-4990-8D69-8FD34546F25B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기업명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상세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E35DDF4A-C4A1-4117-8EE2-0648AB4B9A04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582E956A-860A-475E-888A-A3C4114CD34E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554546-B60F-4E97-8DF7-F53D402E910D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6236521-C977-4DD2-A840-237B6D0CE601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54BDFB-9AD6-4F05-BE43-4EA116728162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05/06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50149BC-61C4-44BF-8D64-F2F98FB106C7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3090672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F20FA1-C6E3-4C0E-A99B-7AD5AD3A528D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3090672" cy="384048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59A7EB-9373-47E7-B6BF-524E08E712DC}"/>
              </a:ext>
            </a:extLst>
          </p:cNvPr>
          <p:cNvSpPr>
            <a:spLocks noGrp="1"/>
          </p:cNvSpPr>
          <p:nvPr/>
        </p:nvSpPr>
        <p:spPr>
          <a:xfrm>
            <a:off x="1097280" y="1627632"/>
            <a:ext cx="265176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19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919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913958-3D50-444A-9C50-8A9924F6FE04}"/>
              </a:ext>
            </a:extLst>
          </p:cNvPr>
          <p:cNvSpPr>
            <a:spLocks noGrp="1"/>
          </p:cNvSpPr>
          <p:nvPr/>
        </p:nvSpPr>
        <p:spPr>
          <a:xfrm>
            <a:off x="1097280" y="2084831"/>
            <a:ext cx="2724912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구조적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강점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1EFB40-E339-4644-8E84-42B952702A54}"/>
              </a:ext>
            </a:extLst>
          </p:cNvPr>
          <p:cNvSpPr>
            <a:spLocks noGrp="1"/>
          </p:cNvSpPr>
          <p:nvPr/>
        </p:nvSpPr>
        <p:spPr>
          <a:xfrm>
            <a:off x="1097280" y="2688336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근거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ABE7A9-26BA-4692-889F-7409B35B1864}"/>
              </a:ext>
            </a:extLst>
          </p:cNvPr>
          <p:cNvSpPr>
            <a:spLocks noGrp="1"/>
          </p:cNvSpPr>
          <p:nvPr/>
        </p:nvSpPr>
        <p:spPr>
          <a:xfrm>
            <a:off x="1591056" y="2670048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2~3개]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CBA426-D2EA-4C46-8762-346DBC9B834E}"/>
              </a:ext>
            </a:extLst>
          </p:cNvPr>
          <p:cNvSpPr>
            <a:spLocks noGrp="1"/>
          </p:cNvSpPr>
          <p:nvPr/>
        </p:nvSpPr>
        <p:spPr>
          <a:xfrm>
            <a:off x="1097280" y="3108960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왜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중요한가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5F7467-40A5-40D2-A3B4-6A1FC28B1DF0}"/>
              </a:ext>
            </a:extLst>
          </p:cNvPr>
          <p:cNvSpPr>
            <a:spLocks noGrp="1"/>
          </p:cNvSpPr>
          <p:nvPr/>
        </p:nvSpPr>
        <p:spPr>
          <a:xfrm>
            <a:off x="1828800" y="3090672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/EPS/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8D88A3-76DE-4796-8F62-68B6C50877BD}"/>
              </a:ext>
            </a:extLst>
          </p:cNvPr>
          <p:cNvSpPr>
            <a:spLocks noGrp="1"/>
          </p:cNvSpPr>
          <p:nvPr/>
        </p:nvSpPr>
        <p:spPr>
          <a:xfrm>
            <a:off x="1097280" y="3529584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반론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17B36F-9EB8-4734-817B-DD1F937E0C0F}"/>
              </a:ext>
            </a:extLst>
          </p:cNvPr>
          <p:cNvSpPr>
            <a:spLocks noGrp="1"/>
          </p:cNvSpPr>
          <p:nvPr/>
        </p:nvSpPr>
        <p:spPr>
          <a:xfrm>
            <a:off x="1591056" y="3511296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15888E-28F7-41D3-8C7E-A27F4BB7BE6A}"/>
              </a:ext>
            </a:extLst>
          </p:cNvPr>
          <p:cNvSpPr>
            <a:spLocks noGrp="1"/>
          </p:cNvSpPr>
          <p:nvPr/>
        </p:nvSpPr>
        <p:spPr>
          <a:xfrm>
            <a:off x="1097280" y="3950208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DEB13C-47E8-4381-B761-375A90F0FEC3}"/>
              </a:ext>
            </a:extLst>
          </p:cNvPr>
          <p:cNvSpPr>
            <a:spLocks noGrp="1"/>
          </p:cNvSpPr>
          <p:nvPr/>
        </p:nvSpPr>
        <p:spPr>
          <a:xfrm>
            <a:off x="1828800" y="3931920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F0841BB-4735-4BEA-A032-4F96436796A0}"/>
              </a:ext>
            </a:extLst>
          </p:cNvPr>
          <p:cNvSpPr>
            <a:spLocks noGrp="1"/>
          </p:cNvSpPr>
          <p:nvPr/>
        </p:nvSpPr>
        <p:spPr>
          <a:xfrm>
            <a:off x="1097280" y="4443984"/>
            <a:ext cx="2724912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2F7FE5-6D1B-460C-93CB-18803DC70A16}"/>
              </a:ext>
            </a:extLst>
          </p:cNvPr>
          <p:cNvSpPr>
            <a:spLocks noGrp="1"/>
          </p:cNvSpPr>
          <p:nvPr/>
        </p:nvSpPr>
        <p:spPr>
          <a:xfrm>
            <a:off x="1243584" y="4617720"/>
            <a:ext cx="241401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C00C5D-F417-45B9-928B-53707856B7C3}"/>
              </a:ext>
            </a:extLst>
          </p:cNvPr>
          <p:cNvSpPr>
            <a:spLocks noGrp="1"/>
          </p:cNvSpPr>
          <p:nvPr/>
        </p:nvSpPr>
        <p:spPr>
          <a:xfrm>
            <a:off x="1243584" y="4864608"/>
            <a:ext cx="2414016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[이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유지되면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올라가는가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F0F5211-3CB7-49CD-B399-829894877032}"/>
              </a:ext>
            </a:extLst>
          </p:cNvPr>
          <p:cNvSpPr>
            <a:spLocks noGrp="1"/>
          </p:cNvSpPr>
          <p:nvPr/>
        </p:nvSpPr>
        <p:spPr>
          <a:xfrm>
            <a:off x="4334256" y="1508760"/>
            <a:ext cx="3090672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008A406-C3A4-4D4E-9CED-C16D0EADBBCF}"/>
              </a:ext>
            </a:extLst>
          </p:cNvPr>
          <p:cNvSpPr>
            <a:spLocks noGrp="1"/>
          </p:cNvSpPr>
          <p:nvPr/>
        </p:nvSpPr>
        <p:spPr>
          <a:xfrm>
            <a:off x="4334256" y="1508760"/>
            <a:ext cx="3090672" cy="384048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D2A8C8-2CF2-4DD4-8073-6B868535C96E}"/>
              </a:ext>
            </a:extLst>
          </p:cNvPr>
          <p:cNvSpPr>
            <a:spLocks noGrp="1"/>
          </p:cNvSpPr>
          <p:nvPr/>
        </p:nvSpPr>
        <p:spPr>
          <a:xfrm>
            <a:off x="4498848" y="1627632"/>
            <a:ext cx="265176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19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919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052392-40F1-4AD9-9DF2-388FD3EE12FC}"/>
              </a:ext>
            </a:extLst>
          </p:cNvPr>
          <p:cNvSpPr>
            <a:spLocks noGrp="1"/>
          </p:cNvSpPr>
          <p:nvPr/>
        </p:nvSpPr>
        <p:spPr>
          <a:xfrm>
            <a:off x="4498848" y="2084831"/>
            <a:ext cx="2724912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요인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ASP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가동률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6DDE84-4E4B-4E7F-8528-6016E969D3B5}"/>
              </a:ext>
            </a:extLst>
          </p:cNvPr>
          <p:cNvSpPr>
            <a:spLocks noGrp="1"/>
          </p:cNvSpPr>
          <p:nvPr/>
        </p:nvSpPr>
        <p:spPr>
          <a:xfrm>
            <a:off x="4498848" y="2688336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근거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A7919C-33CD-46D4-82D6-147BF0746BE3}"/>
              </a:ext>
            </a:extLst>
          </p:cNvPr>
          <p:cNvSpPr>
            <a:spLocks noGrp="1"/>
          </p:cNvSpPr>
          <p:nvPr/>
        </p:nvSpPr>
        <p:spPr>
          <a:xfrm>
            <a:off x="4992624" y="2670048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2~3개]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803252-1888-405E-9493-03BED26A9F49}"/>
              </a:ext>
            </a:extLst>
          </p:cNvPr>
          <p:cNvSpPr>
            <a:spLocks noGrp="1"/>
          </p:cNvSpPr>
          <p:nvPr/>
        </p:nvSpPr>
        <p:spPr>
          <a:xfrm>
            <a:off x="4498848" y="3108960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왜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중요한가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286D9E-67BF-4A33-BEFA-8C537AF5D94E}"/>
              </a:ext>
            </a:extLst>
          </p:cNvPr>
          <p:cNvSpPr>
            <a:spLocks noGrp="1"/>
          </p:cNvSpPr>
          <p:nvPr/>
        </p:nvSpPr>
        <p:spPr>
          <a:xfrm>
            <a:off x="5230368" y="3090672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/EPS/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2B064E-11AB-41F9-93C6-6DA447AFE8A2}"/>
              </a:ext>
            </a:extLst>
          </p:cNvPr>
          <p:cNvSpPr>
            <a:spLocks noGrp="1"/>
          </p:cNvSpPr>
          <p:nvPr/>
        </p:nvSpPr>
        <p:spPr>
          <a:xfrm>
            <a:off x="4498848" y="3529584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반론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05C0CB-6091-411A-9D30-70AA50CD5A94}"/>
              </a:ext>
            </a:extLst>
          </p:cNvPr>
          <p:cNvSpPr>
            <a:spLocks noGrp="1"/>
          </p:cNvSpPr>
          <p:nvPr/>
        </p:nvSpPr>
        <p:spPr>
          <a:xfrm>
            <a:off x="4992624" y="3511296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E898EF2-216A-4A9A-9C72-7ED55B94B587}"/>
              </a:ext>
            </a:extLst>
          </p:cNvPr>
          <p:cNvSpPr>
            <a:spLocks noGrp="1"/>
          </p:cNvSpPr>
          <p:nvPr/>
        </p:nvSpPr>
        <p:spPr>
          <a:xfrm>
            <a:off x="4498848" y="3950208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DD7651-2061-4EC7-B52C-E64A871897F8}"/>
              </a:ext>
            </a:extLst>
          </p:cNvPr>
          <p:cNvSpPr>
            <a:spLocks noGrp="1"/>
          </p:cNvSpPr>
          <p:nvPr/>
        </p:nvSpPr>
        <p:spPr>
          <a:xfrm>
            <a:off x="5230368" y="3931920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068209D6-8C5A-499B-8551-C028989864F9}"/>
              </a:ext>
            </a:extLst>
          </p:cNvPr>
          <p:cNvSpPr>
            <a:spLocks noGrp="1"/>
          </p:cNvSpPr>
          <p:nvPr/>
        </p:nvSpPr>
        <p:spPr>
          <a:xfrm>
            <a:off x="4498848" y="4443984"/>
            <a:ext cx="2724912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F1B049-65C4-4CE4-98FB-E99388CB7E6D}"/>
              </a:ext>
            </a:extLst>
          </p:cNvPr>
          <p:cNvSpPr>
            <a:spLocks noGrp="1"/>
          </p:cNvSpPr>
          <p:nvPr/>
        </p:nvSpPr>
        <p:spPr>
          <a:xfrm>
            <a:off x="4645152" y="4617720"/>
            <a:ext cx="241401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11BA911-E06A-412C-97DE-44A23B39176A}"/>
              </a:ext>
            </a:extLst>
          </p:cNvPr>
          <p:cNvSpPr>
            <a:spLocks noGrp="1"/>
          </p:cNvSpPr>
          <p:nvPr/>
        </p:nvSpPr>
        <p:spPr>
          <a:xfrm>
            <a:off x="4645152" y="4864608"/>
            <a:ext cx="2414016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[이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유지되면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올라가는가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9FC51ABB-3399-40EA-AC5A-54FAD2D93DB6}"/>
              </a:ext>
            </a:extLst>
          </p:cNvPr>
          <p:cNvSpPr>
            <a:spLocks noGrp="1"/>
          </p:cNvSpPr>
          <p:nvPr/>
        </p:nvSpPr>
        <p:spPr>
          <a:xfrm>
            <a:off x="7735824" y="1508760"/>
            <a:ext cx="3090672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54476CB-F607-4943-9747-3A818BCF4F8D}"/>
              </a:ext>
            </a:extLst>
          </p:cNvPr>
          <p:cNvSpPr>
            <a:spLocks noGrp="1"/>
          </p:cNvSpPr>
          <p:nvPr/>
        </p:nvSpPr>
        <p:spPr>
          <a:xfrm>
            <a:off x="7735824" y="1508760"/>
            <a:ext cx="3090672" cy="384048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84A5BC-E47A-484C-A5A2-49D468EC76F4}"/>
              </a:ext>
            </a:extLst>
          </p:cNvPr>
          <p:cNvSpPr>
            <a:spLocks noGrp="1"/>
          </p:cNvSpPr>
          <p:nvPr/>
        </p:nvSpPr>
        <p:spPr>
          <a:xfrm>
            <a:off x="7900416" y="1627632"/>
            <a:ext cx="2651760" cy="1783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919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r>
              <a:rPr sz="919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333047-91A7-4F2D-A465-2AF1C2B61CA0}"/>
              </a:ext>
            </a:extLst>
          </p:cNvPr>
          <p:cNvSpPr>
            <a:spLocks noGrp="1"/>
          </p:cNvSpPr>
          <p:nvPr/>
        </p:nvSpPr>
        <p:spPr>
          <a:xfrm>
            <a:off x="7900416" y="2084831"/>
            <a:ext cx="2724912" cy="16299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재평가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신규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옵션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가치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8366BE7-ABDD-4AE6-B7EA-BE19D96D0FCF}"/>
              </a:ext>
            </a:extLst>
          </p:cNvPr>
          <p:cNvSpPr>
            <a:spLocks noGrp="1"/>
          </p:cNvSpPr>
          <p:nvPr/>
        </p:nvSpPr>
        <p:spPr>
          <a:xfrm>
            <a:off x="7900416" y="2688336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근거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C5618C7-45FF-4DC3-8C72-066328076035}"/>
              </a:ext>
            </a:extLst>
          </p:cNvPr>
          <p:cNvSpPr>
            <a:spLocks noGrp="1"/>
          </p:cNvSpPr>
          <p:nvPr/>
        </p:nvSpPr>
        <p:spPr>
          <a:xfrm>
            <a:off x="8394192" y="2670048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데이터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2~3개]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1F11FB-CCFB-431C-8FA8-659CDE731624}"/>
              </a:ext>
            </a:extLst>
          </p:cNvPr>
          <p:cNvSpPr>
            <a:spLocks noGrp="1"/>
          </p:cNvSpPr>
          <p:nvPr/>
        </p:nvSpPr>
        <p:spPr>
          <a:xfrm>
            <a:off x="7900416" y="3108960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왜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중요한가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E9D764-0945-485F-8A31-CD0EE8328FC5}"/>
              </a:ext>
            </a:extLst>
          </p:cNvPr>
          <p:cNvSpPr>
            <a:spLocks noGrp="1"/>
          </p:cNvSpPr>
          <p:nvPr/>
        </p:nvSpPr>
        <p:spPr>
          <a:xfrm>
            <a:off x="8631936" y="3090672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/EPS/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연결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AFFCB0-63EA-4A6F-8BC1-3B319D8AC4B0}"/>
              </a:ext>
            </a:extLst>
          </p:cNvPr>
          <p:cNvSpPr>
            <a:spLocks noGrp="1"/>
          </p:cNvSpPr>
          <p:nvPr/>
        </p:nvSpPr>
        <p:spPr>
          <a:xfrm>
            <a:off x="7900416" y="3529584"/>
            <a:ext cx="438912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반론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10D9C0B-84D9-40BC-B0D7-0300BBDDB2CB}"/>
              </a:ext>
            </a:extLst>
          </p:cNvPr>
          <p:cNvSpPr>
            <a:spLocks noGrp="1"/>
          </p:cNvSpPr>
          <p:nvPr/>
        </p:nvSpPr>
        <p:spPr>
          <a:xfrm>
            <a:off x="8394192" y="3511296"/>
            <a:ext cx="221284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대체재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고객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BBD3C1E-6AF8-4A97-B180-A814D015B09B}"/>
              </a:ext>
            </a:extLst>
          </p:cNvPr>
          <p:cNvSpPr>
            <a:spLocks noGrp="1"/>
          </p:cNvSpPr>
          <p:nvPr/>
        </p:nvSpPr>
        <p:spPr>
          <a:xfrm>
            <a:off x="7900416" y="3950208"/>
            <a:ext cx="676656" cy="153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체크포인트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348EF5-FF87-447D-BC67-65A86076380A}"/>
              </a:ext>
            </a:extLst>
          </p:cNvPr>
          <p:cNvSpPr>
            <a:spLocks noGrp="1"/>
          </p:cNvSpPr>
          <p:nvPr/>
        </p:nvSpPr>
        <p:spPr>
          <a:xfrm>
            <a:off x="8631936" y="3931920"/>
            <a:ext cx="1975104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다음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확인할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8117EAA8-A0A3-4A7B-B082-0FC779AE6A8C}"/>
              </a:ext>
            </a:extLst>
          </p:cNvPr>
          <p:cNvSpPr>
            <a:spLocks noGrp="1"/>
          </p:cNvSpPr>
          <p:nvPr/>
        </p:nvSpPr>
        <p:spPr>
          <a:xfrm>
            <a:off x="7900416" y="4443984"/>
            <a:ext cx="2724912" cy="78638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34BB89-C3C7-4606-80C3-BD1C7DAF244B}"/>
              </a:ext>
            </a:extLst>
          </p:cNvPr>
          <p:cNvSpPr>
            <a:spLocks noGrp="1"/>
          </p:cNvSpPr>
          <p:nvPr/>
        </p:nvSpPr>
        <p:spPr>
          <a:xfrm>
            <a:off x="8046720" y="4617720"/>
            <a:ext cx="2414016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7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한 줄 </a:t>
            </a:r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결론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CB4C5C-9785-4F4A-AC5E-9D66E748D52B}"/>
              </a:ext>
            </a:extLst>
          </p:cNvPr>
          <p:cNvSpPr>
            <a:spLocks noGrp="1"/>
          </p:cNvSpPr>
          <p:nvPr/>
        </p:nvSpPr>
        <p:spPr>
          <a:xfrm>
            <a:off x="8046720" y="4864608"/>
            <a:ext cx="2414016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[이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유지되면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올라가는가</a:t>
            </a:r>
            <a:r>
              <a:rPr sz="7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85" name="Rectangle 1">
            <a:extLst>
              <a:ext uri="{FF2B5EF4-FFF2-40B4-BE49-F238E27FC236}">
                <a16:creationId xmlns:a16="http://schemas.microsoft.com/office/drawing/2014/main" id="{55211BE4-423F-B623-0E88-34550ECDB480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1" name="TextBox 14">
            <a:extLst>
              <a:ext uri="{FF2B5EF4-FFF2-40B4-BE49-F238E27FC236}">
                <a16:creationId xmlns:a16="http://schemas.microsoft.com/office/drawing/2014/main" id="{EE808829-D099-39C5-2B68-0D4A1A35095A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13" name="TextBox 15">
            <a:extLst>
              <a:ext uri="{FF2B5EF4-FFF2-40B4-BE49-F238E27FC236}">
                <a16:creationId xmlns:a16="http://schemas.microsoft.com/office/drawing/2014/main" id="{8D7AB686-0481-5A89-EDA5-6787958A16D1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3" name="TextBox 10">
            <a:extLst>
              <a:ext uri="{FF2B5EF4-FFF2-40B4-BE49-F238E27FC236}">
                <a16:creationId xmlns:a16="http://schemas.microsoft.com/office/drawing/2014/main" id="{106D70BF-9064-BC80-DBB8-480C2028926D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75" name="TextBox 11">
            <a:extLst>
              <a:ext uri="{FF2B5EF4-FFF2-40B4-BE49-F238E27FC236}">
                <a16:creationId xmlns:a16="http://schemas.microsoft.com/office/drawing/2014/main" id="{C71EA7C8-9D7B-4907-82B5-0DB6171234F2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77" name="TextBox 6">
            <a:extLst>
              <a:ext uri="{FF2B5EF4-FFF2-40B4-BE49-F238E27FC236}">
                <a16:creationId xmlns:a16="http://schemas.microsoft.com/office/drawing/2014/main" id="{1F0C2F70-700C-E178-E9F9-1534B9E4A47E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79" name="TextBox 7">
            <a:extLst>
              <a:ext uri="{FF2B5EF4-FFF2-40B4-BE49-F238E27FC236}">
                <a16:creationId xmlns:a16="http://schemas.microsoft.com/office/drawing/2014/main" id="{BC74A591-48E0-F12B-AFEC-CD4D597C3049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81" name="TextBox 8">
            <a:extLst>
              <a:ext uri="{FF2B5EF4-FFF2-40B4-BE49-F238E27FC236}">
                <a16:creationId xmlns:a16="http://schemas.microsoft.com/office/drawing/2014/main" id="{4F938501-C981-AD0E-CFDC-9321AA69FB9A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83" name="TextBox 9">
            <a:extLst>
              <a:ext uri="{FF2B5EF4-FFF2-40B4-BE49-F238E27FC236}">
                <a16:creationId xmlns:a16="http://schemas.microsoft.com/office/drawing/2014/main" id="{B532E96C-CD22-2DCB-3CB7-7FE88F58E315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85" name="TextBox 4">
            <a:extLst>
              <a:ext uri="{FF2B5EF4-FFF2-40B4-BE49-F238E27FC236}">
                <a16:creationId xmlns:a16="http://schemas.microsoft.com/office/drawing/2014/main" id="{1E625195-C0A3-D633-465B-360B7116067E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87" name="TextBox 5">
            <a:extLst>
              <a:ext uri="{FF2B5EF4-FFF2-40B4-BE49-F238E27FC236}">
                <a16:creationId xmlns:a16="http://schemas.microsoft.com/office/drawing/2014/main" id="{6FDE21FE-4693-ABC1-6AB3-D8F0AD1A202A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89" name="Rounded Rectangle 3">
            <a:extLst>
              <a:ext uri="{FF2B5EF4-FFF2-40B4-BE49-F238E27FC236}">
                <a16:creationId xmlns:a16="http://schemas.microsoft.com/office/drawing/2014/main" id="{2BB95B24-C9B4-80B5-A740-870B67294D04}"/>
              </a:ext>
            </a:extLst>
          </p:cNvPr>
          <p:cNvSpPr>
            <a:spLocks noGrp="1"/>
          </p:cNvSpPr>
          <p:nvPr/>
        </p:nvSpPr>
        <p:spPr>
          <a:xfrm>
            <a:off x="57912" y="375176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1" name="TextBox 6">
            <a:extLst>
              <a:ext uri="{FF2B5EF4-FFF2-40B4-BE49-F238E27FC236}">
                <a16:creationId xmlns:a16="http://schemas.microsoft.com/office/drawing/2014/main" id="{50755353-CF6E-4EB5-2A5C-22EED91F6503}"/>
              </a:ext>
            </a:extLst>
          </p:cNvPr>
          <p:cNvSpPr>
            <a:spLocks noGrp="1"/>
          </p:cNvSpPr>
          <p:nvPr/>
        </p:nvSpPr>
        <p:spPr>
          <a:xfrm>
            <a:off x="91440" y="395089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5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93" name="TextBox 7">
            <a:extLst>
              <a:ext uri="{FF2B5EF4-FFF2-40B4-BE49-F238E27FC236}">
                <a16:creationId xmlns:a16="http://schemas.microsoft.com/office/drawing/2014/main" id="{EC70229F-6B0C-339D-2FE1-AE84696DCB0C}"/>
              </a:ext>
            </a:extLst>
          </p:cNvPr>
          <p:cNvSpPr>
            <a:spLocks noGrp="1"/>
          </p:cNvSpPr>
          <p:nvPr/>
        </p:nvSpPr>
        <p:spPr>
          <a:xfrm>
            <a:off x="192024" y="395170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5FCA3B-2365-9492-6406-71FFD04D82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516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0D0D-9E24-2EB7-E02D-09B60B52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28BF7A-46EA-D105-597D-721A6E28F21D}"/>
              </a:ext>
            </a:extLst>
          </p:cNvPr>
          <p:cNvSpPr>
            <a:spLocks noGrp="1"/>
          </p:cNvSpPr>
          <p:nvPr/>
        </p:nvSpPr>
        <p:spPr>
          <a:xfrm>
            <a:off x="243069" y="219918"/>
            <a:ext cx="11691024" cy="6391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A437BF-C782-55BA-82EC-852BE8B168E0}"/>
              </a:ext>
            </a:extLst>
          </p:cNvPr>
          <p:cNvSpPr>
            <a:spLocks noGrp="1"/>
          </p:cNvSpPr>
          <p:nvPr/>
        </p:nvSpPr>
        <p:spPr>
          <a:xfrm>
            <a:off x="694944" y="1783080"/>
            <a:ext cx="6583680" cy="10833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Ⅵ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. 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  <a:p>
            <a:pPr algn="l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lang="en-US" altLang="ko-KR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</a:t>
            </a:r>
            <a:r>
              <a:rPr lang="ko-KR" altLang="en-US" sz="34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의 부제목을 입력해 주세요</a:t>
            </a:r>
            <a:endParaRPr lang="en-US" altLang="ko-KR" sz="340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15293160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45BF22C-13C9-4721-BC55-6F4D653420A3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39A739-AAB0-4F4D-BFA2-63FA3E9A2D66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6DA138-9C31-44AA-BFCD-D4EB8A6C2F42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FCE2E-8EE1-4F43-BC47-1CD5A81C4F53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9D1F9E-8A92-4D7A-BFA0-0ED56BBDDF52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B75E43-5965-40F1-93A9-5416B7922BC9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75F2BC-AA7A-4EAA-B8E8-807781377627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AB89BD-4B3A-4526-AB6C-4D1A4F0C5E80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6B09DC-B2A3-434E-A4DA-9E47DE7E4C58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65CBDF-91A2-4687-8B5C-148DB73E205C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6BB5FC-8C03-4B50-9F17-9A69C8BBEE81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EC2BFE-31D4-4C6D-A4E3-90C8D44AC568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3A183D-F5A9-48F0-AC61-82A5B69EC549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A1B58B-AC02-4EA8-9C72-95B9B7BB1013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85C1EC-944E-4245-A2DC-D4997B1DE723}"/>
              </a:ext>
            </a:extLst>
          </p:cNvPr>
          <p:cNvSpPr>
            <a:spLocks noGrp="1"/>
          </p:cNvSpPr>
          <p:nvPr/>
        </p:nvSpPr>
        <p:spPr>
          <a:xfrm>
            <a:off x="7845551" y="187452"/>
            <a:ext cx="841248" cy="22860"/>
          </a:xfrm>
          <a:prstGeom prst="rect">
            <a:avLst/>
          </a:prstGeom>
          <a:solidFill>
            <a:srgbClr val="168463"/>
          </a:solidFill>
          <a:ln>
            <a:solidFill>
              <a:srgbClr val="16846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9FA582-B2FC-4552-B2F8-D36E0FF7DEE1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추적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민감도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대시보드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C763B86E-0380-4E27-8B9C-3C4527EEA579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92FC5718-53BA-4E61-A517-3F8EF21296B3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852FC5-DA61-4BEE-ADE0-2E5C2534598F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CD14CB8-BE72-4401-9EF6-D05C1F270ACF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856D2B-2D51-497A-95E9-0007C5120BA0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06/06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4228045-FAD4-44DF-B399-FC50C2B09582}"/>
              </a:ext>
            </a:extLst>
          </p:cNvPr>
          <p:cNvSpPr>
            <a:spLocks noGrp="1"/>
          </p:cNvSpPr>
          <p:nvPr/>
        </p:nvSpPr>
        <p:spPr>
          <a:xfrm>
            <a:off x="932688" y="1463040"/>
            <a:ext cx="667512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35407D-28A3-4EA1-96BE-4D2B66A5854C}"/>
              </a:ext>
            </a:extLst>
          </p:cNvPr>
          <p:cNvSpPr>
            <a:spLocks noGrp="1"/>
          </p:cNvSpPr>
          <p:nvPr/>
        </p:nvSpPr>
        <p:spPr>
          <a:xfrm>
            <a:off x="1243584" y="1773936"/>
            <a:ext cx="598932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매출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추이</a:t>
            </a:r>
            <a:r>
              <a:rPr sz="8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8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예시</a:t>
            </a:r>
            <a:endParaRPr sz="8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Connector 40">
            <a:extLst>
              <a:ext uri="{FF2B5EF4-FFF2-40B4-BE49-F238E27FC236}">
                <a16:creationId xmlns:a16="http://schemas.microsoft.com/office/drawing/2014/main" id="{9331ED59-9B2E-4155-9C9D-4B72B56AA959}"/>
              </a:ext>
            </a:extLst>
          </p:cNvPr>
          <p:cNvSpPr>
            <a:spLocks noGrp="1"/>
          </p:cNvSpPr>
          <p:nvPr/>
        </p:nvSpPr>
        <p:spPr>
          <a:xfrm>
            <a:off x="1563624" y="4270247"/>
            <a:ext cx="5559552" cy="0"/>
          </a:xfrm>
          <a:prstGeom prst="line">
            <a:avLst/>
          </a:prstGeom>
          <a:ln w="635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04EDC5-C12D-49C5-8213-0C651082ADEF}"/>
              </a:ext>
            </a:extLst>
          </p:cNvPr>
          <p:cNvSpPr>
            <a:spLocks noGrp="1"/>
          </p:cNvSpPr>
          <p:nvPr/>
        </p:nvSpPr>
        <p:spPr>
          <a:xfrm>
            <a:off x="1655064" y="3435361"/>
            <a:ext cx="477316" cy="834886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C2ABFE-EE86-4970-8D46-C5D05CCCF2D0}"/>
              </a:ext>
            </a:extLst>
          </p:cNvPr>
          <p:cNvSpPr>
            <a:spLocks noGrp="1"/>
          </p:cNvSpPr>
          <p:nvPr/>
        </p:nvSpPr>
        <p:spPr>
          <a:xfrm>
            <a:off x="1581912" y="3252481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70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9C82C7-AB46-4134-89B9-A5E485A1E706}"/>
              </a:ext>
            </a:extLst>
          </p:cNvPr>
          <p:cNvSpPr>
            <a:spLocks noGrp="1"/>
          </p:cNvSpPr>
          <p:nvPr/>
        </p:nvSpPr>
        <p:spPr>
          <a:xfrm>
            <a:off x="1563624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FY22A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A1D27A-DC6F-4984-99E7-821E03809F40}"/>
              </a:ext>
            </a:extLst>
          </p:cNvPr>
          <p:cNvSpPr>
            <a:spLocks noGrp="1"/>
          </p:cNvSpPr>
          <p:nvPr/>
        </p:nvSpPr>
        <p:spPr>
          <a:xfrm>
            <a:off x="2715768" y="3292237"/>
            <a:ext cx="477316" cy="978010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944D27-2ABB-4CD2-81FC-B341380EE556}"/>
              </a:ext>
            </a:extLst>
          </p:cNvPr>
          <p:cNvSpPr>
            <a:spLocks noGrp="1"/>
          </p:cNvSpPr>
          <p:nvPr/>
        </p:nvSpPr>
        <p:spPr>
          <a:xfrm>
            <a:off x="2642615" y="3109357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82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D1A377-967D-4CA0-A041-CE33D33A590C}"/>
              </a:ext>
            </a:extLst>
          </p:cNvPr>
          <p:cNvSpPr>
            <a:spLocks noGrp="1"/>
          </p:cNvSpPr>
          <p:nvPr/>
        </p:nvSpPr>
        <p:spPr>
          <a:xfrm>
            <a:off x="2624327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FY23A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E11572-BB7C-4797-95DC-2AE7E9FD77BB}"/>
              </a:ext>
            </a:extLst>
          </p:cNvPr>
          <p:cNvSpPr>
            <a:spLocks noGrp="1"/>
          </p:cNvSpPr>
          <p:nvPr/>
        </p:nvSpPr>
        <p:spPr>
          <a:xfrm>
            <a:off x="3776472" y="3125260"/>
            <a:ext cx="477316" cy="1144987"/>
          </a:xfrm>
          <a:prstGeom prst="rect">
            <a:avLst/>
          </a:prstGeom>
          <a:solidFill>
            <a:srgbClr val="AEC4DD"/>
          </a:solidFill>
          <a:ln>
            <a:solidFill>
              <a:srgbClr val="AEC4DD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C3EF74-1E23-4968-B947-4D0A90F86CDB}"/>
              </a:ext>
            </a:extLst>
          </p:cNvPr>
          <p:cNvSpPr>
            <a:spLocks noGrp="1"/>
          </p:cNvSpPr>
          <p:nvPr/>
        </p:nvSpPr>
        <p:spPr>
          <a:xfrm>
            <a:off x="3703320" y="2942380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96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825F64-87FA-4707-9E15-59A2EC175077}"/>
              </a:ext>
            </a:extLst>
          </p:cNvPr>
          <p:cNvSpPr>
            <a:spLocks noGrp="1"/>
          </p:cNvSpPr>
          <p:nvPr/>
        </p:nvSpPr>
        <p:spPr>
          <a:xfrm>
            <a:off x="3685032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FY24A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2F1F6D9-5B31-4C6D-A690-06D0AC755B68}"/>
              </a:ext>
            </a:extLst>
          </p:cNvPr>
          <p:cNvSpPr>
            <a:spLocks noGrp="1"/>
          </p:cNvSpPr>
          <p:nvPr/>
        </p:nvSpPr>
        <p:spPr>
          <a:xfrm>
            <a:off x="4837175" y="2886721"/>
            <a:ext cx="477316" cy="138352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91F5EE-5B7D-4E73-9FBE-E9547A46EACD}"/>
              </a:ext>
            </a:extLst>
          </p:cNvPr>
          <p:cNvSpPr>
            <a:spLocks noGrp="1"/>
          </p:cNvSpPr>
          <p:nvPr/>
        </p:nvSpPr>
        <p:spPr>
          <a:xfrm>
            <a:off x="4764023" y="2703841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F65CAA-923C-4221-8E58-F9ABF141FF67}"/>
              </a:ext>
            </a:extLst>
          </p:cNvPr>
          <p:cNvSpPr>
            <a:spLocks noGrp="1"/>
          </p:cNvSpPr>
          <p:nvPr/>
        </p:nvSpPr>
        <p:spPr>
          <a:xfrm>
            <a:off x="4745736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FY25E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1A7B56D-9BEF-495D-87B6-FDB11398634F}"/>
              </a:ext>
            </a:extLst>
          </p:cNvPr>
          <p:cNvSpPr>
            <a:spLocks noGrp="1"/>
          </p:cNvSpPr>
          <p:nvPr/>
        </p:nvSpPr>
        <p:spPr>
          <a:xfrm>
            <a:off x="5897879" y="2624327"/>
            <a:ext cx="477316" cy="1645919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2BB5B6-A236-4BB4-A273-B1218D9A6CEA}"/>
              </a:ext>
            </a:extLst>
          </p:cNvPr>
          <p:cNvSpPr>
            <a:spLocks noGrp="1"/>
          </p:cNvSpPr>
          <p:nvPr/>
        </p:nvSpPr>
        <p:spPr>
          <a:xfrm>
            <a:off x="5824727" y="2441447"/>
            <a:ext cx="623620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5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C65E47-C2BC-45BF-99D9-D4A01F06B4B5}"/>
              </a:ext>
            </a:extLst>
          </p:cNvPr>
          <p:cNvSpPr>
            <a:spLocks noGrp="1"/>
          </p:cNvSpPr>
          <p:nvPr/>
        </p:nvSpPr>
        <p:spPr>
          <a:xfrm>
            <a:off x="5806440" y="4361688"/>
            <a:ext cx="660196" cy="132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2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FY26E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21325E-6DEC-4194-BADE-1BA4A247A5E5}"/>
              </a:ext>
            </a:extLst>
          </p:cNvPr>
          <p:cNvSpPr>
            <a:spLocks noGrp="1"/>
          </p:cNvSpPr>
          <p:nvPr/>
        </p:nvSpPr>
        <p:spPr>
          <a:xfrm>
            <a:off x="1243584" y="4809744"/>
            <a:ext cx="221284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Actual = </a:t>
            </a: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68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Estimate = </a:t>
            </a:r>
            <a:r>
              <a:rPr sz="68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endParaRPr sz="68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83A1203-0EE7-45DA-B79F-03E4101A8341}"/>
              </a:ext>
            </a:extLst>
          </p:cNvPr>
          <p:cNvSpPr>
            <a:spLocks noGrp="1"/>
          </p:cNvSpPr>
          <p:nvPr/>
        </p:nvSpPr>
        <p:spPr>
          <a:xfrm>
            <a:off x="1243584" y="5093208"/>
            <a:ext cx="5961888" cy="493776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3A784C-8A2C-46E0-B8FF-8553AC6482E7}"/>
              </a:ext>
            </a:extLst>
          </p:cNvPr>
          <p:cNvSpPr>
            <a:spLocks noGrp="1"/>
          </p:cNvSpPr>
          <p:nvPr/>
        </p:nvSpPr>
        <p:spPr>
          <a:xfrm>
            <a:off x="1426464" y="5257800"/>
            <a:ext cx="5596128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차트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핵심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메시지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| [FY25E부터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추정치가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하향되는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원인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ASP↑ +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개선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OPM +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xx%p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B57D6EB9-7CDE-4BFD-B1EF-1E724055A185}"/>
              </a:ext>
            </a:extLst>
          </p:cNvPr>
          <p:cNvSpPr>
            <a:spLocks noGrp="1"/>
          </p:cNvSpPr>
          <p:nvPr/>
        </p:nvSpPr>
        <p:spPr>
          <a:xfrm>
            <a:off x="7845552" y="1463040"/>
            <a:ext cx="3236976" cy="1975104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 w="8890"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38FE13-E79E-4F6D-87A5-C15CC8C715D9}"/>
              </a:ext>
            </a:extLst>
          </p:cNvPr>
          <p:cNvSpPr>
            <a:spLocks noGrp="1"/>
          </p:cNvSpPr>
          <p:nvPr/>
        </p:nvSpPr>
        <p:spPr>
          <a:xfrm>
            <a:off x="8083296" y="1719072"/>
            <a:ext cx="9144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민감도</a:t>
            </a:r>
            <a:endParaRPr sz="9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6B843B-7331-4C4D-A2FA-E08AFFC177F9}"/>
              </a:ext>
            </a:extLst>
          </p:cNvPr>
          <p:cNvSpPr>
            <a:spLocks noGrp="1"/>
          </p:cNvSpPr>
          <p:nvPr/>
        </p:nvSpPr>
        <p:spPr>
          <a:xfrm>
            <a:off x="8083296" y="2139696"/>
            <a:ext cx="2578608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ASP ±1% → EPS [±x%]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38C076-3FC5-4F17-B494-9E3F642ACA96}"/>
              </a:ext>
            </a:extLst>
          </p:cNvPr>
          <p:cNvSpPr>
            <a:spLocks noGrp="1"/>
          </p:cNvSpPr>
          <p:nvPr/>
        </p:nvSpPr>
        <p:spPr>
          <a:xfrm>
            <a:off x="8083296" y="2523744"/>
            <a:ext cx="2578608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OPM ±1%p → EPS [±x%]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227C05-EB7E-4CDA-8B5E-8A4D0B1247A0}"/>
              </a:ext>
            </a:extLst>
          </p:cNvPr>
          <p:cNvSpPr>
            <a:spLocks noGrp="1"/>
          </p:cNvSpPr>
          <p:nvPr/>
        </p:nvSpPr>
        <p:spPr>
          <a:xfrm>
            <a:off x="8083296" y="2907791"/>
            <a:ext cx="2578608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±1x → </a:t>
            </a:r>
            <a:r>
              <a:rPr sz="75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시총</a:t>
            </a:r>
            <a:r>
              <a:rPr sz="75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[±x%]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0251F159-412B-4B85-84A7-D72F64A3836F}"/>
              </a:ext>
            </a:extLst>
          </p:cNvPr>
          <p:cNvSpPr>
            <a:spLocks noGrp="1"/>
          </p:cNvSpPr>
          <p:nvPr/>
        </p:nvSpPr>
        <p:spPr>
          <a:xfrm>
            <a:off x="7845552" y="3675887"/>
            <a:ext cx="3236976" cy="2221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03F685-F921-4172-A016-53227CB7DFCF}"/>
              </a:ext>
            </a:extLst>
          </p:cNvPr>
          <p:cNvSpPr>
            <a:spLocks noGrp="1"/>
          </p:cNvSpPr>
          <p:nvPr/>
        </p:nvSpPr>
        <p:spPr>
          <a:xfrm>
            <a:off x="8083296" y="3913632"/>
            <a:ext cx="1325880" cy="170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보조지표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35DE51-2439-4E83-A23C-2249472BEB16}"/>
              </a:ext>
            </a:extLst>
          </p:cNvPr>
          <p:cNvSpPr>
            <a:spLocks noGrp="1"/>
          </p:cNvSpPr>
          <p:nvPr/>
        </p:nvSpPr>
        <p:spPr>
          <a:xfrm>
            <a:off x="8083296" y="4279392"/>
            <a:ext cx="2578608" cy="65659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실적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추정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색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구분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단위·기간·기준일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표기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선은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YoY/OPM 등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보조지표에만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사용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보조선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사용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시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우측축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%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단위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+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범례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150"/>
              </a:spcAft>
              <a:buNone/>
              <a:defRPr sz="720">
                <a:solidFill>
                  <a:srgbClr val="001C5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• 한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차트</a:t>
            </a:r>
            <a:r>
              <a:rPr dirty="0">
                <a:latin typeface="Noto Sans KR" panose="020B0200000000000000" pitchFamily="50" charset="-127"/>
                <a:ea typeface="Noto Sans KR" panose="020B0200000000000000" pitchFamily="50" charset="-127"/>
              </a:rPr>
              <a:t> = 한 </a:t>
            </a:r>
            <a:r>
              <a:rPr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메시지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3294E6D0-23C3-4E5F-B6CD-202D789B0F43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1" name="TextBox 12">
            <a:extLst>
              <a:ext uri="{FF2B5EF4-FFF2-40B4-BE49-F238E27FC236}">
                <a16:creationId xmlns:a16="http://schemas.microsoft.com/office/drawing/2014/main" id="{F03347FB-D7A9-A5D7-E080-FD436E9F7D1D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3" name="TextBox 13">
            <a:extLst>
              <a:ext uri="{FF2B5EF4-FFF2-40B4-BE49-F238E27FC236}">
                <a16:creationId xmlns:a16="http://schemas.microsoft.com/office/drawing/2014/main" id="{16EA93E8-9074-F09C-CD84-779368D04FE0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TextBox 14">
            <a:extLst>
              <a:ext uri="{FF2B5EF4-FFF2-40B4-BE49-F238E27FC236}">
                <a16:creationId xmlns:a16="http://schemas.microsoft.com/office/drawing/2014/main" id="{8DBC27B9-8C14-70BF-E836-09ED25C52AD8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lang="en-US" altLang="ko-KR"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7" name="TextBox 15">
            <a:extLst>
              <a:ext uri="{FF2B5EF4-FFF2-40B4-BE49-F238E27FC236}">
                <a16:creationId xmlns:a16="http://schemas.microsoft.com/office/drawing/2014/main" id="{D5638791-0547-5EEA-1BAA-39637515EF23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</a:p>
        </p:txBody>
      </p:sp>
      <p:sp>
        <p:nvSpPr>
          <p:cNvPr id="121" name="TextBox 10">
            <a:extLst>
              <a:ext uri="{FF2B5EF4-FFF2-40B4-BE49-F238E27FC236}">
                <a16:creationId xmlns:a16="http://schemas.microsoft.com/office/drawing/2014/main" id="{6DA1FC74-5353-B0FC-64DB-85599F0E8299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3" name="TextBox 11">
            <a:extLst>
              <a:ext uri="{FF2B5EF4-FFF2-40B4-BE49-F238E27FC236}">
                <a16:creationId xmlns:a16="http://schemas.microsoft.com/office/drawing/2014/main" id="{1981EE13-4865-5EAE-8A54-D1B402E8BBD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5" name="TextBox 6">
            <a:extLst>
              <a:ext uri="{FF2B5EF4-FFF2-40B4-BE49-F238E27FC236}">
                <a16:creationId xmlns:a16="http://schemas.microsoft.com/office/drawing/2014/main" id="{16D7FCAC-D3D7-D148-F98F-8D1A2D62987D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7" name="TextBox 7">
            <a:extLst>
              <a:ext uri="{FF2B5EF4-FFF2-40B4-BE49-F238E27FC236}">
                <a16:creationId xmlns:a16="http://schemas.microsoft.com/office/drawing/2014/main" id="{E51696CF-CCC1-EF62-F359-A3160B4406E1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9" name="TextBox 8">
            <a:extLst>
              <a:ext uri="{FF2B5EF4-FFF2-40B4-BE49-F238E27FC236}">
                <a16:creationId xmlns:a16="http://schemas.microsoft.com/office/drawing/2014/main" id="{C624C1D0-70EA-21E1-9AF4-7DD7DA05E80B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31" name="TextBox 9">
            <a:extLst>
              <a:ext uri="{FF2B5EF4-FFF2-40B4-BE49-F238E27FC236}">
                <a16:creationId xmlns:a16="http://schemas.microsoft.com/office/drawing/2014/main" id="{BC466046-3C0B-A099-7A81-CB8B6FCD98B6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3" name="TextBox 4">
            <a:extLst>
              <a:ext uri="{FF2B5EF4-FFF2-40B4-BE49-F238E27FC236}">
                <a16:creationId xmlns:a16="http://schemas.microsoft.com/office/drawing/2014/main" id="{F3330174-C2D9-9A9A-A380-40F849A2CB8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35" name="TextBox 5">
            <a:extLst>
              <a:ext uri="{FF2B5EF4-FFF2-40B4-BE49-F238E27FC236}">
                <a16:creationId xmlns:a16="http://schemas.microsoft.com/office/drawing/2014/main" id="{8702EA39-5BB1-EA2A-E63E-3FA990A62659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3" name="Rounded Rectangle 3">
            <a:extLst>
              <a:ext uri="{FF2B5EF4-FFF2-40B4-BE49-F238E27FC236}">
                <a16:creationId xmlns:a16="http://schemas.microsoft.com/office/drawing/2014/main" id="{B5574EC1-041B-532A-A971-C7B29E756893}"/>
              </a:ext>
            </a:extLst>
          </p:cNvPr>
          <p:cNvSpPr>
            <a:spLocks noGrp="1"/>
          </p:cNvSpPr>
          <p:nvPr/>
        </p:nvSpPr>
        <p:spPr>
          <a:xfrm>
            <a:off x="57912" y="460520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45" name="TextBox 6">
            <a:extLst>
              <a:ext uri="{FF2B5EF4-FFF2-40B4-BE49-F238E27FC236}">
                <a16:creationId xmlns:a16="http://schemas.microsoft.com/office/drawing/2014/main" id="{C39D3EFA-3B46-F879-9A8C-A3CCADBDBC9C}"/>
              </a:ext>
            </a:extLst>
          </p:cNvPr>
          <p:cNvSpPr>
            <a:spLocks noGrp="1"/>
          </p:cNvSpPr>
          <p:nvPr/>
        </p:nvSpPr>
        <p:spPr>
          <a:xfrm>
            <a:off x="91440" y="480433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7" name="TextBox 7">
            <a:extLst>
              <a:ext uri="{FF2B5EF4-FFF2-40B4-BE49-F238E27FC236}">
                <a16:creationId xmlns:a16="http://schemas.microsoft.com/office/drawing/2014/main" id="{6DAAFA45-35A1-B89E-7A08-B6A72CFA5C36}"/>
              </a:ext>
            </a:extLst>
          </p:cNvPr>
          <p:cNvSpPr>
            <a:spLocks noGrp="1"/>
          </p:cNvSpPr>
          <p:nvPr/>
        </p:nvSpPr>
        <p:spPr>
          <a:xfrm>
            <a:off x="169164" y="480514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3502573-C9BF-721E-7808-5745121BE8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269175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8CEAE07-E821-4136-8970-5940A464EA8D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0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32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3D62F-7CE1-4272-AF2F-557F3B8E183C}"/>
              </a:ext>
            </a:extLst>
          </p:cNvPr>
          <p:cNvSpPr>
            <a:spLocks noGrp="1"/>
          </p:cNvSpPr>
          <p:nvPr/>
        </p:nvSpPr>
        <p:spPr>
          <a:xfrm>
            <a:off x="713232" y="0"/>
            <a:ext cx="11478767" cy="228600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C82388-93D5-4F6C-9A2A-F3915E8C7BD0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16915-0949-4544-A8A3-400D2D1B93CD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2C9C59-495F-40E8-848D-FFBB24F2694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F5BCF3-8ADB-4B59-B81D-3E220A99850C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4BEAFE-438E-4EC3-9AAC-F8ED50FA8541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0112FB-B8D2-49DE-91CA-8F0037453E30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41E8F1-5B68-4FF7-8C1D-6E0B9471FB68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FC038D-780F-4D31-B93F-EC7E4053098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5D00AD-B6A2-4B56-856F-CCC8D0EAA000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D3D9E4-87AC-4062-8751-74B2B939903D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A9C550-1070-47BE-B011-13DD3F20AD8E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4FF101-BED9-4D21-9B2E-8274EE2DC03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4CB187-8616-4B07-85D8-7C11224C8D85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시나리오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모니터링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1540FAF-0AF1-4633-AD3C-19A9846F19D6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DE22609B-2CBD-4D61-BFBF-970F2FB81CFF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0D1185-D7DA-4D8E-9BBD-83B969AE62E0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: [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기준일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입력</a:t>
            </a:r>
            <a:r>
              <a:rPr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74B86EF-D11C-4732-BF6C-1DACC75F4A64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1F3A28-658F-4C51-BABB-D4CB09A4BD0C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06/06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E47D9E0-410F-4000-A6A1-055842883FA4}"/>
              </a:ext>
            </a:extLst>
          </p:cNvPr>
          <p:cNvSpPr>
            <a:spLocks noGrp="1"/>
          </p:cNvSpPr>
          <p:nvPr/>
        </p:nvSpPr>
        <p:spPr>
          <a:xfrm>
            <a:off x="932688" y="1508760"/>
            <a:ext cx="2231136" cy="1170432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8284EE-DB86-43B6-8944-8464F867BDED}"/>
              </a:ext>
            </a:extLst>
          </p:cNvPr>
          <p:cNvSpPr>
            <a:spLocks noGrp="1"/>
          </p:cNvSpPr>
          <p:nvPr/>
        </p:nvSpPr>
        <p:spPr>
          <a:xfrm>
            <a:off x="1078992" y="1691640"/>
            <a:ext cx="566928" cy="1692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하락</a:t>
            </a:r>
            <a:endParaRPr sz="8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2C04B4-12DD-4DCC-9D0D-FBF559F4ECC6}"/>
              </a:ext>
            </a:extLst>
          </p:cNvPr>
          <p:cNvSpPr>
            <a:spLocks noGrp="1"/>
          </p:cNvSpPr>
          <p:nvPr/>
        </p:nvSpPr>
        <p:spPr>
          <a:xfrm>
            <a:off x="1078992" y="2048256"/>
            <a:ext cx="188366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둔화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마진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압박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EE3716-5C62-462C-B2B4-42FA1758AA4F}"/>
              </a:ext>
            </a:extLst>
          </p:cNvPr>
          <p:cNvSpPr>
            <a:spLocks noGrp="1"/>
          </p:cNvSpPr>
          <p:nvPr/>
        </p:nvSpPr>
        <p:spPr>
          <a:xfrm>
            <a:off x="1078992" y="2368296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EPS [ ] ·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]x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AF27402-D776-49CB-8461-C51493480A0D}"/>
              </a:ext>
            </a:extLst>
          </p:cNvPr>
          <p:cNvSpPr>
            <a:spLocks noGrp="1"/>
          </p:cNvSpPr>
          <p:nvPr/>
        </p:nvSpPr>
        <p:spPr>
          <a:xfrm>
            <a:off x="3401568" y="1508760"/>
            <a:ext cx="2231136" cy="1170432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E1BF25-D7F8-4CB8-849B-BB91A40CFA37}"/>
              </a:ext>
            </a:extLst>
          </p:cNvPr>
          <p:cNvSpPr>
            <a:spLocks noGrp="1"/>
          </p:cNvSpPr>
          <p:nvPr/>
        </p:nvSpPr>
        <p:spPr>
          <a:xfrm>
            <a:off x="3547872" y="1691640"/>
            <a:ext cx="566928" cy="1692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8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16599-3A30-4795-8AEF-A8D5A9394C17}"/>
              </a:ext>
            </a:extLst>
          </p:cNvPr>
          <p:cNvSpPr>
            <a:spLocks noGrp="1"/>
          </p:cNvSpPr>
          <p:nvPr/>
        </p:nvSpPr>
        <p:spPr>
          <a:xfrm>
            <a:off x="3547872" y="2048256"/>
            <a:ext cx="188366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현재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가정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AED7ED-AFC0-454C-909B-9AC728C31F16}"/>
              </a:ext>
            </a:extLst>
          </p:cNvPr>
          <p:cNvSpPr>
            <a:spLocks noGrp="1"/>
          </p:cNvSpPr>
          <p:nvPr/>
        </p:nvSpPr>
        <p:spPr>
          <a:xfrm>
            <a:off x="3547872" y="2368296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EPS [ ] ·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]x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672D992-28E5-46CB-B742-0B90352F91FC}"/>
              </a:ext>
            </a:extLst>
          </p:cNvPr>
          <p:cNvSpPr>
            <a:spLocks noGrp="1"/>
          </p:cNvSpPr>
          <p:nvPr/>
        </p:nvSpPr>
        <p:spPr>
          <a:xfrm>
            <a:off x="5870448" y="1508760"/>
            <a:ext cx="2231136" cy="1170432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02DB30-63E7-46C3-B02F-F4353564A340}"/>
              </a:ext>
            </a:extLst>
          </p:cNvPr>
          <p:cNvSpPr>
            <a:spLocks noGrp="1"/>
          </p:cNvSpPr>
          <p:nvPr/>
        </p:nvSpPr>
        <p:spPr>
          <a:xfrm>
            <a:off x="6016752" y="1691640"/>
            <a:ext cx="566928" cy="1692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6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상승</a:t>
            </a:r>
            <a:endParaRPr sz="86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711A9A-E45D-443B-A9BA-90CC01493BBF}"/>
              </a:ext>
            </a:extLst>
          </p:cNvPr>
          <p:cNvSpPr>
            <a:spLocks noGrp="1"/>
          </p:cNvSpPr>
          <p:nvPr/>
        </p:nvSpPr>
        <p:spPr>
          <a:xfrm>
            <a:off x="6016752" y="2048256"/>
            <a:ext cx="1883664" cy="1554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믹스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7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상향</a:t>
            </a:r>
            <a:r>
              <a:rPr sz="77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FBD76B-7587-4799-B5C7-169C70EEB4F2}"/>
              </a:ext>
            </a:extLst>
          </p:cNvPr>
          <p:cNvSpPr>
            <a:spLocks noGrp="1"/>
          </p:cNvSpPr>
          <p:nvPr/>
        </p:nvSpPr>
        <p:spPr>
          <a:xfrm>
            <a:off x="6016752" y="2368296"/>
            <a:ext cx="1883664" cy="1431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EPS [ ] · </a:t>
            </a:r>
            <a:r>
              <a:rPr sz="69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69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[ ]x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D0D021B-443A-487A-94F4-6AD7BDD35A77}"/>
              </a:ext>
            </a:extLst>
          </p:cNvPr>
          <p:cNvSpPr>
            <a:spLocks noGrp="1"/>
          </p:cNvSpPr>
          <p:nvPr/>
        </p:nvSpPr>
        <p:spPr>
          <a:xfrm>
            <a:off x="8522208" y="1508760"/>
            <a:ext cx="2560320" cy="1170432"/>
          </a:xfrm>
          <a:prstGeom prst="roundRect">
            <a:avLst>
              <a:gd name="adj" fmla="val 8000"/>
            </a:avLst>
          </a:prstGeom>
          <a:solidFill>
            <a:srgbClr val="EDF4FC"/>
          </a:solidFill>
          <a:ln w="8890">
            <a:solidFill>
              <a:schemeClr val="accent1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ACEAF6-B762-44A1-B8E5-99A272F48306}"/>
              </a:ext>
            </a:extLst>
          </p:cNvPr>
          <p:cNvSpPr>
            <a:spLocks noGrp="1"/>
          </p:cNvSpPr>
          <p:nvPr/>
        </p:nvSpPr>
        <p:spPr>
          <a:xfrm>
            <a:off x="8741664" y="1728216"/>
            <a:ext cx="1755648" cy="1661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8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시나리오</a:t>
            </a:r>
            <a:r>
              <a:rPr sz="84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이동</a:t>
            </a:r>
            <a:r>
              <a:rPr sz="84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84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변수</a:t>
            </a:r>
            <a:endParaRPr sz="84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3355D7-1D93-4E1F-9FD0-AEDD7ADF18E1}"/>
              </a:ext>
            </a:extLst>
          </p:cNvPr>
          <p:cNvSpPr>
            <a:spLocks noGrp="1"/>
          </p:cNvSpPr>
          <p:nvPr/>
        </p:nvSpPr>
        <p:spPr>
          <a:xfrm>
            <a:off x="8741664" y="2112264"/>
            <a:ext cx="1956816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수요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ASP / OPM /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27D020-A376-4C8C-84E9-4AA37D1D3780}"/>
              </a:ext>
            </a:extLst>
          </p:cNvPr>
          <p:cNvSpPr>
            <a:spLocks noGrp="1"/>
          </p:cNvSpPr>
          <p:nvPr/>
        </p:nvSpPr>
        <p:spPr>
          <a:xfrm>
            <a:off x="932688" y="2999232"/>
            <a:ext cx="2468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모니터링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체크리스트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C5849F-6003-4048-97F4-AFAF2AA15183}"/>
              </a:ext>
            </a:extLst>
          </p:cNvPr>
          <p:cNvSpPr>
            <a:spLocks noGrp="1"/>
          </p:cNvSpPr>
          <p:nvPr/>
        </p:nvSpPr>
        <p:spPr>
          <a:xfrm>
            <a:off x="932688" y="323697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6" name="Connector 55">
            <a:extLst>
              <a:ext uri="{FF2B5EF4-FFF2-40B4-BE49-F238E27FC236}">
                <a16:creationId xmlns:a16="http://schemas.microsoft.com/office/drawing/2014/main" id="{BA34D9C1-18F4-4370-96BF-44ECC7765A35}"/>
              </a:ext>
            </a:extLst>
          </p:cNvPr>
          <p:cNvSpPr>
            <a:spLocks noGrp="1"/>
          </p:cNvSpPr>
          <p:nvPr/>
        </p:nvSpPr>
        <p:spPr>
          <a:xfrm>
            <a:off x="1389888" y="3248863"/>
            <a:ext cx="2011680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7967648-7337-4C35-8348-EB3EEF05D9B7}"/>
              </a:ext>
            </a:extLst>
          </p:cNvPr>
          <p:cNvSpPr>
            <a:spLocks noGrp="1"/>
          </p:cNvSpPr>
          <p:nvPr/>
        </p:nvSpPr>
        <p:spPr>
          <a:xfrm>
            <a:off x="932688" y="3328416"/>
            <a:ext cx="1005840" cy="4315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24F7CD-0585-4A7F-B586-F42CAAF0CF39}"/>
              </a:ext>
            </a:extLst>
          </p:cNvPr>
          <p:cNvSpPr>
            <a:spLocks noGrp="1"/>
          </p:cNvSpPr>
          <p:nvPr/>
        </p:nvSpPr>
        <p:spPr>
          <a:xfrm>
            <a:off x="969264" y="3457895"/>
            <a:ext cx="932688" cy="1467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주기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6B2DA40-162A-4BC8-8382-F12E1C5A29DF}"/>
              </a:ext>
            </a:extLst>
          </p:cNvPr>
          <p:cNvSpPr>
            <a:spLocks noGrp="1"/>
          </p:cNvSpPr>
          <p:nvPr/>
        </p:nvSpPr>
        <p:spPr>
          <a:xfrm>
            <a:off x="1938528" y="3328416"/>
            <a:ext cx="2880360" cy="4315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2B7799-8B42-4E41-A620-CA8D4833CAA8}"/>
              </a:ext>
            </a:extLst>
          </p:cNvPr>
          <p:cNvSpPr>
            <a:spLocks noGrp="1"/>
          </p:cNvSpPr>
          <p:nvPr/>
        </p:nvSpPr>
        <p:spPr>
          <a:xfrm>
            <a:off x="1975104" y="3457895"/>
            <a:ext cx="2807208" cy="1467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지표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1DDDC58-60C8-4882-AE1C-3E904DF5EC3F}"/>
              </a:ext>
            </a:extLst>
          </p:cNvPr>
          <p:cNvSpPr>
            <a:spLocks noGrp="1"/>
          </p:cNvSpPr>
          <p:nvPr/>
        </p:nvSpPr>
        <p:spPr>
          <a:xfrm>
            <a:off x="4818888" y="3328416"/>
            <a:ext cx="2103120" cy="431596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FA778D-BECA-47A5-BC9B-3F24D6BA2927}"/>
              </a:ext>
            </a:extLst>
          </p:cNvPr>
          <p:cNvSpPr>
            <a:spLocks noGrp="1"/>
          </p:cNvSpPr>
          <p:nvPr/>
        </p:nvSpPr>
        <p:spPr>
          <a:xfrm>
            <a:off x="4855464" y="3457895"/>
            <a:ext cx="2029967" cy="14674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업데이트</a:t>
            </a:r>
            <a:r>
              <a:rPr sz="72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98B2423-C307-4F7D-8D21-75BDF25FAE76}"/>
              </a:ext>
            </a:extLst>
          </p:cNvPr>
          <p:cNvSpPr>
            <a:spLocks noGrp="1"/>
          </p:cNvSpPr>
          <p:nvPr/>
        </p:nvSpPr>
        <p:spPr>
          <a:xfrm>
            <a:off x="932688" y="3760012"/>
            <a:ext cx="100584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03DF1CF-34B4-44F5-8CC7-5FCC9208D8AA}"/>
              </a:ext>
            </a:extLst>
          </p:cNvPr>
          <p:cNvSpPr>
            <a:spLocks noGrp="1"/>
          </p:cNvSpPr>
          <p:nvPr/>
        </p:nvSpPr>
        <p:spPr>
          <a:xfrm>
            <a:off x="969264" y="3886838"/>
            <a:ext cx="9326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월간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EF947E6-245C-4560-9366-B87F72CBAD48}"/>
              </a:ext>
            </a:extLst>
          </p:cNvPr>
          <p:cNvSpPr>
            <a:spLocks noGrp="1"/>
          </p:cNvSpPr>
          <p:nvPr/>
        </p:nvSpPr>
        <p:spPr>
          <a:xfrm>
            <a:off x="1938528" y="3760012"/>
            <a:ext cx="288036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81A2CF-7405-4086-97C1-F0A20F1043BD}"/>
              </a:ext>
            </a:extLst>
          </p:cNvPr>
          <p:cNvSpPr>
            <a:spLocks noGrp="1"/>
          </p:cNvSpPr>
          <p:nvPr/>
        </p:nvSpPr>
        <p:spPr>
          <a:xfrm>
            <a:off x="1975104" y="3886838"/>
            <a:ext cx="280720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가격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점유율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출하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F5257F5-033F-45C6-B084-664BAFE684B9}"/>
              </a:ext>
            </a:extLst>
          </p:cNvPr>
          <p:cNvSpPr>
            <a:spLocks noGrp="1"/>
          </p:cNvSpPr>
          <p:nvPr/>
        </p:nvSpPr>
        <p:spPr>
          <a:xfrm>
            <a:off x="4818888" y="3760012"/>
            <a:ext cx="210312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420E67-3311-4E04-82B4-B7A5B37B2255}"/>
              </a:ext>
            </a:extLst>
          </p:cNvPr>
          <p:cNvSpPr>
            <a:spLocks noGrp="1"/>
          </p:cNvSpPr>
          <p:nvPr/>
        </p:nvSpPr>
        <p:spPr>
          <a:xfrm>
            <a:off x="4855464" y="3886838"/>
            <a:ext cx="202996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345572D-183D-4E63-AF19-1511FD3C2D58}"/>
              </a:ext>
            </a:extLst>
          </p:cNvPr>
          <p:cNvSpPr>
            <a:spLocks noGrp="1"/>
          </p:cNvSpPr>
          <p:nvPr/>
        </p:nvSpPr>
        <p:spPr>
          <a:xfrm>
            <a:off x="932688" y="4191609"/>
            <a:ext cx="100584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70C39E-2211-4889-8D2C-00A0556ABE14}"/>
              </a:ext>
            </a:extLst>
          </p:cNvPr>
          <p:cNvSpPr>
            <a:spLocks noGrp="1"/>
          </p:cNvSpPr>
          <p:nvPr/>
        </p:nvSpPr>
        <p:spPr>
          <a:xfrm>
            <a:off x="969264" y="4318434"/>
            <a:ext cx="9326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분기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69207F0-FA52-4412-A40F-87FE8380FD87}"/>
              </a:ext>
            </a:extLst>
          </p:cNvPr>
          <p:cNvSpPr>
            <a:spLocks noGrp="1"/>
          </p:cNvSpPr>
          <p:nvPr/>
        </p:nvSpPr>
        <p:spPr>
          <a:xfrm>
            <a:off x="1938528" y="4191609"/>
            <a:ext cx="288036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5CCA30-BC24-4973-9832-D2EE43057965}"/>
              </a:ext>
            </a:extLst>
          </p:cNvPr>
          <p:cNvSpPr>
            <a:spLocks noGrp="1"/>
          </p:cNvSpPr>
          <p:nvPr/>
        </p:nvSpPr>
        <p:spPr>
          <a:xfrm>
            <a:off x="1975104" y="4318434"/>
            <a:ext cx="280720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수주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백로그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OPM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9970FE8-4682-42F1-AAD5-B8A3F5BC489E}"/>
              </a:ext>
            </a:extLst>
          </p:cNvPr>
          <p:cNvSpPr>
            <a:spLocks noGrp="1"/>
          </p:cNvSpPr>
          <p:nvPr/>
        </p:nvSpPr>
        <p:spPr>
          <a:xfrm>
            <a:off x="4818888" y="4191609"/>
            <a:ext cx="210312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F74CD6-91B0-4697-B246-49E5BAD1ACA0}"/>
              </a:ext>
            </a:extLst>
          </p:cNvPr>
          <p:cNvSpPr>
            <a:spLocks noGrp="1"/>
          </p:cNvSpPr>
          <p:nvPr/>
        </p:nvSpPr>
        <p:spPr>
          <a:xfrm>
            <a:off x="4855464" y="4318434"/>
            <a:ext cx="202996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F4400A-75C0-4C46-9FDC-CF4638F1E730}"/>
              </a:ext>
            </a:extLst>
          </p:cNvPr>
          <p:cNvSpPr>
            <a:spLocks noGrp="1"/>
          </p:cNvSpPr>
          <p:nvPr/>
        </p:nvSpPr>
        <p:spPr>
          <a:xfrm>
            <a:off x="932688" y="4623206"/>
            <a:ext cx="100584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C29149E-F934-4113-802D-031F158AF5B8}"/>
              </a:ext>
            </a:extLst>
          </p:cNvPr>
          <p:cNvSpPr>
            <a:spLocks noGrp="1"/>
          </p:cNvSpPr>
          <p:nvPr/>
        </p:nvSpPr>
        <p:spPr>
          <a:xfrm>
            <a:off x="969264" y="4750031"/>
            <a:ext cx="9326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이벤트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05B8B17-DAA8-4C83-9F88-118AAC41361F}"/>
              </a:ext>
            </a:extLst>
          </p:cNvPr>
          <p:cNvSpPr>
            <a:spLocks noGrp="1"/>
          </p:cNvSpPr>
          <p:nvPr/>
        </p:nvSpPr>
        <p:spPr>
          <a:xfrm>
            <a:off x="1938528" y="4623206"/>
            <a:ext cx="288036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C9AF9D-ECA6-49A7-9DD6-847B885A2365}"/>
              </a:ext>
            </a:extLst>
          </p:cNvPr>
          <p:cNvSpPr>
            <a:spLocks noGrp="1"/>
          </p:cNvSpPr>
          <p:nvPr/>
        </p:nvSpPr>
        <p:spPr>
          <a:xfrm>
            <a:off x="1975104" y="4750031"/>
            <a:ext cx="280720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증설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정책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경쟁사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0C8775A-2C00-4413-9FDC-61A7678931CB}"/>
              </a:ext>
            </a:extLst>
          </p:cNvPr>
          <p:cNvSpPr>
            <a:spLocks noGrp="1"/>
          </p:cNvSpPr>
          <p:nvPr/>
        </p:nvSpPr>
        <p:spPr>
          <a:xfrm>
            <a:off x="4818888" y="4623206"/>
            <a:ext cx="2103120" cy="4315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3AF0821-46C8-4E5C-8349-0E9467D9EE3A}"/>
              </a:ext>
            </a:extLst>
          </p:cNvPr>
          <p:cNvSpPr>
            <a:spLocks noGrp="1"/>
          </p:cNvSpPr>
          <p:nvPr/>
        </p:nvSpPr>
        <p:spPr>
          <a:xfrm>
            <a:off x="4855464" y="4750031"/>
            <a:ext cx="202996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245618B-EBBA-4879-A934-74C89FF38777}"/>
              </a:ext>
            </a:extLst>
          </p:cNvPr>
          <p:cNvSpPr>
            <a:spLocks noGrp="1"/>
          </p:cNvSpPr>
          <p:nvPr/>
        </p:nvSpPr>
        <p:spPr>
          <a:xfrm>
            <a:off x="932688" y="5054803"/>
            <a:ext cx="100584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F1F69B0-3E7F-4EE0-968B-454C0CDB7554}"/>
              </a:ext>
            </a:extLst>
          </p:cNvPr>
          <p:cNvSpPr>
            <a:spLocks noGrp="1"/>
          </p:cNvSpPr>
          <p:nvPr/>
        </p:nvSpPr>
        <p:spPr>
          <a:xfrm>
            <a:off x="969264" y="5181628"/>
            <a:ext cx="93268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밸류에이션</a:t>
            </a:r>
            <a:endParaRPr sz="72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658FC9A-9B36-43DC-8523-2D1D375C76E8}"/>
              </a:ext>
            </a:extLst>
          </p:cNvPr>
          <p:cNvSpPr>
            <a:spLocks noGrp="1"/>
          </p:cNvSpPr>
          <p:nvPr/>
        </p:nvSpPr>
        <p:spPr>
          <a:xfrm>
            <a:off x="1938528" y="5054803"/>
            <a:ext cx="288036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EE165B0-4D21-401A-B979-66095375F5B6}"/>
              </a:ext>
            </a:extLst>
          </p:cNvPr>
          <p:cNvSpPr>
            <a:spLocks noGrp="1"/>
          </p:cNvSpPr>
          <p:nvPr/>
        </p:nvSpPr>
        <p:spPr>
          <a:xfrm>
            <a:off x="1975104" y="5181628"/>
            <a:ext cx="2807208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추정치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멀티플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DCCB2AE-21FB-4F2A-A58F-F372C5B76AA9}"/>
              </a:ext>
            </a:extLst>
          </p:cNvPr>
          <p:cNvSpPr>
            <a:spLocks noGrp="1"/>
          </p:cNvSpPr>
          <p:nvPr/>
        </p:nvSpPr>
        <p:spPr>
          <a:xfrm>
            <a:off x="4818888" y="5054803"/>
            <a:ext cx="2103120" cy="431596"/>
          </a:xfrm>
          <a:prstGeom prst="rect">
            <a:avLst/>
          </a:prstGeom>
          <a:solidFill>
            <a:srgbClr val="F7F9FC"/>
          </a:solidFill>
          <a:ln w="508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65E44F0-372C-4BF8-B399-8446E2D5FEDF}"/>
              </a:ext>
            </a:extLst>
          </p:cNvPr>
          <p:cNvSpPr>
            <a:spLocks noGrp="1"/>
          </p:cNvSpPr>
          <p:nvPr/>
        </p:nvSpPr>
        <p:spPr>
          <a:xfrm>
            <a:off x="4855464" y="5181628"/>
            <a:ext cx="2029967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[ ]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349E2C-909D-4E3C-B0E0-A557A621F0FC}"/>
              </a:ext>
            </a:extLst>
          </p:cNvPr>
          <p:cNvSpPr>
            <a:spLocks noGrp="1"/>
          </p:cNvSpPr>
          <p:nvPr/>
        </p:nvSpPr>
        <p:spPr>
          <a:xfrm>
            <a:off x="7187184" y="2999232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출처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r>
              <a:rPr sz="919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919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기준</a:t>
            </a:r>
            <a:endParaRPr sz="919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AB8359B-5152-49DC-A45D-B67C2DC736E1}"/>
              </a:ext>
            </a:extLst>
          </p:cNvPr>
          <p:cNvSpPr>
            <a:spLocks noGrp="1"/>
          </p:cNvSpPr>
          <p:nvPr/>
        </p:nvSpPr>
        <p:spPr>
          <a:xfrm>
            <a:off x="7187184" y="3236976"/>
            <a:ext cx="402336" cy="23774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9" name="Connector 88">
            <a:extLst>
              <a:ext uri="{FF2B5EF4-FFF2-40B4-BE49-F238E27FC236}">
                <a16:creationId xmlns:a16="http://schemas.microsoft.com/office/drawing/2014/main" id="{154025A4-F636-4186-8886-88F7F9444F7A}"/>
              </a:ext>
            </a:extLst>
          </p:cNvPr>
          <p:cNvSpPr>
            <a:spLocks noGrp="1"/>
          </p:cNvSpPr>
          <p:nvPr/>
        </p:nvSpPr>
        <p:spPr>
          <a:xfrm>
            <a:off x="7644383" y="3248863"/>
            <a:ext cx="1737361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0D0B55A4-765E-47B7-B011-A830693A1B1E}"/>
              </a:ext>
            </a:extLst>
          </p:cNvPr>
          <p:cNvSpPr>
            <a:spLocks noGrp="1"/>
          </p:cNvSpPr>
          <p:nvPr/>
        </p:nvSpPr>
        <p:spPr>
          <a:xfrm>
            <a:off x="7187184" y="3328416"/>
            <a:ext cx="3895344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7620">
            <a:solidFill>
              <a:srgbClr val="DDE1E7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377D67-1F54-44F3-BF27-665AE3EF7951}"/>
              </a:ext>
            </a:extLst>
          </p:cNvPr>
          <p:cNvSpPr>
            <a:spLocks noGrp="1"/>
          </p:cNvSpPr>
          <p:nvPr/>
        </p:nvSpPr>
        <p:spPr>
          <a:xfrm>
            <a:off x="7424927" y="3547872"/>
            <a:ext cx="74980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1차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자료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00452A8-84BE-4D88-BA7C-182431E11A98}"/>
              </a:ext>
            </a:extLst>
          </p:cNvPr>
          <p:cNvSpPr>
            <a:spLocks noGrp="1"/>
          </p:cNvSpPr>
          <p:nvPr/>
        </p:nvSpPr>
        <p:spPr>
          <a:xfrm>
            <a:off x="8174736" y="3529584"/>
            <a:ext cx="248716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사업보고서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실적발표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거래소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공시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정부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/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협회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F77A0F4-1EF4-4C67-A655-D67C41C00166}"/>
              </a:ext>
            </a:extLst>
          </p:cNvPr>
          <p:cNvSpPr>
            <a:spLocks noGrp="1"/>
          </p:cNvSpPr>
          <p:nvPr/>
        </p:nvSpPr>
        <p:spPr>
          <a:xfrm>
            <a:off x="7424927" y="3986784"/>
            <a:ext cx="74980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2차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자료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86F98A7-23A3-4C35-B086-65BEF2E49441}"/>
              </a:ext>
            </a:extLst>
          </p:cNvPr>
          <p:cNvSpPr>
            <a:spLocks noGrp="1"/>
          </p:cNvSpPr>
          <p:nvPr/>
        </p:nvSpPr>
        <p:spPr>
          <a:xfrm>
            <a:off x="8174736" y="3968496"/>
            <a:ext cx="248716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증권사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시장조사기관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·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전문매체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→ 1차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자료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교차검증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CE1E5F3-D72A-4FF0-9795-76C9FBC1FAFD}"/>
              </a:ext>
            </a:extLst>
          </p:cNvPr>
          <p:cNvSpPr>
            <a:spLocks noGrp="1"/>
          </p:cNvSpPr>
          <p:nvPr/>
        </p:nvSpPr>
        <p:spPr>
          <a:xfrm>
            <a:off x="7424927" y="4553712"/>
            <a:ext cx="74980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r>
              <a:rPr sz="78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원칙</a:t>
            </a:r>
            <a:endParaRPr sz="780" b="1" dirty="0">
              <a:solidFill>
                <a:srgbClr val="034EA2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2237733-FA0A-459F-8411-B40977B09E46}"/>
              </a:ext>
            </a:extLst>
          </p:cNvPr>
          <p:cNvSpPr>
            <a:spLocks noGrp="1"/>
          </p:cNvSpPr>
          <p:nvPr/>
        </p:nvSpPr>
        <p:spPr>
          <a:xfrm>
            <a:off x="8174736" y="4535424"/>
            <a:ext cx="2487168" cy="1477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A=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실적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/ E=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추정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산식·가정·기준일</a:t>
            </a:r>
            <a:r>
              <a:rPr sz="720" b="0" dirty="0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0" dirty="0" err="1">
                <a:solidFill>
                  <a:srgbClr val="323A4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명시</a:t>
            </a:r>
            <a:endParaRPr sz="720" b="0" dirty="0">
              <a:solidFill>
                <a:srgbClr val="323A4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7AC5BAC-41FB-4634-B6FB-48E56C51DB68}"/>
              </a:ext>
            </a:extLst>
          </p:cNvPr>
          <p:cNvSpPr>
            <a:spLocks noGrp="1"/>
          </p:cNvSpPr>
          <p:nvPr/>
        </p:nvSpPr>
        <p:spPr>
          <a:xfrm>
            <a:off x="7424927" y="4992624"/>
            <a:ext cx="749808" cy="1569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최종</a:t>
            </a:r>
            <a:r>
              <a:rPr sz="78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8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문장</a:t>
            </a:r>
            <a:endParaRPr sz="780" b="1" dirty="0">
              <a:solidFill>
                <a:srgbClr val="001C54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C83A017-BCA8-43FF-AC1E-51A0734D4F86}"/>
              </a:ext>
            </a:extLst>
          </p:cNvPr>
          <p:cNvSpPr>
            <a:spLocks noGrp="1"/>
          </p:cNvSpPr>
          <p:nvPr/>
        </p:nvSpPr>
        <p:spPr>
          <a:xfrm>
            <a:off x="8174736" y="4965192"/>
            <a:ext cx="2487168" cy="2585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“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무엇이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맞아야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논리가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유지되고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,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어떤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숫자가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틀리면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</a:t>
            </a:r>
            <a:r>
              <a:rPr sz="720" b="1" dirty="0" err="1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훼손되는가</a:t>
            </a:r>
            <a:r>
              <a:rPr sz="720" b="1" dirty="0">
                <a:solidFill>
                  <a:srgbClr val="001C54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?”</a:t>
            </a:r>
          </a:p>
        </p:txBody>
      </p:sp>
      <p:sp>
        <p:nvSpPr>
          <p:cNvPr id="102" name="Rectangle 1">
            <a:extLst>
              <a:ext uri="{FF2B5EF4-FFF2-40B4-BE49-F238E27FC236}">
                <a16:creationId xmlns:a16="http://schemas.microsoft.com/office/drawing/2014/main" id="{21A4CB25-29A5-7F98-64E3-4E21DC097211}"/>
              </a:ext>
            </a:extLst>
          </p:cNvPr>
          <p:cNvSpPr>
            <a:spLocks noGrp="1"/>
          </p:cNvSpPr>
          <p:nvPr/>
        </p:nvSpPr>
        <p:spPr>
          <a:xfrm>
            <a:off x="0" y="-8192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2" name="TextBox 12">
            <a:extLst>
              <a:ext uri="{FF2B5EF4-FFF2-40B4-BE49-F238E27FC236}">
                <a16:creationId xmlns:a16="http://schemas.microsoft.com/office/drawing/2014/main" id="{CCDEB2B7-41DE-3562-D0F0-056010BE32E5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4" name="TextBox 13">
            <a:extLst>
              <a:ext uri="{FF2B5EF4-FFF2-40B4-BE49-F238E27FC236}">
                <a16:creationId xmlns:a16="http://schemas.microsoft.com/office/drawing/2014/main" id="{F4225C42-D0E2-2519-CDE9-4822361A48C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6" name="TextBox 14">
            <a:extLst>
              <a:ext uri="{FF2B5EF4-FFF2-40B4-BE49-F238E27FC236}">
                <a16:creationId xmlns:a16="http://schemas.microsoft.com/office/drawing/2014/main" id="{086E1086-3F82-E11C-6F1E-9720C65E8AE4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lang="en-US" altLang="ko-KR"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8" name="TextBox 15">
            <a:extLst>
              <a:ext uri="{FF2B5EF4-FFF2-40B4-BE49-F238E27FC236}">
                <a16:creationId xmlns:a16="http://schemas.microsoft.com/office/drawing/2014/main" id="{B993D934-6DAB-FD35-76AD-03E8EEF322FB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6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</a:p>
        </p:txBody>
      </p:sp>
      <p:sp>
        <p:nvSpPr>
          <p:cNvPr id="140" name="TextBox 10">
            <a:extLst>
              <a:ext uri="{FF2B5EF4-FFF2-40B4-BE49-F238E27FC236}">
                <a16:creationId xmlns:a16="http://schemas.microsoft.com/office/drawing/2014/main" id="{E653C92C-F6AC-21A9-3E31-312A49F22D27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42" name="TextBox 11">
            <a:extLst>
              <a:ext uri="{FF2B5EF4-FFF2-40B4-BE49-F238E27FC236}">
                <a16:creationId xmlns:a16="http://schemas.microsoft.com/office/drawing/2014/main" id="{6DD35F97-47CB-62A2-2F55-4A7FA746473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4" name="TextBox 6">
            <a:extLst>
              <a:ext uri="{FF2B5EF4-FFF2-40B4-BE49-F238E27FC236}">
                <a16:creationId xmlns:a16="http://schemas.microsoft.com/office/drawing/2014/main" id="{8078FF27-FBC9-7A0A-8469-AD95259D5AFA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6" name="TextBox 7">
            <a:extLst>
              <a:ext uri="{FF2B5EF4-FFF2-40B4-BE49-F238E27FC236}">
                <a16:creationId xmlns:a16="http://schemas.microsoft.com/office/drawing/2014/main" id="{BF57A659-B710-5169-068B-B6214FD74781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8" name="TextBox 8">
            <a:extLst>
              <a:ext uri="{FF2B5EF4-FFF2-40B4-BE49-F238E27FC236}">
                <a16:creationId xmlns:a16="http://schemas.microsoft.com/office/drawing/2014/main" id="{FED9C0AB-62AF-7985-33DD-5B8C6268F34B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50" name="TextBox 9">
            <a:extLst>
              <a:ext uri="{FF2B5EF4-FFF2-40B4-BE49-F238E27FC236}">
                <a16:creationId xmlns:a16="http://schemas.microsoft.com/office/drawing/2014/main" id="{6AEC0FBD-D2AD-14D9-0759-D1AAF2F0F590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2" name="TextBox 4">
            <a:extLst>
              <a:ext uri="{FF2B5EF4-FFF2-40B4-BE49-F238E27FC236}">
                <a16:creationId xmlns:a16="http://schemas.microsoft.com/office/drawing/2014/main" id="{163EDF1D-FAD2-0699-5D25-77CCF44398C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54" name="TextBox 5">
            <a:extLst>
              <a:ext uri="{FF2B5EF4-FFF2-40B4-BE49-F238E27FC236}">
                <a16:creationId xmlns:a16="http://schemas.microsoft.com/office/drawing/2014/main" id="{2674ABAD-F12B-2E94-D6DD-06E69A18E3AE}"/>
              </a:ext>
            </a:extLst>
          </p:cNvPr>
          <p:cNvSpPr>
            <a:spLocks noGrp="1"/>
          </p:cNvSpPr>
          <p:nvPr/>
        </p:nvSpPr>
        <p:spPr>
          <a:xfrm>
            <a:off x="221996" y="1293921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6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Rounded Rectangle 3">
            <a:extLst>
              <a:ext uri="{FF2B5EF4-FFF2-40B4-BE49-F238E27FC236}">
                <a16:creationId xmlns:a16="http://schemas.microsoft.com/office/drawing/2014/main" id="{2F670560-719F-BBC4-FFC8-1C977E57416A}"/>
              </a:ext>
            </a:extLst>
          </p:cNvPr>
          <p:cNvSpPr>
            <a:spLocks noGrp="1"/>
          </p:cNvSpPr>
          <p:nvPr/>
        </p:nvSpPr>
        <p:spPr>
          <a:xfrm>
            <a:off x="57912" y="4605200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58" name="TextBox 6">
            <a:extLst>
              <a:ext uri="{FF2B5EF4-FFF2-40B4-BE49-F238E27FC236}">
                <a16:creationId xmlns:a16="http://schemas.microsoft.com/office/drawing/2014/main" id="{39B38E5D-49F9-F2FA-3011-5E055DC9B49A}"/>
              </a:ext>
            </a:extLst>
          </p:cNvPr>
          <p:cNvSpPr>
            <a:spLocks noGrp="1"/>
          </p:cNvSpPr>
          <p:nvPr/>
        </p:nvSpPr>
        <p:spPr>
          <a:xfrm>
            <a:off x="91440" y="4804335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</a:t>
            </a:r>
            <a:r>
              <a:rPr lang="en-US" sz="67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6</a:t>
            </a:r>
            <a:endParaRPr sz="67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60" name="TextBox 7">
            <a:extLst>
              <a:ext uri="{FF2B5EF4-FFF2-40B4-BE49-F238E27FC236}">
                <a16:creationId xmlns:a16="http://schemas.microsoft.com/office/drawing/2014/main" id="{BC86C2D1-07CB-E60E-E17C-AE25430FB261}"/>
              </a:ext>
            </a:extLst>
          </p:cNvPr>
          <p:cNvSpPr>
            <a:spLocks noGrp="1"/>
          </p:cNvSpPr>
          <p:nvPr/>
        </p:nvSpPr>
        <p:spPr>
          <a:xfrm>
            <a:off x="169164" y="4805145"/>
            <a:ext cx="585216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72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72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DEC7CD-37C9-07BB-2A76-5CC391F64F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02240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D9BB0-EB56-30AB-2BBC-A89B16F4D259}"/>
              </a:ext>
            </a:extLst>
          </p:cNvPr>
          <p:cNvSpPr txBox="1"/>
          <p:nvPr/>
        </p:nvSpPr>
        <p:spPr>
          <a:xfrm>
            <a:off x="3048000" y="25980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3600" b="1" dirty="0"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선택형 프레임</a:t>
            </a:r>
            <a:endParaRPr lang="en-US" altLang="ko-KR" sz="3600" b="1" dirty="0"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25950331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>
            <a:extLst>
              <a:ext uri="{FF2B5EF4-FFF2-40B4-BE49-F238E27FC236}">
                <a16:creationId xmlns:a16="http://schemas.microsoft.com/office/drawing/2014/main" id="{D60CFE3F-99D6-A93A-AA6C-1B2EE5A62D48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개요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단일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737360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0120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9848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외부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촉발요인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2606040"/>
            <a:ext cx="135331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정책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보급률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설비투자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87752" y="2553093"/>
            <a:ext cx="24688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35224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44952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산업의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제약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필요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44952" y="2606040"/>
            <a:ext cx="1353312" cy="2523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공급부족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생산능력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규제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교체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62856" y="2553093"/>
            <a:ext cx="24688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10328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0056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행동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0056" y="2606040"/>
            <a:ext cx="135331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발주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재고축적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전환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537960" y="2553093"/>
            <a:ext cx="24688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85432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995160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제품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서비스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06040"/>
            <a:ext cx="135331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핵심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제품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서비스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설치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513064" y="2553093"/>
            <a:ext cx="246888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60536" y="2194560"/>
            <a:ext cx="1572768" cy="102412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970264" y="2331720"/>
            <a:ext cx="1353312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실적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0264" y="2606040"/>
            <a:ext cx="135331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→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매출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→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마진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→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현금흐름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32688" y="3767328"/>
            <a:ext cx="9948672" cy="987552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43000" y="3977639"/>
            <a:ext cx="1325880" cy="1431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연결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1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문장</a:t>
            </a:r>
            <a:r>
              <a:rPr sz="81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23160" y="3931920"/>
            <a:ext cx="8046720" cy="1585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외부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]가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산업의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제약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필요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]를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만들고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,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고객의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행동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]이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제품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서비스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수요로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이어지며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,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A/B]의 [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핵심지표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]와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실적이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순차적으로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9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반응한다</a:t>
            </a:r>
            <a:r>
              <a:rPr sz="9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2688" y="5010912"/>
            <a:ext cx="9948672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52144" y="5202936"/>
            <a:ext cx="841248" cy="13696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선행지표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938528" y="5184648"/>
            <a:ext cx="196596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수주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트래픽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설치대수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발주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4528" y="5202936"/>
            <a:ext cx="841248" cy="13696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실적지표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010912" y="5184648"/>
            <a:ext cx="196596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매출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영업이익률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FCF]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96912" y="5202936"/>
            <a:ext cx="841248" cy="13696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7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리스크</a:t>
            </a:r>
            <a:endParaRPr sz="77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083296" y="5184648"/>
            <a:ext cx="196596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지연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공급과잉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대체기술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2" name="Rounded Rectangle 3">
            <a:extLst>
              <a:ext uri="{FF2B5EF4-FFF2-40B4-BE49-F238E27FC236}">
                <a16:creationId xmlns:a16="http://schemas.microsoft.com/office/drawing/2014/main" id="{FFF6240B-56CC-0FE1-416F-BA90CC4768BE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4" name="TextBox 4">
            <a:extLst>
              <a:ext uri="{FF2B5EF4-FFF2-40B4-BE49-F238E27FC236}">
                <a16:creationId xmlns:a16="http://schemas.microsoft.com/office/drawing/2014/main" id="{16D6A76B-044A-FEA2-3CCA-2E99A2FB94DB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6" name="TextBox 5">
            <a:extLst>
              <a:ext uri="{FF2B5EF4-FFF2-40B4-BE49-F238E27FC236}">
                <a16:creationId xmlns:a16="http://schemas.microsoft.com/office/drawing/2014/main" id="{E2B88FFC-2138-C3FD-E894-ED0F06CC0EE2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6">
            <a:extLst>
              <a:ext uri="{FF2B5EF4-FFF2-40B4-BE49-F238E27FC236}">
                <a16:creationId xmlns:a16="http://schemas.microsoft.com/office/drawing/2014/main" id="{D1B0BC9B-A24A-EF0F-3AB1-C95A60472E2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0" name="TextBox 7">
            <a:extLst>
              <a:ext uri="{FF2B5EF4-FFF2-40B4-BE49-F238E27FC236}">
                <a16:creationId xmlns:a16="http://schemas.microsoft.com/office/drawing/2014/main" id="{5042CD89-DDAD-A7FB-07A0-50E5BE224AFF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2" name="TextBox 8">
            <a:extLst>
              <a:ext uri="{FF2B5EF4-FFF2-40B4-BE49-F238E27FC236}">
                <a16:creationId xmlns:a16="http://schemas.microsoft.com/office/drawing/2014/main" id="{08BC287E-EEE9-6FCC-33DB-48FAE5C9A129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4" name="TextBox 9">
            <a:extLst>
              <a:ext uri="{FF2B5EF4-FFF2-40B4-BE49-F238E27FC236}">
                <a16:creationId xmlns:a16="http://schemas.microsoft.com/office/drawing/2014/main" id="{357321FA-B069-52DE-17A1-B051BE54168F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6" name="TextBox 10">
            <a:extLst>
              <a:ext uri="{FF2B5EF4-FFF2-40B4-BE49-F238E27FC236}">
                <a16:creationId xmlns:a16="http://schemas.microsoft.com/office/drawing/2014/main" id="{73897185-3848-3CE5-872A-DC860A4DA54F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88" name="TextBox 11">
            <a:extLst>
              <a:ext uri="{FF2B5EF4-FFF2-40B4-BE49-F238E27FC236}">
                <a16:creationId xmlns:a16="http://schemas.microsoft.com/office/drawing/2014/main" id="{97F695ED-EBA9-49B3-421E-4C9318F8FE0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12">
            <a:extLst>
              <a:ext uri="{FF2B5EF4-FFF2-40B4-BE49-F238E27FC236}">
                <a16:creationId xmlns:a16="http://schemas.microsoft.com/office/drawing/2014/main" id="{BCF01CD5-4C4B-A44E-3373-04B34A9D3FCC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2" name="TextBox 13">
            <a:extLst>
              <a:ext uri="{FF2B5EF4-FFF2-40B4-BE49-F238E27FC236}">
                <a16:creationId xmlns:a16="http://schemas.microsoft.com/office/drawing/2014/main" id="{628CACEA-6B7D-4115-2F8B-447E94099881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4" name="TextBox 14">
            <a:extLst>
              <a:ext uri="{FF2B5EF4-FFF2-40B4-BE49-F238E27FC236}">
                <a16:creationId xmlns:a16="http://schemas.microsoft.com/office/drawing/2014/main" id="{E3F189A4-8236-5D23-A1AC-7219D9234356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6" name="TextBox 15">
            <a:extLst>
              <a:ext uri="{FF2B5EF4-FFF2-40B4-BE49-F238E27FC236}">
                <a16:creationId xmlns:a16="http://schemas.microsoft.com/office/drawing/2014/main" id="{907C74CD-CD40-2625-2ADA-0B363D835AF3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07CBA3CB-CA9D-A3EE-E6D9-3EE628003D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2" name="TextBox 30">
            <a:extLst>
              <a:ext uri="{FF2B5EF4-FFF2-40B4-BE49-F238E27FC236}">
                <a16:creationId xmlns:a16="http://schemas.microsoft.com/office/drawing/2014/main" id="{8927FBC7-1E12-D653-CEBB-215700435B7D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4" name="Rectangle 17">
            <a:extLst>
              <a:ext uri="{FF2B5EF4-FFF2-40B4-BE49-F238E27FC236}">
                <a16:creationId xmlns:a16="http://schemas.microsoft.com/office/drawing/2014/main" id="{7B39F26A-571F-8C83-209C-AA43D3E16BFA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8">
            <a:extLst>
              <a:ext uri="{FF2B5EF4-FFF2-40B4-BE49-F238E27FC236}">
                <a16:creationId xmlns:a16="http://schemas.microsoft.com/office/drawing/2014/main" id="{58E33C6A-EB4E-74F2-E058-612D902BE995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8" name="TextBox 19">
            <a:extLst>
              <a:ext uri="{FF2B5EF4-FFF2-40B4-BE49-F238E27FC236}">
                <a16:creationId xmlns:a16="http://schemas.microsoft.com/office/drawing/2014/main" id="{9B27D834-ABF2-59C5-E330-7E2D0838A711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21">
            <a:extLst>
              <a:ext uri="{FF2B5EF4-FFF2-40B4-BE49-F238E27FC236}">
                <a16:creationId xmlns:a16="http://schemas.microsoft.com/office/drawing/2014/main" id="{C525D27A-58B4-313A-45D3-F3583ABD7427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2" name="TextBox 22">
            <a:extLst>
              <a:ext uri="{FF2B5EF4-FFF2-40B4-BE49-F238E27FC236}">
                <a16:creationId xmlns:a16="http://schemas.microsoft.com/office/drawing/2014/main" id="{4DB155CB-CACC-1337-5594-D615EC6A1743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TextBox 23">
            <a:extLst>
              <a:ext uri="{FF2B5EF4-FFF2-40B4-BE49-F238E27FC236}">
                <a16:creationId xmlns:a16="http://schemas.microsoft.com/office/drawing/2014/main" id="{EBB6DED3-993C-0D34-337E-56BD31895B03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16" name="TextBox 24">
            <a:extLst>
              <a:ext uri="{FF2B5EF4-FFF2-40B4-BE49-F238E27FC236}">
                <a16:creationId xmlns:a16="http://schemas.microsoft.com/office/drawing/2014/main" id="{9F4AC50C-8556-0DBB-9D6C-C66A7D592416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8" name="TextBox 25">
            <a:extLst>
              <a:ext uri="{FF2B5EF4-FFF2-40B4-BE49-F238E27FC236}">
                <a16:creationId xmlns:a16="http://schemas.microsoft.com/office/drawing/2014/main" id="{764F1DB7-3C2C-56C1-FDFB-004692115D45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0" name="TextBox 26">
            <a:extLst>
              <a:ext uri="{FF2B5EF4-FFF2-40B4-BE49-F238E27FC236}">
                <a16:creationId xmlns:a16="http://schemas.microsoft.com/office/drawing/2014/main" id="{8F0779AD-332F-FA26-F0B7-000469EAA2C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2" name="TextBox 27">
            <a:extLst>
              <a:ext uri="{FF2B5EF4-FFF2-40B4-BE49-F238E27FC236}">
                <a16:creationId xmlns:a16="http://schemas.microsoft.com/office/drawing/2014/main" id="{3E7F66BC-2AD7-5FA1-DAAD-57889BCF23A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24" name="TextBox 28">
            <a:extLst>
              <a:ext uri="{FF2B5EF4-FFF2-40B4-BE49-F238E27FC236}">
                <a16:creationId xmlns:a16="http://schemas.microsoft.com/office/drawing/2014/main" id="{91BBC17F-A6F3-3EC9-C423-786DE4D81AAC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29">
            <a:extLst>
              <a:ext uri="{FF2B5EF4-FFF2-40B4-BE49-F238E27FC236}">
                <a16:creationId xmlns:a16="http://schemas.microsoft.com/office/drawing/2014/main" id="{1D73A856-CF92-BE53-C176-A3E586B4331A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28" name="TextBox 30">
            <a:extLst>
              <a:ext uri="{FF2B5EF4-FFF2-40B4-BE49-F238E27FC236}">
                <a16:creationId xmlns:a16="http://schemas.microsoft.com/office/drawing/2014/main" id="{EBC462E7-C293-6485-55AB-E3769957ADCA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>
            <a:extLst>
              <a:ext uri="{FF2B5EF4-FFF2-40B4-BE49-F238E27FC236}">
                <a16:creationId xmlns:a16="http://schemas.microsoft.com/office/drawing/2014/main" id="{13186FD4-98BB-0440-809D-7F341CF04665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상세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설명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흐름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0120" y="1894332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69848" y="1955291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촉발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2229612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최종수요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10512" y="2387126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" y="2589275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69848" y="2650235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제약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병목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" y="2924556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방식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한계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10512" y="3082070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" y="3284220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9848" y="3345180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행동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" y="3619499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전환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발주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10512" y="3777013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0120" y="3979164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9848" y="4040124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제품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" y="4314444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확대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10512" y="4471958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" y="4674108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69848" y="4735068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실적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" y="5009388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매출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마진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반영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01568" y="1856231"/>
            <a:ext cx="746150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602736" y="2011679"/>
            <a:ext cx="1371600" cy="25603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0" y="2062840"/>
            <a:ext cx="1261872" cy="1354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① [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구간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A]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0" y="2002536"/>
            <a:ext cx="5394960" cy="175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[왜 이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구간이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발생하는가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?]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21024" y="2441448"/>
            <a:ext cx="6903720" cy="52270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1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고객의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문제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산업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제약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2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행동이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바뀌는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조건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3 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핵심지표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수주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가격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가동률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4 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관련기업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A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B]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01568" y="3794760"/>
            <a:ext cx="746150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3602736" y="3950208"/>
            <a:ext cx="1371600" cy="25603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57600" y="4001369"/>
            <a:ext cx="1261872" cy="1354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② [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구간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B]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0640" y="3941064"/>
            <a:ext cx="5394960" cy="175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A에서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다음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단계로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넘어가는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연결고리</a:t>
            </a:r>
            <a:r>
              <a:rPr sz="10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1024" y="4379976"/>
            <a:ext cx="6903720" cy="52270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1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반복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발주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침투율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교체주기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2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마진이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커지는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구조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3 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핵심지표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[ASP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믹스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점유율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4 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리스크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지연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대체기술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9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경쟁</a:t>
            </a:r>
            <a:r>
              <a:rPr sz="819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401568" y="5760720"/>
            <a:ext cx="7461504" cy="43891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21024" y="5907024"/>
            <a:ext cx="699516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결론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  [이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경로에서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매출과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멀티플을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가장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먼저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움직이는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4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변수</a:t>
            </a:r>
            <a:r>
              <a:rPr sz="84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06D453C9-B1CA-470B-127A-409F27B28F66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9D099233-1556-44F1-0CFC-1B5CE7E6E759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C628F75B-9D19-2A70-A8A5-8C8E135E2398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6B663ABA-116D-7ED3-819E-7447E8D4B7A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6336B7DD-769D-56E7-0FFE-52791266E30A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91352E1B-A6ED-37AB-EF6F-B889C5C32D76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9303284D-0C1A-1B0E-C6E4-36EBABBE754B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1AC4099F-51E4-D0DE-BF0C-E1516C4F22A3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18D2AE8A-63D7-3470-6912-0CE5191EAB44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85884D1A-7803-6AA2-B02B-60839309F687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39892BDA-9579-FD32-C901-0C2C4685CF9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0DBAD3DC-89E2-B451-833D-8889C3DA9597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8F829640-B9F5-056B-96A5-FD62AE00DF22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9B552FF0-EDCB-A02E-F1F1-03C2D6AEB5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2" name="TextBox 30">
            <a:extLst>
              <a:ext uri="{FF2B5EF4-FFF2-40B4-BE49-F238E27FC236}">
                <a16:creationId xmlns:a16="http://schemas.microsoft.com/office/drawing/2014/main" id="{E4B27250-A5F0-BD8C-1682-5C8379D3EF43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4" name="Rectangle 17">
            <a:extLst>
              <a:ext uri="{FF2B5EF4-FFF2-40B4-BE49-F238E27FC236}">
                <a16:creationId xmlns:a16="http://schemas.microsoft.com/office/drawing/2014/main" id="{A438FE30-AE92-50FC-755C-9DF8562B5045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36" name="TextBox 18">
            <a:extLst>
              <a:ext uri="{FF2B5EF4-FFF2-40B4-BE49-F238E27FC236}">
                <a16:creationId xmlns:a16="http://schemas.microsoft.com/office/drawing/2014/main" id="{A4A6AE38-18C0-5F42-7148-D9171C76C7DF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38" name="TextBox 19">
            <a:extLst>
              <a:ext uri="{FF2B5EF4-FFF2-40B4-BE49-F238E27FC236}">
                <a16:creationId xmlns:a16="http://schemas.microsoft.com/office/drawing/2014/main" id="{32F6BAF4-D669-8035-4D17-8842D06C1D3E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0" name="TextBox 21">
            <a:extLst>
              <a:ext uri="{FF2B5EF4-FFF2-40B4-BE49-F238E27FC236}">
                <a16:creationId xmlns:a16="http://schemas.microsoft.com/office/drawing/2014/main" id="{BC974C65-2290-4A58-84A1-B4A7DB6B2440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42" name="TextBox 22">
            <a:extLst>
              <a:ext uri="{FF2B5EF4-FFF2-40B4-BE49-F238E27FC236}">
                <a16:creationId xmlns:a16="http://schemas.microsoft.com/office/drawing/2014/main" id="{651A2605-304F-A4B8-0F06-2EBB15FF37AB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4" name="TextBox 23">
            <a:extLst>
              <a:ext uri="{FF2B5EF4-FFF2-40B4-BE49-F238E27FC236}">
                <a16:creationId xmlns:a16="http://schemas.microsoft.com/office/drawing/2014/main" id="{4C0124B2-2468-5C6C-A669-BA8D169A11F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46" name="TextBox 24">
            <a:extLst>
              <a:ext uri="{FF2B5EF4-FFF2-40B4-BE49-F238E27FC236}">
                <a16:creationId xmlns:a16="http://schemas.microsoft.com/office/drawing/2014/main" id="{38DE7F57-77B4-ED94-5074-7A0411EBED22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48" name="TextBox 25">
            <a:extLst>
              <a:ext uri="{FF2B5EF4-FFF2-40B4-BE49-F238E27FC236}">
                <a16:creationId xmlns:a16="http://schemas.microsoft.com/office/drawing/2014/main" id="{7C0A9CDC-06B3-5EFD-58AA-44D16A184E2A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50" name="TextBox 26">
            <a:extLst>
              <a:ext uri="{FF2B5EF4-FFF2-40B4-BE49-F238E27FC236}">
                <a16:creationId xmlns:a16="http://schemas.microsoft.com/office/drawing/2014/main" id="{D2A3CF6B-3C54-563B-ACEB-199AC714A830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2" name="TextBox 27">
            <a:extLst>
              <a:ext uri="{FF2B5EF4-FFF2-40B4-BE49-F238E27FC236}">
                <a16:creationId xmlns:a16="http://schemas.microsoft.com/office/drawing/2014/main" id="{E20694AB-09FA-16AF-525B-EEDB0F887F83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54" name="TextBox 28">
            <a:extLst>
              <a:ext uri="{FF2B5EF4-FFF2-40B4-BE49-F238E27FC236}">
                <a16:creationId xmlns:a16="http://schemas.microsoft.com/office/drawing/2014/main" id="{2E4A7CDF-0A0B-0AA5-FA45-E8A07E6AC997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56" name="TextBox 29">
            <a:extLst>
              <a:ext uri="{FF2B5EF4-FFF2-40B4-BE49-F238E27FC236}">
                <a16:creationId xmlns:a16="http://schemas.microsoft.com/office/drawing/2014/main" id="{BEDC25C7-F685-30B3-E74E-54D8B0D97BD2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58" name="TextBox 30">
            <a:extLst>
              <a:ext uri="{FF2B5EF4-FFF2-40B4-BE49-F238E27FC236}">
                <a16:creationId xmlns:a16="http://schemas.microsoft.com/office/drawing/2014/main" id="{AFC8737C-35B1-69C6-6711-52AFBDCCB8DB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>
            <a:extLst>
              <a:ext uri="{FF2B5EF4-FFF2-40B4-BE49-F238E27FC236}">
                <a16:creationId xmlns:a16="http://schemas.microsoft.com/office/drawing/2014/main" id="{EDE86BD8-91AB-BF3E-A29C-5971A6F1E814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병목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→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대체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개요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메인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7552" y="1938528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7280" y="2075688"/>
            <a:ext cx="151790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증가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2350008"/>
            <a:ext cx="1517904" cy="41147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88920" y="2251341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36392" y="1938528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46120" y="2075688"/>
            <a:ext cx="151790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기존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메인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2350008"/>
            <a:ext cx="151790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정상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공급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처리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2251341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85232" y="1938528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94960" y="2075688"/>
            <a:ext cx="151790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병목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/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한계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2350008"/>
            <a:ext cx="151790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생산능력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규제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연결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납기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2251341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34072" y="1938528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43800" y="2075688"/>
            <a:ext cx="151790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본래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솔루션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2350008"/>
            <a:ext cx="151790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정규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인프라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94960" y="2920303"/>
            <a:ext cx="310896" cy="2492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5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21024" y="338328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보완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/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대체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621024" y="362102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34EA2"/>
              </a:solidFill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4078224" y="3630168"/>
            <a:ext cx="1207008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639312" y="3904487"/>
            <a:ext cx="1883664" cy="93268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749039" y="4041648"/>
            <a:ext cx="1664208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대체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보완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행동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49039" y="4315968"/>
            <a:ext cx="1664208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직접조달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현장설비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재설계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577840" y="4226445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25312" y="3904487"/>
            <a:ext cx="1883664" cy="93268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34EA2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035040" y="4041648"/>
            <a:ext cx="1664208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[새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제품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서비스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4315968"/>
            <a:ext cx="1664208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보완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임시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신규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시장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863840" y="4226445"/>
            <a:ext cx="237744" cy="2339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4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11312" y="3904487"/>
            <a:ext cx="1883664" cy="93268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321040" y="4041648"/>
            <a:ext cx="1664208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수혜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기업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21040" y="4315968"/>
            <a:ext cx="1664208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기업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A/B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신규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핵심지표</a:t>
            </a:r>
            <a:endParaRPr sz="760" b="0" dirty="0">
              <a:solidFill>
                <a:srgbClr val="68717B"/>
              </a:solidFill>
              <a:latin typeface="Noto Sans KR" panose="020B0200000000000000" pitchFamily="50" charset="-127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932688" y="5303520"/>
            <a:ext cx="9948672" cy="658368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3" name="TextBox 72"/>
          <p:cNvSpPr txBox="1"/>
          <p:nvPr/>
        </p:nvSpPr>
        <p:spPr>
          <a:xfrm>
            <a:off x="1170432" y="5504688"/>
            <a:ext cx="1234440" cy="13388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메인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핵심지표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377440" y="5486400"/>
            <a:ext cx="205740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수주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리드타임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생산능력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45152" y="5504688"/>
            <a:ext cx="1234440" cy="13388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대체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7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핵심지표</a:t>
            </a:r>
            <a:endParaRPr sz="75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897880" y="5486400"/>
            <a:ext cx="2926080" cy="1323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직접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CAPEX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반복주문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4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벤더등록</a:t>
            </a:r>
            <a:r>
              <a:rPr sz="74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8" name="Rounded Rectangle 3">
            <a:extLst>
              <a:ext uri="{FF2B5EF4-FFF2-40B4-BE49-F238E27FC236}">
                <a16:creationId xmlns:a16="http://schemas.microsoft.com/office/drawing/2014/main" id="{0FE14EBE-1CF5-B079-CCA9-D94747EFBDB2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0" name="TextBox 4">
            <a:extLst>
              <a:ext uri="{FF2B5EF4-FFF2-40B4-BE49-F238E27FC236}">
                <a16:creationId xmlns:a16="http://schemas.microsoft.com/office/drawing/2014/main" id="{BFDBC98D-8B01-65D4-27C3-06AC952BD3D8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2" name="TextBox 5">
            <a:extLst>
              <a:ext uri="{FF2B5EF4-FFF2-40B4-BE49-F238E27FC236}">
                <a16:creationId xmlns:a16="http://schemas.microsoft.com/office/drawing/2014/main" id="{436BB692-35F5-3C52-9D1C-68B59B7AC172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6">
            <a:extLst>
              <a:ext uri="{FF2B5EF4-FFF2-40B4-BE49-F238E27FC236}">
                <a16:creationId xmlns:a16="http://schemas.microsoft.com/office/drawing/2014/main" id="{D2B9BA09-0A2B-7192-815C-15503F3AEAE4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6" name="TextBox 7">
            <a:extLst>
              <a:ext uri="{FF2B5EF4-FFF2-40B4-BE49-F238E27FC236}">
                <a16:creationId xmlns:a16="http://schemas.microsoft.com/office/drawing/2014/main" id="{558B3AB0-ABBA-C4A8-437B-7F854CF623FE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8">
            <a:extLst>
              <a:ext uri="{FF2B5EF4-FFF2-40B4-BE49-F238E27FC236}">
                <a16:creationId xmlns:a16="http://schemas.microsoft.com/office/drawing/2014/main" id="{C407970D-69CA-F254-FCC0-C02A5A5DAFDF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0" name="TextBox 9">
            <a:extLst>
              <a:ext uri="{FF2B5EF4-FFF2-40B4-BE49-F238E27FC236}">
                <a16:creationId xmlns:a16="http://schemas.microsoft.com/office/drawing/2014/main" id="{522A28F8-4C02-1966-1B27-676F786EDB6E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0">
            <a:extLst>
              <a:ext uri="{FF2B5EF4-FFF2-40B4-BE49-F238E27FC236}">
                <a16:creationId xmlns:a16="http://schemas.microsoft.com/office/drawing/2014/main" id="{EC987AD5-EF04-EAA2-70C1-EF6BEF5BDB7F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4" name="TextBox 11">
            <a:extLst>
              <a:ext uri="{FF2B5EF4-FFF2-40B4-BE49-F238E27FC236}">
                <a16:creationId xmlns:a16="http://schemas.microsoft.com/office/drawing/2014/main" id="{18B21D90-8EE2-D2CE-DE19-86BAD3E7D950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2">
            <a:extLst>
              <a:ext uri="{FF2B5EF4-FFF2-40B4-BE49-F238E27FC236}">
                <a16:creationId xmlns:a16="http://schemas.microsoft.com/office/drawing/2014/main" id="{2B1ECBC1-36BA-291A-F4F9-70FB923FE69F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8" name="TextBox 13">
            <a:extLst>
              <a:ext uri="{FF2B5EF4-FFF2-40B4-BE49-F238E27FC236}">
                <a16:creationId xmlns:a16="http://schemas.microsoft.com/office/drawing/2014/main" id="{F7811CB4-545F-CC25-9421-27C46CCACED0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0" name="TextBox 14">
            <a:extLst>
              <a:ext uri="{FF2B5EF4-FFF2-40B4-BE49-F238E27FC236}">
                <a16:creationId xmlns:a16="http://schemas.microsoft.com/office/drawing/2014/main" id="{C9CE81C2-5C5A-1BF5-A360-3CD2A921868C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2" name="TextBox 15">
            <a:extLst>
              <a:ext uri="{FF2B5EF4-FFF2-40B4-BE49-F238E27FC236}">
                <a16:creationId xmlns:a16="http://schemas.microsoft.com/office/drawing/2014/main" id="{07113ACA-E0F6-D30B-670D-CF8E4480A728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373D03E9-07B0-CCA5-7B80-CF09862662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8" name="TextBox 30">
            <a:extLst>
              <a:ext uri="{FF2B5EF4-FFF2-40B4-BE49-F238E27FC236}">
                <a16:creationId xmlns:a16="http://schemas.microsoft.com/office/drawing/2014/main" id="{F728BA19-FA35-D2DD-A73D-F6F4884BFD98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Rectangle 17">
            <a:extLst>
              <a:ext uri="{FF2B5EF4-FFF2-40B4-BE49-F238E27FC236}">
                <a16:creationId xmlns:a16="http://schemas.microsoft.com/office/drawing/2014/main" id="{EC9C2B57-37A0-D30A-FF67-730D3DE832CF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2" name="TextBox 18">
            <a:extLst>
              <a:ext uri="{FF2B5EF4-FFF2-40B4-BE49-F238E27FC236}">
                <a16:creationId xmlns:a16="http://schemas.microsoft.com/office/drawing/2014/main" id="{7C0AF691-C3FB-7D4C-0DA2-437C0838BA0A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14" name="TextBox 19">
            <a:extLst>
              <a:ext uri="{FF2B5EF4-FFF2-40B4-BE49-F238E27FC236}">
                <a16:creationId xmlns:a16="http://schemas.microsoft.com/office/drawing/2014/main" id="{61895587-14A6-7BB4-5FB5-8094B8CECB8E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6" name="TextBox 21">
            <a:extLst>
              <a:ext uri="{FF2B5EF4-FFF2-40B4-BE49-F238E27FC236}">
                <a16:creationId xmlns:a16="http://schemas.microsoft.com/office/drawing/2014/main" id="{EC59A1A5-210B-94B8-83D7-57D433E66235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8" name="TextBox 22">
            <a:extLst>
              <a:ext uri="{FF2B5EF4-FFF2-40B4-BE49-F238E27FC236}">
                <a16:creationId xmlns:a16="http://schemas.microsoft.com/office/drawing/2014/main" id="{C3ABEB47-DC9D-F7EB-2650-3A7D96E93A1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0" name="TextBox 23">
            <a:extLst>
              <a:ext uri="{FF2B5EF4-FFF2-40B4-BE49-F238E27FC236}">
                <a16:creationId xmlns:a16="http://schemas.microsoft.com/office/drawing/2014/main" id="{65B3461F-5EBF-BFAC-99D3-8776A9F1A8E6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2" name="TextBox 24">
            <a:extLst>
              <a:ext uri="{FF2B5EF4-FFF2-40B4-BE49-F238E27FC236}">
                <a16:creationId xmlns:a16="http://schemas.microsoft.com/office/drawing/2014/main" id="{1D9D0B56-9653-F4F5-E45E-377485A88537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4" name="TextBox 25">
            <a:extLst>
              <a:ext uri="{FF2B5EF4-FFF2-40B4-BE49-F238E27FC236}">
                <a16:creationId xmlns:a16="http://schemas.microsoft.com/office/drawing/2014/main" id="{DDE1789D-1F28-6CDE-F7B6-5838F1897567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6" name="TextBox 26">
            <a:extLst>
              <a:ext uri="{FF2B5EF4-FFF2-40B4-BE49-F238E27FC236}">
                <a16:creationId xmlns:a16="http://schemas.microsoft.com/office/drawing/2014/main" id="{E2DD3F1C-7634-E83B-F849-E6823A1D77A4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8" name="TextBox 27">
            <a:extLst>
              <a:ext uri="{FF2B5EF4-FFF2-40B4-BE49-F238E27FC236}">
                <a16:creationId xmlns:a16="http://schemas.microsoft.com/office/drawing/2014/main" id="{70795473-1BAE-F9F1-8DBD-5DD0C0BBC3B4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0" name="TextBox 28">
            <a:extLst>
              <a:ext uri="{FF2B5EF4-FFF2-40B4-BE49-F238E27FC236}">
                <a16:creationId xmlns:a16="http://schemas.microsoft.com/office/drawing/2014/main" id="{6882D910-8A2D-37CD-5E23-B91983095922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2" name="TextBox 29">
            <a:extLst>
              <a:ext uri="{FF2B5EF4-FFF2-40B4-BE49-F238E27FC236}">
                <a16:creationId xmlns:a16="http://schemas.microsoft.com/office/drawing/2014/main" id="{A14C0831-0B2B-BA18-4512-064654187B00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4" name="TextBox 30">
            <a:extLst>
              <a:ext uri="{FF2B5EF4-FFF2-40B4-BE49-F238E27FC236}">
                <a16:creationId xmlns:a16="http://schemas.microsoft.com/office/drawing/2014/main" id="{7F064DED-EC18-A54E-90C6-1032CA36E83F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>
            <a:extLst>
              <a:ext uri="{FF2B5EF4-FFF2-40B4-BE49-F238E27FC236}">
                <a16:creationId xmlns:a16="http://schemas.microsoft.com/office/drawing/2014/main" id="{7CC65FF1-4F9B-0977-C199-255186D2232B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D6F99-F550-45AE-B1EE-2015E369AD9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3802D7-D7F7-40B8-9073-7F20ABC8B16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병목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→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대체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상세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설명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경로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흐름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401568" y="1856231"/>
            <a:ext cx="746150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602736" y="2011680"/>
            <a:ext cx="1207008" cy="25603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0" y="2062841"/>
            <a:ext cx="1097280" cy="13542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①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병목의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원인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992624" y="2002536"/>
            <a:ext cx="5577840" cy="172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[왜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기존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메인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수요를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충분히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처리하지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못하는가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?]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21024" y="2468880"/>
            <a:ext cx="6903720" cy="5170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1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물리적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생산능력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연결용량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허가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2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리드타임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공급망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지역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제약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3 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핵심지표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대기기간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가동률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수주잔고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4 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관련기업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A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B]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01568" y="3794760"/>
            <a:ext cx="7461504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3602736" y="3950208"/>
            <a:ext cx="1508760" cy="25603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34EA2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657600" y="4001369"/>
            <a:ext cx="1399031" cy="135422"/>
          </a:xfrm>
          <a:prstGeom prst="rect">
            <a:avLst/>
          </a:prstGeom>
          <a:solidFill>
            <a:srgbClr val="EDF4FC"/>
          </a:solidFill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②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대체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수요의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지속성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285232" y="3941063"/>
            <a:ext cx="5285232" cy="172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메인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정상화된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뒤에도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대체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남는가</a:t>
            </a:r>
            <a:r>
              <a:rPr sz="1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?]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1024" y="4407408"/>
            <a:ext cx="6903720" cy="5170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1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가격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/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속도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/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안정성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측면의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독립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가치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2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고객의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내재화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분산형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수요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3 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핵심지표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재구매율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CAPEX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설치기반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
4 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리스크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일시적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수요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표준화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81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가격경쟁</a:t>
            </a:r>
            <a:r>
              <a:rPr sz="81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401568" y="5760720"/>
            <a:ext cx="7461504" cy="43891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21024" y="5907024"/>
            <a:ext cx="699516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투자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결론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 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병목이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단기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현상인지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구조적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제약인지에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따라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대체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기업의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멀티플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지속성이</a:t>
            </a:r>
            <a:r>
              <a:rPr sz="83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3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달라짐</a:t>
            </a:r>
            <a:endParaRPr sz="83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74" name="Rounded Rectangle 3">
            <a:extLst>
              <a:ext uri="{FF2B5EF4-FFF2-40B4-BE49-F238E27FC236}">
                <a16:creationId xmlns:a16="http://schemas.microsoft.com/office/drawing/2014/main" id="{65F46CE2-421E-BA80-C083-EAE196F669B3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6" name="TextBox 4">
            <a:extLst>
              <a:ext uri="{FF2B5EF4-FFF2-40B4-BE49-F238E27FC236}">
                <a16:creationId xmlns:a16="http://schemas.microsoft.com/office/drawing/2014/main" id="{E1237617-5F10-3609-D28D-776ED417AB42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8" name="TextBox 5">
            <a:extLst>
              <a:ext uri="{FF2B5EF4-FFF2-40B4-BE49-F238E27FC236}">
                <a16:creationId xmlns:a16="http://schemas.microsoft.com/office/drawing/2014/main" id="{36549DC1-9AFC-8374-4E54-405869192D89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0" name="TextBox 6">
            <a:extLst>
              <a:ext uri="{FF2B5EF4-FFF2-40B4-BE49-F238E27FC236}">
                <a16:creationId xmlns:a16="http://schemas.microsoft.com/office/drawing/2014/main" id="{35F79715-D4B5-D31E-B394-C3294BB268A7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2" name="TextBox 7">
            <a:extLst>
              <a:ext uri="{FF2B5EF4-FFF2-40B4-BE49-F238E27FC236}">
                <a16:creationId xmlns:a16="http://schemas.microsoft.com/office/drawing/2014/main" id="{C36297F3-B699-41D2-442B-F3952C86D8F7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4" name="TextBox 8">
            <a:extLst>
              <a:ext uri="{FF2B5EF4-FFF2-40B4-BE49-F238E27FC236}">
                <a16:creationId xmlns:a16="http://schemas.microsoft.com/office/drawing/2014/main" id="{58B01120-3D00-2CB8-4C97-82DAFCCBB620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01172060-6107-F79A-375F-08570F244B1E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8" name="TextBox 10">
            <a:extLst>
              <a:ext uri="{FF2B5EF4-FFF2-40B4-BE49-F238E27FC236}">
                <a16:creationId xmlns:a16="http://schemas.microsoft.com/office/drawing/2014/main" id="{3935F1F1-D75C-D81E-27C7-D275516E9093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0" name="TextBox 11">
            <a:extLst>
              <a:ext uri="{FF2B5EF4-FFF2-40B4-BE49-F238E27FC236}">
                <a16:creationId xmlns:a16="http://schemas.microsoft.com/office/drawing/2014/main" id="{E8A8D7D9-97A8-556C-F855-1A2C8AAB0126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89020AA1-23B7-AA9E-673F-B06C0A55C0DB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94" name="TextBox 13">
            <a:extLst>
              <a:ext uri="{FF2B5EF4-FFF2-40B4-BE49-F238E27FC236}">
                <a16:creationId xmlns:a16="http://schemas.microsoft.com/office/drawing/2014/main" id="{19E9D288-BFFE-45D5-51AB-13B30AF6543D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1B962935-BDD4-5BDC-7579-C555DDFDCB2F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8" name="TextBox 15">
            <a:extLst>
              <a:ext uri="{FF2B5EF4-FFF2-40B4-BE49-F238E27FC236}">
                <a16:creationId xmlns:a16="http://schemas.microsoft.com/office/drawing/2014/main" id="{EBC3F0F2-7904-B403-A292-4677F05C7439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BE642FED-A370-3BE9-9E8A-392AF905BF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4" name="Rectangle 17">
            <a:extLst>
              <a:ext uri="{FF2B5EF4-FFF2-40B4-BE49-F238E27FC236}">
                <a16:creationId xmlns:a16="http://schemas.microsoft.com/office/drawing/2014/main" id="{AEFABE1F-7D31-A842-738E-15AA7E3DDF0D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06" name="TextBox 18">
            <a:extLst>
              <a:ext uri="{FF2B5EF4-FFF2-40B4-BE49-F238E27FC236}">
                <a16:creationId xmlns:a16="http://schemas.microsoft.com/office/drawing/2014/main" id="{98FF736A-A5AB-4171-B783-C6BE5E165C8B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08" name="TextBox 19">
            <a:extLst>
              <a:ext uri="{FF2B5EF4-FFF2-40B4-BE49-F238E27FC236}">
                <a16:creationId xmlns:a16="http://schemas.microsoft.com/office/drawing/2014/main" id="{2880E545-B0BE-E05E-A3F2-8CD2F9FDFFF0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0" name="TextBox 21">
            <a:extLst>
              <a:ext uri="{FF2B5EF4-FFF2-40B4-BE49-F238E27FC236}">
                <a16:creationId xmlns:a16="http://schemas.microsoft.com/office/drawing/2014/main" id="{DD27EDFD-296B-E0AA-D4A5-F0A688BEC0A4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12" name="TextBox 22">
            <a:extLst>
              <a:ext uri="{FF2B5EF4-FFF2-40B4-BE49-F238E27FC236}">
                <a16:creationId xmlns:a16="http://schemas.microsoft.com/office/drawing/2014/main" id="{C148106F-E011-CD20-DC87-F70B83C74EFE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4" name="TextBox 23">
            <a:extLst>
              <a:ext uri="{FF2B5EF4-FFF2-40B4-BE49-F238E27FC236}">
                <a16:creationId xmlns:a16="http://schemas.microsoft.com/office/drawing/2014/main" id="{99F9111C-1090-E8B2-4ACC-26DF242DE5A9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16" name="TextBox 24">
            <a:extLst>
              <a:ext uri="{FF2B5EF4-FFF2-40B4-BE49-F238E27FC236}">
                <a16:creationId xmlns:a16="http://schemas.microsoft.com/office/drawing/2014/main" id="{921651C8-C166-1673-95E2-98FF5B9D1F02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8" name="TextBox 25">
            <a:extLst>
              <a:ext uri="{FF2B5EF4-FFF2-40B4-BE49-F238E27FC236}">
                <a16:creationId xmlns:a16="http://schemas.microsoft.com/office/drawing/2014/main" id="{5F2B2AD7-5E23-8954-786B-090A3FD90F96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20" name="TextBox 26">
            <a:extLst>
              <a:ext uri="{FF2B5EF4-FFF2-40B4-BE49-F238E27FC236}">
                <a16:creationId xmlns:a16="http://schemas.microsoft.com/office/drawing/2014/main" id="{9A369FA4-7FAB-C138-7B30-6D1C02B127B2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2" name="TextBox 27">
            <a:extLst>
              <a:ext uri="{FF2B5EF4-FFF2-40B4-BE49-F238E27FC236}">
                <a16:creationId xmlns:a16="http://schemas.microsoft.com/office/drawing/2014/main" id="{EA603E0C-9282-B65D-C70F-53DDDA953436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24" name="TextBox 28">
            <a:extLst>
              <a:ext uri="{FF2B5EF4-FFF2-40B4-BE49-F238E27FC236}">
                <a16:creationId xmlns:a16="http://schemas.microsoft.com/office/drawing/2014/main" id="{E92DAE82-1864-ED31-BF2C-BA61E81833B9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6" name="TextBox 29">
            <a:extLst>
              <a:ext uri="{FF2B5EF4-FFF2-40B4-BE49-F238E27FC236}">
                <a16:creationId xmlns:a16="http://schemas.microsoft.com/office/drawing/2014/main" id="{77A062DF-9859-391F-AD82-05DB2F30266B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28" name="TextBox 30">
            <a:extLst>
              <a:ext uri="{FF2B5EF4-FFF2-40B4-BE49-F238E27FC236}">
                <a16:creationId xmlns:a16="http://schemas.microsoft.com/office/drawing/2014/main" id="{25074AB4-44DA-C76B-D8DF-91725A9FDE9B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4" name="Rounded Rectangle 41">
            <a:extLst>
              <a:ext uri="{FF2B5EF4-FFF2-40B4-BE49-F238E27FC236}">
                <a16:creationId xmlns:a16="http://schemas.microsoft.com/office/drawing/2014/main" id="{E8FB74C5-E5C0-7AD3-545A-E1CD873473B3}"/>
              </a:ext>
            </a:extLst>
          </p:cNvPr>
          <p:cNvSpPr/>
          <p:nvPr/>
        </p:nvSpPr>
        <p:spPr>
          <a:xfrm>
            <a:off x="960120" y="1894332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FD8C1C85-FA38-810D-B32D-2033CF060EB5}"/>
              </a:ext>
            </a:extLst>
          </p:cNvPr>
          <p:cNvSpPr txBox="1"/>
          <p:nvPr/>
        </p:nvSpPr>
        <p:spPr>
          <a:xfrm>
            <a:off x="1069848" y="1955291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촉발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0FDC5091-ED8B-F0EA-E032-8AF9DE2BFDAC}"/>
              </a:ext>
            </a:extLst>
          </p:cNvPr>
          <p:cNvSpPr txBox="1"/>
          <p:nvPr/>
        </p:nvSpPr>
        <p:spPr>
          <a:xfrm>
            <a:off x="1069848" y="2229612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최종수요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75D41B8F-4E31-EDB4-0C25-5160322CCA93}"/>
              </a:ext>
            </a:extLst>
          </p:cNvPr>
          <p:cNvSpPr txBox="1"/>
          <p:nvPr/>
        </p:nvSpPr>
        <p:spPr>
          <a:xfrm>
            <a:off x="1810512" y="2387126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252" name="Rounded Rectangle 45">
            <a:extLst>
              <a:ext uri="{FF2B5EF4-FFF2-40B4-BE49-F238E27FC236}">
                <a16:creationId xmlns:a16="http://schemas.microsoft.com/office/drawing/2014/main" id="{869CE158-1A6F-BFF8-495C-A92C99246F6E}"/>
              </a:ext>
            </a:extLst>
          </p:cNvPr>
          <p:cNvSpPr/>
          <p:nvPr/>
        </p:nvSpPr>
        <p:spPr>
          <a:xfrm>
            <a:off x="960120" y="2589275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8A34359-527D-2061-4398-70DE795BF688}"/>
              </a:ext>
            </a:extLst>
          </p:cNvPr>
          <p:cNvSpPr txBox="1"/>
          <p:nvPr/>
        </p:nvSpPr>
        <p:spPr>
          <a:xfrm>
            <a:off x="1069848" y="2650235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lang="ko-KR" altLang="en-US"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메인 경로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04F59C8-DB07-CD62-E92F-88AA6E4431F2}"/>
              </a:ext>
            </a:extLst>
          </p:cNvPr>
          <p:cNvSpPr txBox="1"/>
          <p:nvPr/>
        </p:nvSpPr>
        <p:spPr>
          <a:xfrm>
            <a:off x="1069848" y="2924556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방식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한계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DA247A6-732C-B6BE-324D-66EC4F9C6EDF}"/>
              </a:ext>
            </a:extLst>
          </p:cNvPr>
          <p:cNvSpPr txBox="1"/>
          <p:nvPr/>
        </p:nvSpPr>
        <p:spPr>
          <a:xfrm>
            <a:off x="1810512" y="3082070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260" name="Rounded Rectangle 49">
            <a:extLst>
              <a:ext uri="{FF2B5EF4-FFF2-40B4-BE49-F238E27FC236}">
                <a16:creationId xmlns:a16="http://schemas.microsoft.com/office/drawing/2014/main" id="{DF4F37C4-4FFF-F420-BA00-D55C575109C6}"/>
              </a:ext>
            </a:extLst>
          </p:cNvPr>
          <p:cNvSpPr/>
          <p:nvPr/>
        </p:nvSpPr>
        <p:spPr>
          <a:xfrm>
            <a:off x="960120" y="3284220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9291EEFA-5157-FE48-CEBF-2381D5423C19}"/>
              </a:ext>
            </a:extLst>
          </p:cNvPr>
          <p:cNvSpPr txBox="1"/>
          <p:nvPr/>
        </p:nvSpPr>
        <p:spPr>
          <a:xfrm>
            <a:off x="1069848" y="3345180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lang="ko-KR" altLang="en-US"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병목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67D236C-2433-C8F7-CF53-0ABEF42DE63F}"/>
              </a:ext>
            </a:extLst>
          </p:cNvPr>
          <p:cNvSpPr txBox="1"/>
          <p:nvPr/>
        </p:nvSpPr>
        <p:spPr>
          <a:xfrm>
            <a:off x="1069848" y="3619499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지연 </a:t>
            </a:r>
            <a:r>
              <a:rPr lang="en-US" altLang="ko-KR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부족 </a:t>
            </a:r>
            <a:r>
              <a:rPr lang="en-US" altLang="ko-KR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A3CCA57-DC4B-A136-E6B1-EC553A6410BC}"/>
              </a:ext>
            </a:extLst>
          </p:cNvPr>
          <p:cNvSpPr txBox="1"/>
          <p:nvPr/>
        </p:nvSpPr>
        <p:spPr>
          <a:xfrm>
            <a:off x="1810512" y="3777013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268" name="Rounded Rectangle 53">
            <a:extLst>
              <a:ext uri="{FF2B5EF4-FFF2-40B4-BE49-F238E27FC236}">
                <a16:creationId xmlns:a16="http://schemas.microsoft.com/office/drawing/2014/main" id="{8994CF6A-C971-99CC-416F-37B5333FE476}"/>
              </a:ext>
            </a:extLst>
          </p:cNvPr>
          <p:cNvSpPr/>
          <p:nvPr/>
        </p:nvSpPr>
        <p:spPr>
          <a:xfrm>
            <a:off x="960120" y="3979164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D6328F2-9E91-7A93-E3C8-80CC68CAB0AA}"/>
              </a:ext>
            </a:extLst>
          </p:cNvPr>
          <p:cNvSpPr txBox="1"/>
          <p:nvPr/>
        </p:nvSpPr>
        <p:spPr>
          <a:xfrm>
            <a:off x="1069848" y="4040124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lang="ko-KR" altLang="en-US"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대체 행동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69425B1F-A9EC-3361-A96F-2483C5D97954}"/>
              </a:ext>
            </a:extLst>
          </p:cNvPr>
          <p:cNvSpPr txBox="1"/>
          <p:nvPr/>
        </p:nvSpPr>
        <p:spPr>
          <a:xfrm>
            <a:off x="1069848" y="4314444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 </a:t>
            </a:r>
            <a:r>
              <a:rPr lang="en-US" altLang="ko-KR"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 </a:t>
            </a:r>
            <a:r>
              <a:rPr lang="ko-KR" altLang="en-US"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보완 투자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285D888F-8E26-8534-63A5-5494DC16526F}"/>
              </a:ext>
            </a:extLst>
          </p:cNvPr>
          <p:cNvSpPr txBox="1"/>
          <p:nvPr/>
        </p:nvSpPr>
        <p:spPr>
          <a:xfrm>
            <a:off x="1810512" y="4471958"/>
            <a:ext cx="347472" cy="20313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276" name="Rounded Rectangle 57">
            <a:extLst>
              <a:ext uri="{FF2B5EF4-FFF2-40B4-BE49-F238E27FC236}">
                <a16:creationId xmlns:a16="http://schemas.microsoft.com/office/drawing/2014/main" id="{7ADA675A-D33F-900B-8912-1A7B79F66651}"/>
              </a:ext>
            </a:extLst>
          </p:cNvPr>
          <p:cNvSpPr/>
          <p:nvPr/>
        </p:nvSpPr>
        <p:spPr>
          <a:xfrm>
            <a:off x="960120" y="4674108"/>
            <a:ext cx="205740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FC32AA4C-3677-CB2E-C7B9-E9B7FC651028}"/>
              </a:ext>
            </a:extLst>
          </p:cNvPr>
          <p:cNvSpPr txBox="1"/>
          <p:nvPr/>
        </p:nvSpPr>
        <p:spPr>
          <a:xfrm>
            <a:off x="1069848" y="4735068"/>
            <a:ext cx="183794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lang="ko-KR" altLang="en-US"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신규 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6568CF74-728B-FBCA-3B8D-125A4002E74F}"/>
              </a:ext>
            </a:extLst>
          </p:cNvPr>
          <p:cNvSpPr txBox="1"/>
          <p:nvPr/>
        </p:nvSpPr>
        <p:spPr>
          <a:xfrm>
            <a:off x="1069848" y="5009388"/>
            <a:ext cx="183794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제품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</a:t>
            </a:r>
            <a:r>
              <a:rPr lang="ko-KR" altLang="en-US" sz="76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>
            <a:extLst>
              <a:ext uri="{FF2B5EF4-FFF2-40B4-BE49-F238E27FC236}">
                <a16:creationId xmlns:a16="http://schemas.microsoft.com/office/drawing/2014/main" id="{127B5721-D3DF-0B12-C07C-BCB550FCE809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다중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입력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→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단일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결과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·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수요</a:t>
            </a:r>
            <a:r>
              <a:rPr sz="88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입력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69264" y="1938528"/>
            <a:ext cx="1874519" cy="56692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78992" y="2022348"/>
            <a:ext cx="165506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정책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규제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2296668"/>
            <a:ext cx="165506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지원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의무화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표준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3512" y="2085300"/>
            <a:ext cx="256032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9264" y="2752344"/>
            <a:ext cx="1874519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8992" y="2836164"/>
            <a:ext cx="165506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기술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변화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" y="3110484"/>
            <a:ext cx="165506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성능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개선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원가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하락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53512" y="2899116"/>
            <a:ext cx="256032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264" y="3566160"/>
            <a:ext cx="1874519" cy="566928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78992" y="3649980"/>
            <a:ext cx="165506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가격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경제성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" y="3924300"/>
            <a:ext cx="165506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[TCO / ROI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개선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53512" y="3712932"/>
            <a:ext cx="256032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9264" y="4379976"/>
            <a:ext cx="1874519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78992" y="4463796"/>
            <a:ext cx="1655063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" y="4738116"/>
            <a:ext cx="1655063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[CAPEX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교체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신규수요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53512" y="4526748"/>
            <a:ext cx="256032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28060" y="2423160"/>
            <a:ext cx="1901952" cy="201168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1143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784092" y="2956209"/>
            <a:ext cx="1417320" cy="38779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12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고객</a:t>
            </a: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의사결정</a:t>
            </a: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
</a:t>
            </a:r>
            <a:r>
              <a:rPr sz="12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시장</a:t>
            </a: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전환점</a:t>
            </a:r>
            <a:r>
              <a:rPr sz="12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29812" y="3547872"/>
            <a:ext cx="1316736" cy="38779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침투율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상승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
[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발주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시작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
[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교체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가속</a:t>
            </a:r>
            <a:r>
              <a:rPr sz="80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58028" y="3222055"/>
            <a:ext cx="274320" cy="2492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5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78652" y="2542032"/>
            <a:ext cx="13716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88380" y="2679191"/>
            <a:ext cx="115214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제품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서비스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수요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88380" y="2953512"/>
            <a:ext cx="115214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무엇이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팔리는가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95972" y="3109428"/>
            <a:ext cx="22860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48956" y="2542032"/>
            <a:ext cx="137160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58683" y="2679191"/>
            <a:ext cx="115214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기업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핵심지표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2953512"/>
            <a:ext cx="115214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수주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ASP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가동률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66276" y="3109428"/>
            <a:ext cx="228600" cy="21852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3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319260" y="2542032"/>
            <a:ext cx="1371600" cy="155448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28987" y="2679191"/>
            <a:ext cx="1152144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실적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밸류에이션</a:t>
            </a:r>
            <a:r>
              <a:rPr sz="85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28987" y="2953512"/>
            <a:ext cx="1152144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매출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마진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멀티플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2688" y="5298110"/>
            <a:ext cx="9948672" cy="713232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70432" y="5490134"/>
            <a:ext cx="107899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가장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중요한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입력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176272" y="5462702"/>
            <a:ext cx="1965960" cy="1308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어느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동인이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실제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발주를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결정하는가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7680" y="5490134"/>
            <a:ext cx="107899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선행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핵심지표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303520" y="5462702"/>
            <a:ext cx="1965960" cy="1308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침투율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CAPEX /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가격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/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정책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집행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24927" y="5490134"/>
            <a:ext cx="1078992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기업</a:t>
            </a:r>
            <a:r>
              <a:rPr sz="76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76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연결</a:t>
            </a:r>
            <a:endParaRPr sz="76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430767" y="5462702"/>
            <a:ext cx="1965960" cy="13080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[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기업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A/B/C 중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어느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노출이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가장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73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큰가</a:t>
            </a:r>
            <a:r>
              <a:rPr sz="73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81" name="Rounded Rectangle 3">
            <a:extLst>
              <a:ext uri="{FF2B5EF4-FFF2-40B4-BE49-F238E27FC236}">
                <a16:creationId xmlns:a16="http://schemas.microsoft.com/office/drawing/2014/main" id="{822AF488-9E0A-8BD1-4E5B-50D50F2B957A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83" name="TextBox 4">
            <a:extLst>
              <a:ext uri="{FF2B5EF4-FFF2-40B4-BE49-F238E27FC236}">
                <a16:creationId xmlns:a16="http://schemas.microsoft.com/office/drawing/2014/main" id="{2A527FD4-6057-4A97-DE55-8957029F68B3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85" name="TextBox 5">
            <a:extLst>
              <a:ext uri="{FF2B5EF4-FFF2-40B4-BE49-F238E27FC236}">
                <a16:creationId xmlns:a16="http://schemas.microsoft.com/office/drawing/2014/main" id="{CD070AEA-D917-ED43-B5B2-DE96C2FFBD06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7" name="TextBox 6">
            <a:extLst>
              <a:ext uri="{FF2B5EF4-FFF2-40B4-BE49-F238E27FC236}">
                <a16:creationId xmlns:a16="http://schemas.microsoft.com/office/drawing/2014/main" id="{7A62CDC1-772A-871B-3843-E684D5A5255B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89" name="TextBox 7">
            <a:extLst>
              <a:ext uri="{FF2B5EF4-FFF2-40B4-BE49-F238E27FC236}">
                <a16:creationId xmlns:a16="http://schemas.microsoft.com/office/drawing/2014/main" id="{124BCFDF-5190-D1CB-970C-68A106C4750F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38F1E11F-E2CF-8174-68B4-DACCE54E33F7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93" name="TextBox 9">
            <a:extLst>
              <a:ext uri="{FF2B5EF4-FFF2-40B4-BE49-F238E27FC236}">
                <a16:creationId xmlns:a16="http://schemas.microsoft.com/office/drawing/2014/main" id="{2A4771C4-75EB-02C2-61F5-729AA874B495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5" name="TextBox 10">
            <a:extLst>
              <a:ext uri="{FF2B5EF4-FFF2-40B4-BE49-F238E27FC236}">
                <a16:creationId xmlns:a16="http://schemas.microsoft.com/office/drawing/2014/main" id="{61FF8405-F8D2-158A-BC0B-DE376BEA3423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97" name="TextBox 11">
            <a:extLst>
              <a:ext uri="{FF2B5EF4-FFF2-40B4-BE49-F238E27FC236}">
                <a16:creationId xmlns:a16="http://schemas.microsoft.com/office/drawing/2014/main" id="{0B857112-D4B4-2195-1E26-FAEBF8349AA4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9" name="TextBox 12">
            <a:extLst>
              <a:ext uri="{FF2B5EF4-FFF2-40B4-BE49-F238E27FC236}">
                <a16:creationId xmlns:a16="http://schemas.microsoft.com/office/drawing/2014/main" id="{4901C4FB-BE42-CF4C-4792-556B939F626F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01" name="TextBox 13">
            <a:extLst>
              <a:ext uri="{FF2B5EF4-FFF2-40B4-BE49-F238E27FC236}">
                <a16:creationId xmlns:a16="http://schemas.microsoft.com/office/drawing/2014/main" id="{FF029497-8E7C-3B04-9414-CEF31454D1F6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03" name="TextBox 14">
            <a:extLst>
              <a:ext uri="{FF2B5EF4-FFF2-40B4-BE49-F238E27FC236}">
                <a16:creationId xmlns:a16="http://schemas.microsoft.com/office/drawing/2014/main" id="{BB441DE7-7843-CF5F-E450-7C1E66295025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05" name="TextBox 15">
            <a:extLst>
              <a:ext uri="{FF2B5EF4-FFF2-40B4-BE49-F238E27FC236}">
                <a16:creationId xmlns:a16="http://schemas.microsoft.com/office/drawing/2014/main" id="{31A21438-5877-C8AC-543F-83B224F1C801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107" name="그림 106">
            <a:extLst>
              <a:ext uri="{FF2B5EF4-FFF2-40B4-BE49-F238E27FC236}">
                <a16:creationId xmlns:a16="http://schemas.microsoft.com/office/drawing/2014/main" id="{796A8D4E-0E60-661C-2B75-C45C01CBBF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3" name="TextBox 30">
            <a:extLst>
              <a:ext uri="{FF2B5EF4-FFF2-40B4-BE49-F238E27FC236}">
                <a16:creationId xmlns:a16="http://schemas.microsoft.com/office/drawing/2014/main" id="{4B854722-8B05-2553-9F66-BC4628C9C906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15" name="Rectangle 17">
            <a:extLst>
              <a:ext uri="{FF2B5EF4-FFF2-40B4-BE49-F238E27FC236}">
                <a16:creationId xmlns:a16="http://schemas.microsoft.com/office/drawing/2014/main" id="{1A458F42-1B94-E1D8-4B21-78F67FCFE3F7}"/>
              </a:ext>
            </a:extLst>
          </p:cNvPr>
          <p:cNvSpPr>
            <a:spLocks noGrp="1"/>
          </p:cNvSpPr>
          <p:nvPr/>
        </p:nvSpPr>
        <p:spPr>
          <a:xfrm>
            <a:off x="822960" y="0"/>
            <a:ext cx="11369039" cy="219455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117" name="TextBox 18">
            <a:extLst>
              <a:ext uri="{FF2B5EF4-FFF2-40B4-BE49-F238E27FC236}">
                <a16:creationId xmlns:a16="http://schemas.microsoft.com/office/drawing/2014/main" id="{C1764824-F011-12D7-5315-7EF6B42A665D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119" name="TextBox 19">
            <a:extLst>
              <a:ext uri="{FF2B5EF4-FFF2-40B4-BE49-F238E27FC236}">
                <a16:creationId xmlns:a16="http://schemas.microsoft.com/office/drawing/2014/main" id="{4E429029-FAE8-6DD2-6D83-E35CDFB2FDE4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1" name="TextBox 21">
            <a:extLst>
              <a:ext uri="{FF2B5EF4-FFF2-40B4-BE49-F238E27FC236}">
                <a16:creationId xmlns:a16="http://schemas.microsoft.com/office/drawing/2014/main" id="{87AA7149-04FF-C64A-C974-529A2A89D2AF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123" name="TextBox 22">
            <a:extLst>
              <a:ext uri="{FF2B5EF4-FFF2-40B4-BE49-F238E27FC236}">
                <a16:creationId xmlns:a16="http://schemas.microsoft.com/office/drawing/2014/main" id="{F1B2CEC1-7A62-7889-9AE9-A8470CB28AA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5" name="TextBox 23">
            <a:extLst>
              <a:ext uri="{FF2B5EF4-FFF2-40B4-BE49-F238E27FC236}">
                <a16:creationId xmlns:a16="http://schemas.microsoft.com/office/drawing/2014/main" id="{2B31859D-149D-550A-0A20-041DFBD5EADF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127" name="TextBox 24">
            <a:extLst>
              <a:ext uri="{FF2B5EF4-FFF2-40B4-BE49-F238E27FC236}">
                <a16:creationId xmlns:a16="http://schemas.microsoft.com/office/drawing/2014/main" id="{8E9007B1-9049-83BD-FFC1-98687DAEB069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29" name="TextBox 25">
            <a:extLst>
              <a:ext uri="{FF2B5EF4-FFF2-40B4-BE49-F238E27FC236}">
                <a16:creationId xmlns:a16="http://schemas.microsoft.com/office/drawing/2014/main" id="{615E4621-A516-B9C0-9875-E833420E269A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131" name="TextBox 26">
            <a:extLst>
              <a:ext uri="{FF2B5EF4-FFF2-40B4-BE49-F238E27FC236}">
                <a16:creationId xmlns:a16="http://schemas.microsoft.com/office/drawing/2014/main" id="{4CCBA5D2-84B3-EB4A-31ED-4847DB8FB138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3" name="TextBox 27">
            <a:extLst>
              <a:ext uri="{FF2B5EF4-FFF2-40B4-BE49-F238E27FC236}">
                <a16:creationId xmlns:a16="http://schemas.microsoft.com/office/drawing/2014/main" id="{4B51580A-3E91-C60A-A607-43FF2177C898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135" name="TextBox 28">
            <a:extLst>
              <a:ext uri="{FF2B5EF4-FFF2-40B4-BE49-F238E27FC236}">
                <a16:creationId xmlns:a16="http://schemas.microsoft.com/office/drawing/2014/main" id="{F42DAD82-3621-EE25-1A5F-29D0917A767B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137" name="TextBox 29">
            <a:extLst>
              <a:ext uri="{FF2B5EF4-FFF2-40B4-BE49-F238E27FC236}">
                <a16:creationId xmlns:a16="http://schemas.microsoft.com/office/drawing/2014/main" id="{94715045-0CE3-11C6-85DF-056A8866FDF5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139" name="TextBox 30">
            <a:extLst>
              <a:ext uri="{FF2B5EF4-FFF2-40B4-BE49-F238E27FC236}">
                <a16:creationId xmlns:a16="http://schemas.microsoft.com/office/drawing/2014/main" id="{758A1D8E-0B67-D7F5-52CB-5673611EDED2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 41">
            <a:extLst>
              <a:ext uri="{FF2B5EF4-FFF2-40B4-BE49-F238E27FC236}">
                <a16:creationId xmlns:a16="http://schemas.microsoft.com/office/drawing/2014/main" id="{39E13714-6964-8708-559F-97D8A6AEF69F}"/>
              </a:ext>
            </a:extLst>
          </p:cNvPr>
          <p:cNvSpPr/>
          <p:nvPr/>
        </p:nvSpPr>
        <p:spPr>
          <a:xfrm>
            <a:off x="5614415" y="4003332"/>
            <a:ext cx="2542032" cy="98755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1">
            <a:extLst>
              <a:ext uri="{FF2B5EF4-FFF2-40B4-BE49-F238E27FC236}">
                <a16:creationId xmlns:a16="http://schemas.microsoft.com/office/drawing/2014/main" id="{431165D0-14BA-361A-292D-E1DB1360D179}"/>
              </a:ext>
            </a:extLst>
          </p:cNvPr>
          <p:cNvSpPr>
            <a:spLocks noGrp="1"/>
          </p:cNvSpPr>
          <p:nvPr/>
        </p:nvSpPr>
        <p:spPr>
          <a:xfrm>
            <a:off x="0" y="1640"/>
            <a:ext cx="822960" cy="6858000"/>
          </a:xfrm>
          <a:prstGeom prst="rect">
            <a:avLst/>
          </a:prstGeom>
          <a:solidFill>
            <a:srgbClr val="F8F9FB"/>
          </a:solidFill>
          <a:ln w="6350">
            <a:solidFill>
              <a:srgbClr val="ECEFF3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A6CCCE-8C5D-4018-9322-B072B79CA5BD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621792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096A-C387-4EEA-BD61-9577F2D91E6A}"/>
              </a:ext>
            </a:extLst>
          </p:cNvPr>
          <p:cNvSpPr>
            <a:spLocks noGrp="1"/>
          </p:cNvSpPr>
          <p:nvPr/>
        </p:nvSpPr>
        <p:spPr>
          <a:xfrm>
            <a:off x="182880" y="6473952"/>
            <a:ext cx="320040" cy="1523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750" dirty="0">
                <a:solidFill>
                  <a:srgbClr val="FFFFFF"/>
                </a:solidFill>
                <a:latin typeface="Noto Sans KR" panose="020B0200000000000000" pitchFamily="50" charset="-127"/>
              </a:rPr>
              <a:t>06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5000C6-0643-4761-9056-F16D9EFDD5D7}"/>
              </a:ext>
            </a:extLst>
          </p:cNvPr>
          <p:cNvSpPr>
            <a:spLocks noGrp="1"/>
          </p:cNvSpPr>
          <p:nvPr/>
        </p:nvSpPr>
        <p:spPr>
          <a:xfrm>
            <a:off x="822960" y="-1"/>
            <a:ext cx="11369039" cy="238629"/>
          </a:xfrm>
          <a:prstGeom prst="rect">
            <a:avLst/>
          </a:prstGeom>
          <a:solidFill>
            <a:srgbClr val="001C54"/>
          </a:solidFill>
          <a:ln>
            <a:solidFill>
              <a:srgbClr val="001C54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D6F99-F550-45AE-B1EE-2015E369AD98}"/>
              </a:ext>
            </a:extLst>
          </p:cNvPr>
          <p:cNvSpPr>
            <a:spLocks noGrp="1"/>
          </p:cNvSpPr>
          <p:nvPr/>
        </p:nvSpPr>
        <p:spPr>
          <a:xfrm>
            <a:off x="896112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6B5D3A-FD16-4F96-8DB6-A7BC49487A1C}"/>
              </a:ext>
            </a:extLst>
          </p:cNvPr>
          <p:cNvSpPr>
            <a:spLocks noGrp="1"/>
          </p:cNvSpPr>
          <p:nvPr/>
        </p:nvSpPr>
        <p:spPr>
          <a:xfrm>
            <a:off x="1115568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650" b="0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79DFFE-62A2-4DBA-A5F3-08A14963BDA3}"/>
              </a:ext>
            </a:extLst>
          </p:cNvPr>
          <p:cNvSpPr>
            <a:spLocks noGrp="1"/>
          </p:cNvSpPr>
          <p:nvPr/>
        </p:nvSpPr>
        <p:spPr>
          <a:xfrm>
            <a:off x="2286000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19BF8E-35F5-45CA-8049-60CF57C1E6FA}"/>
              </a:ext>
            </a:extLst>
          </p:cNvPr>
          <p:cNvSpPr>
            <a:spLocks noGrp="1"/>
          </p:cNvSpPr>
          <p:nvPr/>
        </p:nvSpPr>
        <p:spPr>
          <a:xfrm>
            <a:off x="2505456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27A1F2-6BC9-4F98-89CE-0BC8AC34BDDC}"/>
              </a:ext>
            </a:extLst>
          </p:cNvPr>
          <p:cNvSpPr>
            <a:spLocks noGrp="1"/>
          </p:cNvSpPr>
          <p:nvPr/>
        </p:nvSpPr>
        <p:spPr>
          <a:xfrm>
            <a:off x="3675887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3CAAF4-7D43-416F-B938-D257295A9E07}"/>
              </a:ext>
            </a:extLst>
          </p:cNvPr>
          <p:cNvSpPr>
            <a:spLocks noGrp="1"/>
          </p:cNvSpPr>
          <p:nvPr/>
        </p:nvSpPr>
        <p:spPr>
          <a:xfrm>
            <a:off x="3895344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4E08A3-1038-4D7E-AB49-84F46F5B62E0}"/>
              </a:ext>
            </a:extLst>
          </p:cNvPr>
          <p:cNvSpPr>
            <a:spLocks noGrp="1"/>
          </p:cNvSpPr>
          <p:nvPr/>
        </p:nvSpPr>
        <p:spPr>
          <a:xfrm>
            <a:off x="5065775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76FC37-ECDC-425D-ABFA-05AC2D9DD8D4}"/>
              </a:ext>
            </a:extLst>
          </p:cNvPr>
          <p:cNvSpPr>
            <a:spLocks noGrp="1"/>
          </p:cNvSpPr>
          <p:nvPr/>
        </p:nvSpPr>
        <p:spPr>
          <a:xfrm>
            <a:off x="5285231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ECA779-9370-4DA9-8C46-EFF9E8CF0D65}"/>
              </a:ext>
            </a:extLst>
          </p:cNvPr>
          <p:cNvSpPr>
            <a:spLocks noGrp="1"/>
          </p:cNvSpPr>
          <p:nvPr/>
        </p:nvSpPr>
        <p:spPr>
          <a:xfrm>
            <a:off x="6455663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1AF627-EC40-496D-A83F-2475F4D5F466}"/>
              </a:ext>
            </a:extLst>
          </p:cNvPr>
          <p:cNvSpPr>
            <a:spLocks noGrp="1"/>
          </p:cNvSpPr>
          <p:nvPr/>
        </p:nvSpPr>
        <p:spPr>
          <a:xfrm>
            <a:off x="6675119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5539ED-96E7-41F1-9A6E-D196622B228D}"/>
              </a:ext>
            </a:extLst>
          </p:cNvPr>
          <p:cNvSpPr>
            <a:spLocks noGrp="1"/>
          </p:cNvSpPr>
          <p:nvPr/>
        </p:nvSpPr>
        <p:spPr>
          <a:xfrm>
            <a:off x="7845551" y="50292"/>
            <a:ext cx="182880" cy="1384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60" b="1" dirty="0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3802D7-D7F7-40B8-9073-7F20ABC8B16C}"/>
              </a:ext>
            </a:extLst>
          </p:cNvPr>
          <p:cNvSpPr>
            <a:spLocks noGrp="1"/>
          </p:cNvSpPr>
          <p:nvPr/>
        </p:nvSpPr>
        <p:spPr>
          <a:xfrm>
            <a:off x="8065007" y="45720"/>
            <a:ext cx="658368" cy="1369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650" b="0" dirty="0" err="1">
                <a:solidFill>
                  <a:srgbClr val="A4B4C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50" b="0" dirty="0">
              <a:solidFill>
                <a:srgbClr val="A4B4C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913262-8C85-4454-AD74-32C140ECA88C}"/>
              </a:ext>
            </a:extLst>
          </p:cNvPr>
          <p:cNvSpPr>
            <a:spLocks noGrp="1"/>
          </p:cNvSpPr>
          <p:nvPr/>
        </p:nvSpPr>
        <p:spPr>
          <a:xfrm>
            <a:off x="932688" y="438912"/>
            <a:ext cx="79095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순환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플라이휠</a:t>
            </a:r>
            <a:r>
              <a:rPr sz="200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200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경로</a:t>
            </a:r>
            <a:endParaRPr sz="200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34" name="Connector 33">
            <a:extLst>
              <a:ext uri="{FF2B5EF4-FFF2-40B4-BE49-F238E27FC236}">
                <a16:creationId xmlns:a16="http://schemas.microsoft.com/office/drawing/2014/main" id="{BC9E32E0-0480-4DC9-B078-9447C3862BE1}"/>
              </a:ext>
            </a:extLst>
          </p:cNvPr>
          <p:cNvSpPr>
            <a:spLocks noGrp="1"/>
          </p:cNvSpPr>
          <p:nvPr/>
        </p:nvSpPr>
        <p:spPr>
          <a:xfrm>
            <a:off x="932688" y="1188720"/>
            <a:ext cx="10863072" cy="0"/>
          </a:xfrm>
          <a:prstGeom prst="line">
            <a:avLst/>
          </a:prstGeom>
          <a:ln w="7620">
            <a:solidFill>
              <a:srgbClr val="BCBEC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Connector 34">
            <a:extLst>
              <a:ext uri="{FF2B5EF4-FFF2-40B4-BE49-F238E27FC236}">
                <a16:creationId xmlns:a16="http://schemas.microsoft.com/office/drawing/2014/main" id="{28860111-F74C-4C55-A52F-65BCCDE3ABE6}"/>
              </a:ext>
            </a:extLst>
          </p:cNvPr>
          <p:cNvSpPr>
            <a:spLocks noGrp="1"/>
          </p:cNvSpPr>
          <p:nvPr/>
        </p:nvSpPr>
        <p:spPr>
          <a:xfrm>
            <a:off x="932688" y="6455664"/>
            <a:ext cx="10863072" cy="0"/>
          </a:xfrm>
          <a:prstGeom prst="line">
            <a:avLst/>
          </a:prstGeom>
          <a:ln w="5715">
            <a:solidFill>
              <a:srgbClr val="DDE1E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C000D0-7AA5-4044-8FFD-A9D349AE8A9C}"/>
              </a:ext>
            </a:extLst>
          </p:cNvPr>
          <p:cNvSpPr>
            <a:spLocks noGrp="1"/>
          </p:cNvSpPr>
          <p:nvPr/>
        </p:nvSpPr>
        <p:spPr>
          <a:xfrm>
            <a:off x="932688" y="6537960"/>
            <a:ext cx="4023360" cy="1446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buNone/>
            </a:pP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: [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출처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/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기준일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0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입력</a:t>
            </a:r>
            <a:r>
              <a:rPr sz="70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1E063FD-C84E-4108-B4DA-9C4361CF31B8}"/>
              </a:ext>
            </a:extLst>
          </p:cNvPr>
          <p:cNvSpPr>
            <a:spLocks noGrp="1"/>
          </p:cNvSpPr>
          <p:nvPr/>
        </p:nvSpPr>
        <p:spPr>
          <a:xfrm>
            <a:off x="10698480" y="493776"/>
            <a:ext cx="932688" cy="256032"/>
          </a:xfrm>
          <a:prstGeom prst="roundRect">
            <a:avLst>
              <a:gd name="adj" fmla="val 8000"/>
            </a:avLst>
          </a:prstGeom>
          <a:solidFill>
            <a:srgbClr val="EBF3FC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0825D5-8842-461F-BA54-9DD862BB3B17}"/>
              </a:ext>
            </a:extLst>
          </p:cNvPr>
          <p:cNvSpPr>
            <a:spLocks noGrp="1"/>
          </p:cNvSpPr>
          <p:nvPr/>
        </p:nvSpPr>
        <p:spPr>
          <a:xfrm>
            <a:off x="10753344" y="541090"/>
            <a:ext cx="822960" cy="1431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lang="ko-KR" altLang="en-US"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목차</a:t>
            </a:r>
            <a:r>
              <a:rPr sz="690" b="1" dirty="0">
                <a:solidFill>
                  <a:srgbClr val="034EA2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 01/06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1417320"/>
            <a:ext cx="2011680" cy="1538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8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플라이휠</a:t>
            </a:r>
            <a:endParaRPr sz="88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32688" y="1655064"/>
            <a:ext cx="402336" cy="27432"/>
          </a:xfrm>
          <a:prstGeom prst="rect">
            <a:avLst/>
          </a:prstGeom>
          <a:solidFill>
            <a:srgbClr val="034EA2"/>
          </a:solidFill>
          <a:ln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389888" y="1664208"/>
            <a:ext cx="1444752" cy="0"/>
          </a:xfrm>
          <a:prstGeom prst="line">
            <a:avLst/>
          </a:prstGeom>
          <a:ln w="7620">
            <a:solidFill>
              <a:srgbClr val="C9C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011680" y="2039112"/>
            <a:ext cx="2542032" cy="98755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21408" y="2176272"/>
            <a:ext cx="232257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① 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신규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판매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21408" y="2450592"/>
            <a:ext cx="2322576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고객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/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설치기반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증가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05272" y="2039112"/>
            <a:ext cx="2542032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15000" y="2176272"/>
            <a:ext cx="232257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② 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사용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데이터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2450592"/>
            <a:ext cx="2322576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이용량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데이터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축적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123944"/>
            <a:ext cx="232257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③ 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서비스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성과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4398264"/>
            <a:ext cx="2322576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업셀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유지보수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효율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11680" y="3986784"/>
            <a:ext cx="2542032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21408" y="4123944"/>
            <a:ext cx="2322576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④ [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재구매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/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확장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1408" y="4398264"/>
            <a:ext cx="2322576" cy="13542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[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갱신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교체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 · </a:t>
            </a:r>
            <a:r>
              <a:rPr sz="760" b="0" dirty="0" err="1">
                <a:solidFill>
                  <a:srgbClr val="68717B"/>
                </a:solidFill>
                <a:latin typeface="Noto Sans KR" panose="020B0200000000000000" pitchFamily="50" charset="-127"/>
              </a:rPr>
              <a:t>추가발주</a:t>
            </a:r>
            <a:r>
              <a:rPr sz="760" b="0" dirty="0">
                <a:solidFill>
                  <a:srgbClr val="68717B"/>
                </a:solidFill>
                <a:latin typeface="Noto Sans KR" panose="020B0200000000000000" pitchFamily="50" charset="-127"/>
              </a:rPr>
              <a:t>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2027" y="2376552"/>
            <a:ext cx="32004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6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0856" y="3363220"/>
            <a:ext cx="32004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6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22027" y="4373385"/>
            <a:ext cx="32004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6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4968" y="3363220"/>
            <a:ext cx="32004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/>
            <a:r>
              <a:rPr sz="160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↑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24276" y="3092231"/>
            <a:ext cx="1468939" cy="812439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8890">
            <a:solidFill>
              <a:srgbClr val="034E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79724" y="3211353"/>
            <a:ext cx="1187292" cy="5170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플라이휠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
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설치기반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↑ →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반복매출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↑
→ CAC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회수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/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마진</a:t>
            </a:r>
            <a:r>
              <a:rPr sz="810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0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개선</a:t>
            </a:r>
            <a:endParaRPr sz="810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613648" y="1965960"/>
            <a:ext cx="2240280" cy="3136392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6985">
            <a:solidFill>
              <a:srgbClr val="C9C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51392" y="2194560"/>
            <a:ext cx="960120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핵심지표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851392" y="2578608"/>
            <a:ext cx="1664208" cy="6340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설치기반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재구매율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유지율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  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서비스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매출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비중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고객당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매출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[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51392" y="4069080"/>
            <a:ext cx="960120" cy="1492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실적</a:t>
            </a:r>
            <a:r>
              <a:rPr sz="850" b="1" dirty="0">
                <a:solidFill>
                  <a:srgbClr val="034EA2"/>
                </a:solidFill>
                <a:latin typeface="Noto Sans KR" panose="020B0200000000000000" pitchFamily="50" charset="-127"/>
              </a:rPr>
              <a:t> </a:t>
            </a:r>
            <a:r>
              <a:rPr sz="850" b="1" dirty="0" err="1">
                <a:solidFill>
                  <a:srgbClr val="034EA2"/>
                </a:solidFill>
                <a:latin typeface="Noto Sans KR" panose="020B0200000000000000" pitchFamily="50" charset="-127"/>
              </a:rPr>
              <a:t>연결</a:t>
            </a:r>
            <a:endParaRPr sz="850" b="1" dirty="0">
              <a:solidFill>
                <a:srgbClr val="034EA2"/>
              </a:solidFill>
              <a:latin typeface="Noto Sans KR" panose="020B02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851392" y="4425696"/>
            <a:ext cx="1554480" cy="38779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매출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성장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[ ]
</a:t>
            </a:r>
            <a:r>
              <a:rPr sz="800" b="0" dirty="0" err="1">
                <a:solidFill>
                  <a:srgbClr val="2C3642"/>
                </a:solidFill>
                <a:latin typeface="Noto Sans KR" panose="020B0200000000000000" pitchFamily="50" charset="-127"/>
              </a:rPr>
              <a:t>영업이익률</a:t>
            </a:r>
            <a:r>
              <a:rPr sz="800" b="0" dirty="0">
                <a:solidFill>
                  <a:srgbClr val="2C3642"/>
                </a:solidFill>
                <a:latin typeface="Noto Sans KR" panose="020B0200000000000000" pitchFamily="50" charset="-127"/>
              </a:rPr>
              <a:t> [ ]
FCF [ ]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09796" y="5431534"/>
            <a:ext cx="7269480" cy="438912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647540" y="5568694"/>
            <a:ext cx="6793992" cy="14452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[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투자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결론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] 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신규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판매보다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설치기반과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재구매가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성장률·마진·멀티플을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얼마나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반복적으로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지지하는지가</a:t>
            </a:r>
            <a:r>
              <a:rPr sz="819" b="1" dirty="0">
                <a:solidFill>
                  <a:srgbClr val="001C54"/>
                </a:solidFill>
                <a:latin typeface="Noto Sans KR" panose="020B0200000000000000" pitchFamily="50" charset="-127"/>
              </a:rPr>
              <a:t> </a:t>
            </a:r>
            <a:r>
              <a:rPr sz="819" b="1" dirty="0" err="1">
                <a:solidFill>
                  <a:srgbClr val="001C54"/>
                </a:solidFill>
                <a:latin typeface="Noto Sans KR" panose="020B0200000000000000" pitchFamily="50" charset="-127"/>
              </a:rPr>
              <a:t>핵심</a:t>
            </a:r>
            <a:endParaRPr sz="819" b="1" dirty="0">
              <a:solidFill>
                <a:srgbClr val="001C54"/>
              </a:solidFill>
              <a:latin typeface="Noto Sans KR" panose="020B0200000000000000" pitchFamily="50" charset="-127"/>
            </a:endParaRPr>
          </a:p>
        </p:txBody>
      </p:sp>
      <p:sp>
        <p:nvSpPr>
          <p:cNvPr id="68" name="Rounded Rectangle 3">
            <a:extLst>
              <a:ext uri="{FF2B5EF4-FFF2-40B4-BE49-F238E27FC236}">
                <a16:creationId xmlns:a16="http://schemas.microsoft.com/office/drawing/2014/main" id="{FE9CBDC0-28B7-62DE-AC1B-301CCF9D6710}"/>
              </a:ext>
            </a:extLst>
          </p:cNvPr>
          <p:cNvSpPr>
            <a:spLocks noGrp="1"/>
          </p:cNvSpPr>
          <p:nvPr/>
        </p:nvSpPr>
        <p:spPr>
          <a:xfrm>
            <a:off x="45720" y="1069848"/>
            <a:ext cx="701040" cy="566928"/>
          </a:xfrm>
          <a:prstGeom prst="roundRect">
            <a:avLst>
              <a:gd name="adj" fmla="val 8000"/>
            </a:avLst>
          </a:prstGeom>
          <a:solidFill>
            <a:srgbClr val="034EA2"/>
          </a:solidFill>
          <a:ln>
            <a:solidFill>
              <a:srgbClr val="034EA2"/>
            </a:solidFill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Noto Sans KR" panose="020B0200000000000000" pitchFamily="50" charset="-127"/>
            </a:endParaRPr>
          </a:p>
        </p:txBody>
      </p:sp>
      <p:sp>
        <p:nvSpPr>
          <p:cNvPr id="70" name="TextBox 4">
            <a:extLst>
              <a:ext uri="{FF2B5EF4-FFF2-40B4-BE49-F238E27FC236}">
                <a16:creationId xmlns:a16="http://schemas.microsoft.com/office/drawing/2014/main" id="{F1963801-5E7F-8910-9579-D07E6B36A65D}"/>
              </a:ext>
            </a:extLst>
          </p:cNvPr>
          <p:cNvSpPr>
            <a:spLocks noGrp="1"/>
          </p:cNvSpPr>
          <p:nvPr/>
        </p:nvSpPr>
        <p:spPr>
          <a:xfrm>
            <a:off x="91440" y="1289304"/>
            <a:ext cx="182880" cy="140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7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01</a:t>
            </a:r>
          </a:p>
        </p:txBody>
      </p:sp>
      <p:sp>
        <p:nvSpPr>
          <p:cNvPr id="72" name="TextBox 5">
            <a:extLst>
              <a:ext uri="{FF2B5EF4-FFF2-40B4-BE49-F238E27FC236}">
                <a16:creationId xmlns:a16="http://schemas.microsoft.com/office/drawing/2014/main" id="{C1D37103-5BD9-F446-18C4-8DEAF0B3385F}"/>
              </a:ext>
            </a:extLst>
          </p:cNvPr>
          <p:cNvSpPr>
            <a:spLocks noGrp="1"/>
          </p:cNvSpPr>
          <p:nvPr/>
        </p:nvSpPr>
        <p:spPr>
          <a:xfrm>
            <a:off x="240284" y="1289304"/>
            <a:ext cx="472440" cy="14773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720" b="1" dirty="0" err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프롤로그</a:t>
            </a:r>
            <a:endParaRPr sz="720" b="1" dirty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4" name="TextBox 6">
            <a:extLst>
              <a:ext uri="{FF2B5EF4-FFF2-40B4-BE49-F238E27FC236}">
                <a16:creationId xmlns:a16="http://schemas.microsoft.com/office/drawing/2014/main" id="{2E071867-D33A-EC1B-C85E-2BEC143FAE4B}"/>
              </a:ext>
            </a:extLst>
          </p:cNvPr>
          <p:cNvSpPr>
            <a:spLocks noGrp="1"/>
          </p:cNvSpPr>
          <p:nvPr/>
        </p:nvSpPr>
        <p:spPr>
          <a:xfrm>
            <a:off x="91440" y="1898903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02</a:t>
            </a:r>
          </a:p>
        </p:txBody>
      </p:sp>
      <p:sp>
        <p:nvSpPr>
          <p:cNvPr id="76" name="TextBox 7">
            <a:extLst>
              <a:ext uri="{FF2B5EF4-FFF2-40B4-BE49-F238E27FC236}">
                <a16:creationId xmlns:a16="http://schemas.microsoft.com/office/drawing/2014/main" id="{9E89961C-3749-8311-2C71-82F11CC126F3}"/>
              </a:ext>
            </a:extLst>
          </p:cNvPr>
          <p:cNvSpPr>
            <a:spLocks noGrp="1"/>
          </p:cNvSpPr>
          <p:nvPr/>
        </p:nvSpPr>
        <p:spPr>
          <a:xfrm>
            <a:off x="274320" y="1910426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밸류체인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78" name="TextBox 8">
            <a:extLst>
              <a:ext uri="{FF2B5EF4-FFF2-40B4-BE49-F238E27FC236}">
                <a16:creationId xmlns:a16="http://schemas.microsoft.com/office/drawing/2014/main" id="{4B7C5E29-1B56-0925-4679-8E6006ACCBD2}"/>
              </a:ext>
            </a:extLst>
          </p:cNvPr>
          <p:cNvSpPr>
            <a:spLocks noGrp="1"/>
          </p:cNvSpPr>
          <p:nvPr/>
        </p:nvSpPr>
        <p:spPr>
          <a:xfrm>
            <a:off x="91440" y="2612135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03</a:t>
            </a:r>
          </a:p>
        </p:txBody>
      </p:sp>
      <p:sp>
        <p:nvSpPr>
          <p:cNvPr id="80" name="TextBox 9">
            <a:extLst>
              <a:ext uri="{FF2B5EF4-FFF2-40B4-BE49-F238E27FC236}">
                <a16:creationId xmlns:a16="http://schemas.microsoft.com/office/drawing/2014/main" id="{ED9AF728-3BB0-56AE-9C7F-0D1E9D8412A2}"/>
              </a:ext>
            </a:extLst>
          </p:cNvPr>
          <p:cNvSpPr>
            <a:spLocks noGrp="1"/>
          </p:cNvSpPr>
          <p:nvPr/>
        </p:nvSpPr>
        <p:spPr>
          <a:xfrm>
            <a:off x="274320" y="2623657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포지셔닝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2" name="TextBox 10">
            <a:extLst>
              <a:ext uri="{FF2B5EF4-FFF2-40B4-BE49-F238E27FC236}">
                <a16:creationId xmlns:a16="http://schemas.microsoft.com/office/drawing/2014/main" id="{BDA24E83-EB64-4181-1094-CE3092636371}"/>
              </a:ext>
            </a:extLst>
          </p:cNvPr>
          <p:cNvSpPr>
            <a:spLocks noGrp="1"/>
          </p:cNvSpPr>
          <p:nvPr/>
        </p:nvSpPr>
        <p:spPr>
          <a:xfrm>
            <a:off x="91440" y="3325368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04</a:t>
            </a:r>
          </a:p>
        </p:txBody>
      </p:sp>
      <p:sp>
        <p:nvSpPr>
          <p:cNvPr id="84" name="TextBox 11">
            <a:extLst>
              <a:ext uri="{FF2B5EF4-FFF2-40B4-BE49-F238E27FC236}">
                <a16:creationId xmlns:a16="http://schemas.microsoft.com/office/drawing/2014/main" id="{8288DCA5-4059-A367-9E4E-6CDD367F7C28}"/>
              </a:ext>
            </a:extLst>
          </p:cNvPr>
          <p:cNvSpPr>
            <a:spLocks noGrp="1"/>
          </p:cNvSpPr>
          <p:nvPr/>
        </p:nvSpPr>
        <p:spPr>
          <a:xfrm>
            <a:off x="274320" y="3336890"/>
            <a:ext cx="379032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기업분석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86" name="TextBox 12">
            <a:extLst>
              <a:ext uri="{FF2B5EF4-FFF2-40B4-BE49-F238E27FC236}">
                <a16:creationId xmlns:a16="http://schemas.microsoft.com/office/drawing/2014/main" id="{0D498DE1-8C28-1208-7CB1-37AAC2313B1B}"/>
              </a:ext>
            </a:extLst>
          </p:cNvPr>
          <p:cNvSpPr>
            <a:spLocks noGrp="1"/>
          </p:cNvSpPr>
          <p:nvPr/>
        </p:nvSpPr>
        <p:spPr>
          <a:xfrm>
            <a:off x="91440" y="4038600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05</a:t>
            </a:r>
          </a:p>
        </p:txBody>
      </p:sp>
      <p:sp>
        <p:nvSpPr>
          <p:cNvPr id="88" name="TextBox 13">
            <a:extLst>
              <a:ext uri="{FF2B5EF4-FFF2-40B4-BE49-F238E27FC236}">
                <a16:creationId xmlns:a16="http://schemas.microsoft.com/office/drawing/2014/main" id="{EFFCE668-F34F-AD59-7BF4-750D330247F5}"/>
              </a:ext>
            </a:extLst>
          </p:cNvPr>
          <p:cNvSpPr>
            <a:spLocks noGrp="1"/>
          </p:cNvSpPr>
          <p:nvPr/>
        </p:nvSpPr>
        <p:spPr>
          <a:xfrm>
            <a:off x="274320" y="4050122"/>
            <a:ext cx="472440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투자포인트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sp>
        <p:nvSpPr>
          <p:cNvPr id="90" name="TextBox 14">
            <a:extLst>
              <a:ext uri="{FF2B5EF4-FFF2-40B4-BE49-F238E27FC236}">
                <a16:creationId xmlns:a16="http://schemas.microsoft.com/office/drawing/2014/main" id="{F879CE04-F4AA-8462-A7A4-4D59D43AC02B}"/>
              </a:ext>
            </a:extLst>
          </p:cNvPr>
          <p:cNvSpPr>
            <a:spLocks noGrp="1"/>
          </p:cNvSpPr>
          <p:nvPr/>
        </p:nvSpPr>
        <p:spPr>
          <a:xfrm>
            <a:off x="91440" y="4751832"/>
            <a:ext cx="182880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buNone/>
            </a:pPr>
            <a:r>
              <a:rPr sz="640" b="0" dirty="0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06</a:t>
            </a:r>
          </a:p>
        </p:txBody>
      </p:sp>
      <p:sp>
        <p:nvSpPr>
          <p:cNvPr id="92" name="TextBox 15">
            <a:extLst>
              <a:ext uri="{FF2B5EF4-FFF2-40B4-BE49-F238E27FC236}">
                <a16:creationId xmlns:a16="http://schemas.microsoft.com/office/drawing/2014/main" id="{81381E4B-D088-B70D-E134-10DB2AC777DD}"/>
              </a:ext>
            </a:extLst>
          </p:cNvPr>
          <p:cNvSpPr>
            <a:spLocks noGrp="1"/>
          </p:cNvSpPr>
          <p:nvPr/>
        </p:nvSpPr>
        <p:spPr>
          <a:xfrm>
            <a:off x="299720" y="4763354"/>
            <a:ext cx="329184" cy="1384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buNone/>
            </a:pPr>
            <a:r>
              <a:rPr sz="660" b="0" dirty="0" err="1">
                <a:solidFill>
                  <a:srgbClr val="6E768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CJK KR"/>
              </a:rPr>
              <a:t>시각화</a:t>
            </a:r>
            <a:endParaRPr sz="660" b="0" dirty="0">
              <a:solidFill>
                <a:srgbClr val="6E768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CJK KR"/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FE48AF2F-9401-B300-F83B-6337530009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1" t="32181" r="7722" b="36801"/>
          <a:stretch>
            <a:fillRect/>
          </a:stretch>
        </p:blipFill>
        <p:spPr bwMode="auto">
          <a:xfrm>
            <a:off x="124485" y="77056"/>
            <a:ext cx="648530" cy="303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F78A1EA-7572-4A95-9410-A8E99D14FF49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892ac2e8-02a1-4559-9ecb-cf1858c7087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B1C5CFB-6ABF-4EF2-A9C7-219C5951F348}">
  <we:reference id="11d7cf85-ae5a-43b8-bc58-1e1a151cce24" version="1.0.0.1" store="EXCatalog" storeType="EXCatalog"/>
  <we:alternateReferences>
    <we:reference id="WA200010725" version="1.0.0.1" store="ko-KR" storeType="OMEX"/>
  </we:alternateReferences>
  <we:properties>
    <we:property name="claude.fileId" value="&quot;9f84b161-a92c-4f72-8936-5af5be74d89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29C651E53E7C84EBA7E97C5B56CFA22" ma:contentTypeVersion="5" ma:contentTypeDescription="새 문서를 만듭니다." ma:contentTypeScope="" ma:versionID="82cca60982d3d7c9390e461101dad024">
  <xsd:schema xmlns:xsd="http://www.w3.org/2001/XMLSchema" xmlns:xs="http://www.w3.org/2001/XMLSchema" xmlns:p="http://schemas.microsoft.com/office/2006/metadata/properties" xmlns:ns3="ea52fe03-c8f5-4f97-bddc-1eb15cff7b24" targetNamespace="http://schemas.microsoft.com/office/2006/metadata/properties" ma:root="true" ma:fieldsID="689992f8851c0ab56b69cd9d50a05943" ns3:_="">
    <xsd:import namespace="ea52fe03-c8f5-4f97-bddc-1eb15cff7b2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2fe03-c8f5-4f97-bddc-1eb15cff7b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a52fe03-c8f5-4f97-bddc-1eb15cff7b24" xsi:nil="true"/>
  </documentManagement>
</p:properties>
</file>

<file path=customXml/itemProps1.xml><?xml version="1.0" encoding="utf-8"?>
<ds:datastoreItem xmlns:ds="http://schemas.openxmlformats.org/officeDocument/2006/customXml" ds:itemID="{5AF1F140-F45B-4F93-814F-586204C341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52fe03-c8f5-4f97-bddc-1eb15cff7b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BBBD4B-41F3-41AF-A205-95852C93AD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AE1F2E-2442-4F15-BF11-B74AB2789FCE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ea52fe03-c8f5-4f97-bddc-1eb15cff7b2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12997</Words>
  <Application>Microsoft Office PowerPoint</Application>
  <DocSecurity>0</DocSecurity>
  <PresentationFormat>와이드스크린</PresentationFormat>
  <Paragraphs>3025</Paragraphs>
  <Slides>62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65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문준형</cp:lastModifiedBy>
  <cp:revision>3</cp:revision>
  <cp:lastPrinted>2026-09-24T05:55:41Z</cp:lastPrinted>
  <dcterms:created xsi:type="dcterms:W3CDTF">2026-09-21T04:33:26Z</dcterms:created>
  <dcterms:modified xsi:type="dcterms:W3CDTF">2026-10-04T16:02:52Z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0x010100829C651E53E7C84EBA7E97C5B56CFA22</vt:lpwstr>
  </property>
</Properties>
</file>